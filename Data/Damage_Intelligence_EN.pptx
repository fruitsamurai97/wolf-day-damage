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is reliable structure extraction from messy German free text, mapped onto a visual model, at scale. Notes stay German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64592" cy="164592"/>
          </a:xfrm>
          <a:prstGeom prst="oval">
            <a:avLst/>
          </a:prstGeom>
          <a:solidFill>
            <a:srgbClr val="FFB74D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1371600"/>
            <a:ext cx="164592" cy="164592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4" name="Shape 2"/>
          <p:cNvSpPr/>
          <p:nvPr/>
        </p:nvSpPr>
        <p:spPr>
          <a:xfrm>
            <a:off x="1335024" y="1371600"/>
            <a:ext cx="164592" cy="164592"/>
          </a:xfrm>
          <a:prstGeom prst="oval">
            <a:avLst/>
          </a:prstGeom>
          <a:solidFill>
            <a:srgbClr val="B7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Intelligence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messy German workshop notes — one case at a time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damage sheet per vehicle, and an operational read on 1,000 dealership cases.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 DAY · DaiL · TRACK 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6144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cases · German kept in German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extraction feeds both deliverables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drawing a car — it is turning free-text German into reliable structure.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93976"/>
            <a:ext cx="548640" cy="548640"/>
          </a:xfrm>
          <a:prstGeom prst="oval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note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00253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reads one note and fills a strict form: parts, side, damage, severity, insurance — with a verbatim quote for each.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548640" cy="548640"/>
          </a:xfrm>
          <a:prstGeom prst="oval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09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11810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schema forces a closed vocabulary. Anything unmapped is flagged, never dropped.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25112"/>
            <a:ext cx="548640" cy="548640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rules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23367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vs. remove-and-install come from deterministic code + an adjacency table — no LLM guessing.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440680"/>
            <a:ext cx="548640" cy="548640"/>
          </a:xfrm>
          <a:prstGeom prst="oval">
            <a:avLst/>
          </a:prstGeom>
          <a:solidFill>
            <a:srgbClr val="2C7A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367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+ analysis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3492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 colours the vehicle sheet and powers the corpus statistics.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status is already structured data (213 workshop statuses) — no LLM needed. Batch is idempotent: per-case cache + retry-on-failure.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damage, its proof, and its operations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820002 — every coloured region traces back to an exact German sentence.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NOTE (kept in German)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</a:t>
            </a:r>
            <a:pPr indent="0" marL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B71C1C"/>
                </a:solidFill>
                <a:highlight>
                  <a:srgbClr val="FFF3C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Windschutzscheibe im Sichtfeld Fahrer, Reparatur nicht möglich, Austausch nötig</a:t>
            </a:r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WORK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23957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Windscreen  — stated in note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303580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30358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/ plate  — adjacency rule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657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records what the note says. Replace-vs-repair and every remove-and-install come from reviewed rules, each tagged with its source.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0" y="4297680"/>
            <a:ext cx="1737360" cy="2194560"/>
          </a:xfrm>
          <a:prstGeom prst="roundRect">
            <a:avLst>
              <a:gd name="adj" fmla="val 9474"/>
            </a:avLst>
          </a:prstGeom>
          <a:solidFill>
            <a:srgbClr val="ECEFF1"/>
          </a:solidFill>
          <a:ln w="12700">
            <a:solidFill>
              <a:srgbClr val="8592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45262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B7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3355848" y="6172200"/>
            <a:ext cx="512064" cy="164592"/>
          </a:xfrm>
          <a:prstGeom prst="roundRect">
            <a:avLst>
              <a:gd name="adj" fmla="val 22222"/>
            </a:avLst>
          </a:prstGeom>
          <a:solidFill>
            <a:srgbClr val="1E88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6126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6510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and 3D views, same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extraction is measured, not claimed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 held-out cases — never used to tune the prompt. Scored against the dataset’s hidden ground-truth labels.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230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5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Damage-zone F1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58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 / 752 zones, 0 invented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65576" y="21031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230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5576" y="2423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kind + insurance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3858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accuracy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21031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230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91072" y="2423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verbatim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858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found in the note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16568" y="21031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230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16568" y="2423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lost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3858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terms flagged, never dropped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029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once: 1,000 cases in ~11 min, per-case cache and back-off on the shared key. A regex baseline ties on zones (closed vocabulary) but scores 0% on severity and 76% on insurance — the LLM earns its place where the text needs understanding.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Severity: where the models overfit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150 held-out cases for all five contenders. Severity is never written — it must be inferred from wording.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2788463"/>
            <a:ext cx="603504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892040" y="247756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ceiling 79.5%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19200" y="3294858"/>
            <a:ext cx="786384" cy="2328702"/>
          </a:xfrm>
          <a:prstGeom prst="roundRect">
            <a:avLst>
              <a:gd name="adj" fmla="val 4651"/>
            </a:avLst>
          </a:prstGeom>
          <a:solidFill>
            <a:srgbClr val="8592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82040" y="291081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36320" y="569671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36320" y="600760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6104" y="3030962"/>
            <a:ext cx="786384" cy="2592598"/>
          </a:xfrm>
          <a:prstGeom prst="roundRect">
            <a:avLst>
              <a:gd name="adj" fmla="val 4651"/>
            </a:avLst>
          </a:prstGeom>
          <a:solidFill>
            <a:srgbClr val="1E88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18944" y="2646914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73224" y="569671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73224" y="600760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3009565"/>
            <a:ext cx="786384" cy="2613995"/>
          </a:xfrm>
          <a:prstGeom prst="roundRect">
            <a:avLst>
              <a:gd name="adj" fmla="val 4651"/>
            </a:avLst>
          </a:prstGeom>
          <a:solidFill>
            <a:srgbClr val="8592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2625517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569671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600760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9912" y="2816992"/>
            <a:ext cx="786384" cy="2806568"/>
          </a:xfrm>
          <a:prstGeom prst="roundRect">
            <a:avLst>
              <a:gd name="adj" fmla="val 4651"/>
            </a:avLst>
          </a:prstGeom>
          <a:solidFill>
            <a:srgbClr val="F451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92752" y="2432944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47032" y="569671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47032" y="600760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6816" y="2699309"/>
            <a:ext cx="786384" cy="2924251"/>
          </a:xfrm>
          <a:prstGeom prst="roundRect">
            <a:avLst>
              <a:gd name="adj" fmla="val 4651"/>
            </a:avLst>
          </a:prstGeom>
          <a:solidFill>
            <a:srgbClr val="B71C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29656" y="2315261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83936" y="569671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83936" y="600760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5623560"/>
            <a:ext cx="60350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0574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5895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bars say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26974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82% beats the 79.5% ceiling.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ceiling is the max any reader could reach — the generator ties severity to text only partly (61 cases have no cue; identical sentences carry different labels). Beating it means memorizing generator vocabulary, not understanding.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65% vs XGBoost 82%: 17 points apart on the same data — high variance = fitting noise.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score is the least trustworthy. On real notes the memorized vocabulary breaks; the LLM rubric generalizes.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6263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ships DeepSeek severity. The shootout is evidence, not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dealership can act 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450 damage cases and the derived work plans — all built from our extraction.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256032" cy="256032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41.3%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damage is parking or manoeuvring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572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of 450 cases — low-severity, high-volume bodywork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468880"/>
            <a:ext cx="256032" cy="256032"/>
          </a:xfrm>
          <a:prstGeom prst="oval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still on the open worklist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4572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 150 days — a queue to review with the shop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468880"/>
            <a:ext cx="256032" cy="256032"/>
          </a:xfrm>
          <a:prstGeom prst="oval">
            <a:avLst/>
          </a:prstGeom>
          <a:solidFill>
            <a:srgbClr val="B71C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 → 389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 trigger R&amp;I operations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4572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remove-and-install work that never appears in the raw note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available: zone × case-kind signatures (hail = roof/bonnet/tailgate), payer × severity, and secondary-finding upsell (cabin filter, rattles).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breaks — said out loud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asks where it breaks. Here it is, with numbers.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46304" cy="146304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corpus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85623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phrase library (61 notes share one sentence). A regex baseline hits 100% F1 on zones because the vocabulary is closed — real notes are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46304" cy="146304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535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ceiling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935224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partly decorrelates severity from wording; ~79.5% is the data ceiling, not a model limit. We prove it rather than hide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9664"/>
            <a:ext cx="146304" cy="146304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32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rules are proposals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4014216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adjacency table is hand-reviewed bodyshop logic, not measured against ground truth. Mechanical R&amp;I (brakes → wheels) is out of scope.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48656"/>
            <a:ext cx="146304" cy="146304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11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unmapped terms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509320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whole corpus: "Bremsscheiben" (×3), "Aufnahme" (×2) — flagged into the record, never silently dropped.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64592" cy="164592"/>
          </a:xfrm>
          <a:prstGeom prst="oval">
            <a:avLst/>
          </a:prstGeom>
          <a:solidFill>
            <a:srgbClr val="FFB74D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1234440"/>
            <a:ext cx="164592" cy="164592"/>
          </a:xfrm>
          <a:prstGeom prst="oval">
            <a:avLst/>
          </a:prstGeom>
          <a:solidFill>
            <a:srgbClr val="F4511E"/>
          </a:solidFill>
          <a:ln/>
        </p:spPr>
      </p:sp>
      <p:sp>
        <p:nvSpPr>
          <p:cNvPr id="4" name="Shape 2"/>
          <p:cNvSpPr/>
          <p:nvPr/>
        </p:nvSpPr>
        <p:spPr>
          <a:xfrm>
            <a:off x="1335024" y="1234440"/>
            <a:ext cx="164592" cy="164592"/>
          </a:xfrm>
          <a:prstGeom prst="oval">
            <a:avLst/>
          </a:prstGeom>
          <a:solidFill>
            <a:srgbClr val="B7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and what comes next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wolf-day-damage.vercel.app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33832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1,000-case dashboard · per-vehicle 2D + 3D damage sheet · corpus analytics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42519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in-browser severity prediction + the 5-model benchmark, no backend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5120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production notes · live technician extraction · mechanical R&amp;I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stays German. The LLM reads; deterministic code decides; the drawing and the statistics are two views of one structured record.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Wolf Day Team</dc:creator>
  <cp:lastModifiedBy>Wolf Day Team</cp:lastModifiedBy>
  <cp:revision>1</cp:revision>
  <dcterms:created xsi:type="dcterms:W3CDTF">2026-09-18T15:34:49Z</dcterms:created>
  <dcterms:modified xsi:type="dcterms:W3CDTF">2026-09-18T15:34:49Z</dcterms:modified>
</cp:coreProperties>
</file>