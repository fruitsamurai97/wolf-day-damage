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slides/charts/chart1.xml" ContentType="application/vnd.openxmlformats-officedocument.drawingml.chart+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Default Extension="xlsx" ContentType="application/vnd.openxmlformats-officedocument.spreadsheetml.sheet"/>
</Types>
</file>

<file path=_rels/.rels>&#65279;<?xml version="1.0" encoding="utf-8"?><Relationships xmlns="http://schemas.openxmlformats.org/package/2006/relationships"><Relationship Type="http://schemas.openxmlformats.org/package/2006/relationships/metadata/core-properties" Target="/docProps/core.xml" Id="R5dd75a0298b44405" /><Relationship Type="http://schemas.openxmlformats.org/officeDocument/2006/relationships/extended-properties" Target="/docProps/app.xml" Id="Rbb4953cef9194fd8" /><Relationship Type="http://schemas.openxmlformats.org/officeDocument/2006/relationships/officeDocument" Target="/ppt/presentation.xml" Id="Ra111f925e632452b" /></Relationships>
</file>

<file path=ppt/presentation.xml><?xml version="1.0" encoding="utf-8"?>
<p:presentation xmlns:p="http://schemas.openxmlformats.org/presentationml/2006/main">
  <p:sldMasterIdLst>
    <p:sldMasterId xmlns:r="http://schemas.openxmlformats.org/officeDocument/2006/relationships" id="2147483648" r:id="Rd15d4828066f4c4e"/>
  </p:sldMasterIdLst>
  <p:notesMasterIdLst>
    <p:notesMasterId xmlns:r="http://schemas.openxmlformats.org/officeDocument/2006/relationships" r:id="Ra4c3de909ef64d10"/>
  </p:notesMasterIdLst>
  <p:sldIdLst>
    <p:sldId xmlns:r="http://schemas.openxmlformats.org/officeDocument/2006/relationships" id="256" r:id="Rdb0144ecf6534137"/>
    <p:sldId xmlns:r="http://schemas.openxmlformats.org/officeDocument/2006/relationships" id="257" r:id="R0256ee8a6b3340e3"/>
    <p:sldId xmlns:r="http://schemas.openxmlformats.org/officeDocument/2006/relationships" id="258" r:id="R5819b93a127a4ef9"/>
    <p:sldId xmlns:r="http://schemas.openxmlformats.org/officeDocument/2006/relationships" id="259" r:id="R099c577d55334562"/>
    <p:sldId xmlns:r="http://schemas.openxmlformats.org/officeDocument/2006/relationships" id="260" r:id="R0b4f5f3c7bdd49fe"/>
    <p:sldId xmlns:r="http://schemas.openxmlformats.org/officeDocument/2006/relationships" id="261" r:id="R920367bc987f451d"/>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608b7e8c709743c4" /><Relationship Type="http://schemas.openxmlformats.org/officeDocument/2006/relationships/slideMaster" Target="/ppt/slideMasters/slideMaster1.xml" Id="Rd15d4828066f4c4e" /><Relationship Type="http://schemas.openxmlformats.org/officeDocument/2006/relationships/notesMaster" Target="/ppt/notesMasters/notesMaster1.xml" Id="Ra4c3de909ef64d10" /><Relationship Type="http://schemas.openxmlformats.org/officeDocument/2006/relationships/presProps" Target="/ppt/presProps.xml" Id="R6b366cd69f9b409c" /><Relationship Type="http://schemas.openxmlformats.org/officeDocument/2006/relationships/tableStyles" Target="/ppt/tableStyles.xml" Id="Rbacb7912903c4f75" /><Relationship Type="http://schemas.openxmlformats.org/officeDocument/2006/relationships/slide" Target="/ppt/slides/slide1.xml" Id="Rdb0144ecf6534137" /><Relationship Type="http://schemas.openxmlformats.org/officeDocument/2006/relationships/slide" Target="/ppt/slides/slide2.xml" Id="R0256ee8a6b3340e3" /><Relationship Type="http://schemas.openxmlformats.org/officeDocument/2006/relationships/slide" Target="/ppt/slides/slide3.xml" Id="R5819b93a127a4ef9" /><Relationship Type="http://schemas.openxmlformats.org/officeDocument/2006/relationships/slide" Target="/ppt/slides/slide4.xml" Id="R099c577d55334562" /><Relationship Type="http://schemas.openxmlformats.org/officeDocument/2006/relationships/slide" Target="/ppt/slides/slide5.xml" Id="R0b4f5f3c7bdd49fe" /><Relationship Type="http://schemas.openxmlformats.org/officeDocument/2006/relationships/slide" Target="/ppt/slides/slide6.xml" Id="R920367bc987f451d"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a747fc3f1ca148b4"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be3d8a162d2b408d" /><Relationship Type="http://schemas.openxmlformats.org/officeDocument/2006/relationships/notesMaster" Target="/ppt/notesMasters/notesMaster1.xml" Id="Rfa9af5fa882642d6" /></Relationships>
</file>

<file path=ppt/notesSlides/_rels/notesSlide2.xml.rels>&#65279;<?xml version="1.0" encoding="utf-8"?><Relationships xmlns="http://schemas.openxmlformats.org/package/2006/relationships"><Relationship Type="http://schemas.openxmlformats.org/officeDocument/2006/relationships/slide" Target="/ppt/slides/slide2.xml" Id="Rf1444b4d4ac64dcb" /><Relationship Type="http://schemas.openxmlformats.org/officeDocument/2006/relationships/notesMaster" Target="/ppt/notesMasters/notesMaster1.xml" Id="R0b3d4e25b6ec434a" /></Relationships>
</file>

<file path=ppt/notesSlides/_rels/notesSlide3.xml.rels>&#65279;<?xml version="1.0" encoding="utf-8"?><Relationships xmlns="http://schemas.openxmlformats.org/package/2006/relationships"><Relationship Type="http://schemas.openxmlformats.org/officeDocument/2006/relationships/slide" Target="/ppt/slides/slide3.xml" Id="R0a6b82200e2d4b06" /><Relationship Type="http://schemas.openxmlformats.org/officeDocument/2006/relationships/notesMaster" Target="/ppt/notesMasters/notesMaster1.xml" Id="R12eb38e4f1e1401e" /></Relationships>
</file>

<file path=ppt/notesSlides/_rels/notesSlide4.xml.rels>&#65279;<?xml version="1.0" encoding="utf-8"?><Relationships xmlns="http://schemas.openxmlformats.org/package/2006/relationships"><Relationship Type="http://schemas.openxmlformats.org/officeDocument/2006/relationships/slide" Target="/ppt/slides/slide4.xml" Id="R2dee3a1c7b1d472b" /><Relationship Type="http://schemas.openxmlformats.org/officeDocument/2006/relationships/notesMaster" Target="/ppt/notesMasters/notesMaster1.xml" Id="R9e24f540e5e94fda" /></Relationships>
</file>

<file path=ppt/notesSlides/_rels/notesSlide5.xml.rels>&#65279;<?xml version="1.0" encoding="utf-8"?><Relationships xmlns="http://schemas.openxmlformats.org/package/2006/relationships"><Relationship Type="http://schemas.openxmlformats.org/officeDocument/2006/relationships/slide" Target="/ppt/slides/slide5.xml" Id="Re95d80d9d1574bb2" /><Relationship Type="http://schemas.openxmlformats.org/officeDocument/2006/relationships/notesMaster" Target="/ppt/notesMasters/notesMaster1.xml" Id="R701070641b2e42dc" /></Relationships>
</file>

<file path=ppt/notesSlides/_rels/notesSlide6.xml.rels>&#65279;<?xml version="1.0" encoding="utf-8"?><Relationships xmlns="http://schemas.openxmlformats.org/package/2006/relationships"><Relationship Type="http://schemas.openxmlformats.org/officeDocument/2006/relationships/slide" Target="/ppt/slides/slide6.xml" Id="Rc5a28ae0e7af403b" /><Relationship Type="http://schemas.openxmlformats.org/officeDocument/2006/relationships/notesMaster" Target="/ppt/notesMasters/notesMaster1.xml" Id="R29e2703000cb470a"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Durée : 30 secondes. Le concessionnaire reçoit des notes libres en allemand. Nous cherchons à localiser les dommages et à analyser les dossiers à partir d’une même extraction. Le jeu fourni comporte 1 000 dossiers synthétiques, dont 550 de service et 450 de dommages. La structure reproduit celle du système DA. Les notes originales restent en allemand. Présenter ensuite le mécanisme, un exemple et les mesures.</a:t>
            </a:r>
          </a:p>
          <a:p xmlns:a="http://schemas.openxmlformats.org/drawingml/2006/main">
            <a:r>
              <a:t/>
            </a:r>
          </a:p>
          <a:p xmlns:a="http://schemas.openxmlformats.org/drawingml/2006/main">
            <a:r>
              <a:t>Sources locales :</a:t>
            </a:r>
          </a:p>
          <a:p xmlns:a="http://schemas.openxmlformats.org/drawingml/2006/main">
            <a:r>
              <a:t>C:/Users/benda/Desktop/Hackathon/Data/CHALLENGE.md</a:t>
            </a:r>
          </a:p>
          <a:p xmlns:a="http://schemas.openxmlformats.org/drawingml/2006/main">
            <a:r>
              <a:t>C:/Users/benda/Desktop/Hackathon/Dataset/DATASET.md</a:t>
            </a:r>
          </a:p>
          <a:p xmlns:a="http://schemas.openxmlformats.org/drawingml/2006/main">
            <a:r>
              <a:t>C:/Users/benda/Desktop/Hackathon/Data/frontend/public/data/aggregates.json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Durée : 50 secondes. L’IA remplit un schéma strict et doit conserver un extrait allemand justifiant chaque dommage. Le vocabulaire fermé permet de relier une pièce et son côté à la visualisation. Les statuts proviennent des données structurées. Une action explicite dans la note est prioritaire. Sinon, des règles proposent les opérations. La dépose et repose (R&amp;I) utilise une table de dépendances. Elle distingue une pièce endommagée d’une pièce voisine à démonter. Le cache par identifiant évite de refaire les appels déjà réussis. Les invalidités sont signalées, les appels utilisent des reprises avec délai croissant. La validation du format ne prouve pas l’exactitude du sens.</a:t>
            </a:r>
          </a:p>
          <a:p xmlns:a="http://schemas.openxmlformats.org/drawingml/2006/main">
            <a:r>
              <a:t/>
            </a:r>
          </a:p>
          <a:p xmlns:a="http://schemas.openxmlformats.org/drawingml/2006/main">
            <a:r>
              <a:t>Sources locales :</a:t>
            </a:r>
          </a:p>
          <a:p xmlns:a="http://schemas.openxmlformats.org/drawingml/2006/main">
            <a:r>
              <a:t>C:/Users/benda/Desktop/Hackathon/Work/pipeline/extract.py</a:t>
            </a:r>
          </a:p>
          <a:p xmlns:a="http://schemas.openxmlformats.org/drawingml/2006/main">
            <a:r>
              <a:t>C:/Users/benda/Desktop/Hackathon/Work/pipeline/schema.py</a:t>
            </a:r>
          </a:p>
          <a:p xmlns:a="http://schemas.openxmlformats.org/drawingml/2006/main">
            <a:r>
              <a:t>C:/Users/benda/Desktop/Hackathon/Work/pipeline/repair_logic.py</a:t>
            </a:r>
          </a:p>
          <a:p xmlns:a="http://schemas.openxmlformats.org/drawingml/2006/main">
            <a:r>
              <a:t>C:/Users/benda/Desktop/Hackathon/Work/pipeline/build_dataset.py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Durée : 45 secondes. Montrer la phrase allemande avant les couleurs. La note précise que la réparation du pare-brise est impossible et demande un remplacement. Le pare-brise apparaît en orange, qui correspond ici à la gravité moyenne extraite. Le bleu désigne une garniture à déposer et reposer selon la règle métier, pas un second dommage. Cet exemple appartient au pilote de développement : il illustre le fonctionnement, pas une preuve de généralisation. Le prototype comporte aussi une vue 3D, mais la capture utilise la vue 2D, plus lisible pour expliquer le lien données / zones. Démo locale : http://localhost:8083/dashboard/cases/820002/.</a:t>
            </a:r>
          </a:p>
          <a:p xmlns:a="http://schemas.openxmlformats.org/drawingml/2006/main">
            <a:r>
              <a:t/>
            </a:r>
          </a:p>
          <a:p xmlns:a="http://schemas.openxmlformats.org/drawingml/2006/main">
            <a:r>
              <a:t>Sources locales :</a:t>
            </a:r>
          </a:p>
          <a:p xmlns:a="http://schemas.openxmlformats.org/drawingml/2006/main">
            <a:r>
              <a:t>C:/Users/benda/Desktop/Hackathon/Data/frontend/public/data/cases.json</a:t>
            </a:r>
          </a:p>
          <a:p xmlns:a="http://schemas.openxmlformats.org/drawingml/2006/main">
            <a:r>
              <a:t>C:/Users/benda/Desktop/Hackathon/Data/frontend/src/sections/damage/car-diagram.tsx</a:t>
            </a:r>
          </a:p>
          <a:p xmlns:a="http://schemas.openxmlformats.org/drawingml/2006/main">
            <a:r>
              <a:t>C:/Users/benda/Desktop/Hackathon/Work/pipeline/repair_logic.py</a:t>
            </a:r>
          </a:p>
          <a:p xmlns:a="http://schemas.openxmlformats.org/drawingml/2006/main">
            <a:r>
              <a:t>C:/Users/benda/Desktop/Hackathon/Work/pipeline/ml_common.py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Durée : 40 secondes. Le corpus comprend 550 dossiers de service et 450 de dommages. Parmi ces derniers, 110 concernent le stationnement et 76 une manœuvre, soit 186/450 = 41,3 %. Une piste métier serait de regarder leur charge de carrosserie, mais nous ne mesurons pas ici un gain opérationnel. Les 668 dossiers présents dans la liste ouverte ont une ancienneté médiane de 150 jours au 18 septembre 2026. C’est une durée depuis la création, pas une durée de réparation, et certains statuts peuvent nécessiter une vérification. Les observations décrivent ce jeu synthétique, sans extrapolation au marché. Les libellés du graphique sont en français pour l’oral, les notes sources restent en allemand.</a:t>
            </a:r>
          </a:p>
          <a:p xmlns:a="http://schemas.openxmlformats.org/drawingml/2006/main">
            <a:r>
              <a:t/>
            </a:r>
          </a:p>
          <a:p xmlns:a="http://schemas.openxmlformats.org/drawingml/2006/main">
            <a:r>
              <a:t>Sources locales :</a:t>
            </a:r>
          </a:p>
          <a:p xmlns:a="http://schemas.openxmlformats.org/drawingml/2006/main">
            <a:r>
              <a:t>C:/Users/benda/Desktop/Hackathon/Data/frontend/public/data/aggregates.json</a:t>
            </a:r>
          </a:p>
          <a:p xmlns:a="http://schemas.openxmlformats.org/drawingml/2006/main">
            <a:r>
              <a:t>C:/Users/benda/Desktop/Hackathon/Work/pipeline/build_dataset.py</a:t>
            </a:r>
          </a:p>
          <a:p xmlns:a="http://schemas.openxmlformats.org/drawingml/2006/main">
            <a:r>
              <a:t>C:/Users/benda/Desktop/Hackathon/Dataset/DATASET.md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Durée : 60 secondes. Deux protocoles apparaissent ici. À gauche, l’extraction DeepSeek est évaluée sur 977 dossiers exclus des 3 exemples du prompt et des 20 cas pilotes. Les zones donnent 751 vrais positifs, zéro faux positif et un faux négatif, soit un F1 de 99,93 %. Le type de cas atteint 100 %. L’assurance atteint 100 % sur les 434 cas de dommages de ce test. La gravité DeepSeek sur ces 434 cas vaut 68,7 %, à ne pas comparer directement au tableau de droite. À droite, chaque modèle utilise exactement les mêmes 150 identifiants réservés pour la gravité. Les modèles supervisés ont 284 exemples d’entraînement. Les comptes vérifiés sont XGBoost 123/150, GBERT 118/150, régression logistique 110/150, DeepSeek 109/150, LightGBM 98/150. Ces résultats décrivent un seul découpage du corpus synthétique. Les phrases récurrentes limitent leur portée. La baseline lexicale atteint également 100 % de F1 sur les zones de ce corpus. Les scores ne prouvent donc pas une supériorité universelle du LLM.</a:t>
            </a:r>
          </a:p>
          <a:p xmlns:a="http://schemas.openxmlformats.org/drawingml/2006/main">
            <a:r>
              <a:t/>
            </a:r>
          </a:p>
          <a:p xmlns:a="http://schemas.openxmlformats.org/drawingml/2006/main">
            <a:r>
              <a:t>Sources locales :</a:t>
            </a:r>
          </a:p>
          <a:p xmlns:a="http://schemas.openxmlformats.org/drawingml/2006/main">
            <a:r>
              <a:t>C:/Users/benda/Desktop/Hackathon/Work/pipeline/eval_report.json</a:t>
            </a:r>
          </a:p>
          <a:p xmlns:a="http://schemas.openxmlformats.org/drawingml/2006/main">
            <a:r>
              <a:t>C:/Users/benda/Desktop/Hackathon/Work/pipeline/ml_split.json</a:t>
            </a:r>
          </a:p>
          <a:p xmlns:a="http://schemas.openxmlformats.org/drawingml/2006/main">
            <a:r>
              <a:t>C:/Users/benda/Desktop/Hackathon/Work/pipeline/gbert_result.json</a:t>
            </a:r>
          </a:p>
          <a:p xmlns:a="http://schemas.openxmlformats.org/drawingml/2006/main">
            <a:r>
              <a:t>C:/Users/benda/Desktop/Hackathon/Data/frontend/public/data/model_comparison.json</a:t>
            </a:r>
          </a:p>
          <a:p xmlns:a="http://schemas.openxmlformats.org/drawingml/2006/main">
            <a:r>
              <a:t>C:/Users/benda/Desktop/Hackathon/Work/pipeline/train_cpu_models.py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Durée : 45 secondes. Être explicite sur les limites : le corpus est synthétique et réutilise des formulations. Les identifiants de test sont séparés, mais des formulations proches peuvent apparaître des deux côtés du découpage. Une validation par famille de formulation puis sur des notes réelles serait plus probante. Le rapport montre que la même phrase de bris de glace peut recevoir plusieurs gravités. Il estime un score de 79,5 % pour une correspondance par empreintes textuelles : cette estimation est propre à sa méthode et à son périmètre, pas une borne universelle pour le test des 150 dossiers. Nous ne l’affichons pas comme plafond face aux 82 % de XGBoost. Les citations verbatim et Pydantic permettent l’audit, mais ne garantissent pas l’exactitude sémantique. Les règles R&amp;I et de remplacement ne disposent pas de labels de vérité terrain dans ce jeu. Les champs vides sont volontaires : compléter les mesures de latence et coût réel ainsi que la validation externe quand elles seront disponibles. Aucun gain financier n’est revendiqué.</a:t>
            </a:r>
          </a:p>
          <a:p xmlns:a="http://schemas.openxmlformats.org/drawingml/2006/main">
            <a:r>
              <a:t/>
            </a:r>
          </a:p>
          <a:p xmlns:a="http://schemas.openxmlformats.org/drawingml/2006/main">
            <a:r>
              <a:t>Sources locales :</a:t>
            </a:r>
          </a:p>
          <a:p xmlns:a="http://schemas.openxmlformats.org/drawingml/2006/main">
            <a:r>
              <a:t>C:/Users/benda/Desktop/Hackathon/docs/jury-reliability-report.md</a:t>
            </a:r>
          </a:p>
          <a:p xmlns:a="http://schemas.openxmlformats.org/drawingml/2006/main">
            <a:r>
              <a:t>C:/Users/benda/Desktop/Hackathon/Work/pipeline/repair_logic.py</a:t>
            </a:r>
          </a:p>
          <a:p xmlns:a="http://schemas.openxmlformats.org/drawingml/2006/main">
            <a:r>
              <a:t>C:/Users/benda/Desktop/Hackathon/Dataset/DATASET.md</a:t>
            </a:r>
          </a:p>
          <a:p xmlns:a="http://schemas.openxmlformats.org/drawingml/2006/main">
            <a:r>
              <a:t>C:/Users/benda/Desktop/Hackathon/Work/pipeline/eval_report.json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b1f8f32a163c4e94"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a90a9a57c60e4bf8" /><Relationship Type="http://schemas.openxmlformats.org/officeDocument/2006/relationships/slideLayout" Target="/ppt/slideLayouts/slideLayout1.xml" Id="R8bcca461c649411c"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8bcca461c649411c"/>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2221c0913fcb465d" /><Relationship Type="http://schemas.openxmlformats.org/officeDocument/2006/relationships/notesSlide" Target="/ppt/notesSlides/notesSlide1.xml" Id="Rc940c96b40b34917"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ff96a967275d4e6d" /><Relationship Type="http://schemas.openxmlformats.org/officeDocument/2006/relationships/notesSlide" Target="/ppt/notesSlides/notesSlide2.xml" Id="Rd2f5fa3412634a50"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d7dbcf6b207b429e" /><Relationship Type="http://schemas.openxmlformats.org/officeDocument/2006/relationships/image" Target="/ppt/media/image.png" Id="Reefc1f0573744b84" /><Relationship Type="http://schemas.openxmlformats.org/officeDocument/2006/relationships/notesSlide" Target="/ppt/notesSlides/notesSlide3.xml" Id="Re107c58ff65241e9"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43071a2e3eee42e6" /><Relationship Type="http://schemas.openxmlformats.org/officeDocument/2006/relationships/chart" Target="/ppt/slides/charts/chart1.xml" Id="Rd9d7ee664a4f4304" /><Relationship Type="http://schemas.openxmlformats.org/officeDocument/2006/relationships/notesSlide" Target="/ppt/notesSlides/notesSlide4.xml" Id="R131cd9348674452e"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24b54cd2f6464097" /><Relationship Type="http://schemas.openxmlformats.org/officeDocument/2006/relationships/notesSlide" Target="/ppt/notesSlides/notesSlide5.xml" Id="R7e824697ea904e6c"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7b381885abb54b53" /><Relationship Type="http://schemas.openxmlformats.org/officeDocument/2006/relationships/notesSlide" Target="/ppt/notesSlides/notesSlide6.xml" Id="Rcf57e265aebe4c97" /></Relationships>
</file>

<file path=ppt/slides/charts/_rels/chart1.xml.rels><Relationships xmlns="http://schemas.openxmlformats.org/package/2006/relationships"><Relationship Id="rIdChartSnapshot1" Type="http://schemas.openxmlformats.org/officeDocument/2006/relationships/package" Target="../../embeddings/chart-data-snapshot-001.xlsx"/></Relationships>
</file>

<file path=ppt/slides/charts/chart1.xml><?xml version="1.0" encoding="utf-8"?>
<c:chartSpace xmlns:c="http://schemas.openxmlformats.org/drawingml/2006/chart" xmlns:r="http://schemas.openxmlformats.org/officeDocument/2006/relationships">
  <c:lang val="en-US"/>
  <c:chart>
    <c:plotArea>
      <c:barChart>
        <c:barDir val="bar"/>
        <c:grouping val="clustered"/>
        <c:varyColors val="0"/>
        <c:ser>
          <c:idx val="0"/>
          <c:order val="0"/>
          <c:tx>
            <c:v>Dossiers</c:v>
          </c:tx>
          <c:spPr>
            <a:solidFill xmlns:a="http://schemas.openxmlformats.org/drawingml/2006/main">
              <a:srgbClr val="007F75"/>
            </a:solidFill>
          </c:spPr>
          <c:cat>
            <c:strRef>
              <c:f>'Chart Data'!$A$2:$A$8</c:f>
              <c:strCache>
                <c:ptCount val="7"/>
                <c:pt idx="0">
                  <c:v>Stationnement</c:v>
                </c:pt>
                <c:pt idx="1">
                  <c:v>Manœuvre</c:v>
                </c:pt>
                <c:pt idx="2">
                  <c:v>Collision arrière</c:v>
                </c:pt>
                <c:pt idx="3">
                  <c:v>Gravillons</c:v>
                </c:pt>
                <c:pt idx="4">
                  <c:v>Grêle</c:v>
                </c:pt>
                <c:pt idx="5">
                  <c:v>Vandalisme</c:v>
                </c:pt>
                <c:pt idx="6">
                  <c:v>Animal</c:v>
                </c:pt>
              </c:strCache>
            </c:strRef>
          </c:cat>
          <c:val>
            <c:numRef>
              <c:f>'Chart Data'!$B$2:$B$8</c:f>
              <c:numCache>
                <c:formatCode>0</c:formatCode>
                <c:ptCount val="7"/>
                <c:pt idx="0">
                  <c:v>110</c:v>
                </c:pt>
                <c:pt idx="1">
                  <c:v>76</c:v>
                </c:pt>
                <c:pt idx="2">
                  <c:v>62</c:v>
                </c:pt>
                <c:pt idx="3">
                  <c:v>55</c:v>
                </c:pt>
                <c:pt idx="4">
                  <c:v>55</c:v>
                </c:pt>
                <c:pt idx="5">
                  <c:v>48</c:v>
                </c:pt>
                <c:pt idx="6">
                  <c:v>44</c:v>
                </c:pt>
              </c:numCache>
            </c:numRef>
          </c:val>
        </c:ser>
        <c:dLbls>
          <c:txPr>
            <a:bodyPr xmlns:a="http://schemas.openxmlformats.org/drawingml/2006/main" anchorCtr="1"/>
            <a:lstStyle xmlns:a="http://schemas.openxmlformats.org/drawingml/2006/main"/>
            <a:p xmlns:a="http://schemas.openxmlformats.org/drawingml/2006/main">
              <a:pPr>
                <a:defRPr sz="1650">
                  <a:solidFill>
                    <a:srgbClr val="102C36"/>
                  </a:solidFill>
                  <a:latin typeface="Arial"/>
                  <a:ea typeface="Arial"/>
                  <a:cs typeface="Arial"/>
                </a:defRPr>
              </a:pPr>
            </a:p>
          </c:txPr>
          <c:dLblPos val="outEnd"/>
          <c:showLegendKey val="0"/>
          <c:showVal val="1"/>
          <c:showCatName val="0"/>
          <c:showSerName val="0"/>
          <c:showPercent val="0"/>
          <c:showBubbleSize val="0"/>
          <c:showLeaderLines val="0"/>
        </c:dLbls>
        <c:gapWidth val="65"/>
        <c:axId val="48650112"/>
        <c:axId val="48672768"/>
      </c:barChart>
      <c:catAx>
        <c:axId val="48650112"/>
        <c:scaling>
          <c:orientation val="minMax"/>
        </c:scaling>
        <c:delete val="0"/>
        <c:axPos val="l"/>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650">
                <a:solidFill>
                  <a:srgbClr val="102C36"/>
                </a:solidFill>
                <a:latin typeface="Arial"/>
                <a:ea typeface="Arial"/>
                <a:cs typeface="Arial"/>
              </a:defRPr>
            </a:pPr>
          </a:p>
        </c:txPr>
        <c:crossAx val="48672768"/>
      </c:catAx>
      <c:valAx>
        <c:axId val="48672768"/>
        <c:scaling>
          <c:orientation val="minMax"/>
          <c:max val="120"/>
          <c:min val="0"/>
        </c:scaling>
        <c:delete val="0"/>
        <c:axPos val="b"/>
        <c:majorGridlines>
          <c:spPr>
            <a:ln xmlns:a="http://schemas.openxmlformats.org/drawingml/2006/main" w="9525">
              <a:solidFill>
                <a:srgbClr val="DEE6E2"/>
              </a:solidFill>
            </a:ln>
          </c:spPr>
        </c:majorGridlines>
        <c:numFmt formatCode="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350">
                <a:solidFill>
                  <a:srgbClr val="547078"/>
                </a:solidFill>
                <a:latin typeface="Arial"/>
                <a:ea typeface="Arial"/>
                <a:cs typeface="Arial"/>
              </a:defRPr>
            </a:pPr>
          </a:p>
        </c:txPr>
        <c:crossAx val="48650112"/>
        <c:crossBetween val="between"/>
        <c:majorUnit val="40"/>
      </c:valAx>
      <c:spPr>
        <a:solidFill xmlns:a="http://schemas.openxmlformats.org/drawingml/2006/main">
          <a:srgbClr val="F5F4EF"/>
        </a:solidFill>
      </c:spPr>
    </c:plotArea>
    <c:plotVisOnly val="1"/>
  </c:chart>
  <c:spPr>
    <a:solidFill xmlns:a="http://schemas.openxmlformats.org/drawingml/2006/main">
      <a:srgbClr val="F5F4EF"/>
    </a:solidFill>
  </c:spPr>
  <c:externalData r:id="rIdChartSnapshot1">
    <c:autoUpdate val="0"/>
  </c:externalData>
</c:chartSpace>
</file>

<file path=ppt/slides/slide1.xml><?xml version="1.0" encoding="utf-8"?>
<p:sld xmlns:p="http://schemas.openxmlformats.org/presentationml/2006/main">
  <p:cSld>
    <p:bg>
      <p:bgPr>
        <a:solidFill xmlns:a="http://schemas.openxmlformats.org/drawingml/2006/main">
          <a:srgbClr val="102C36"/>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DB672F4F-FC53-4090-86C4-98E4434BC7BD}"/>
              </a:ext>
            </a:extLst>
          </p:cNvPr>
          <p:cNvSpPr>
            <a:spLocks xmlns:a="http://schemas.openxmlformats.org/drawingml/2006/main" noGrp="1"/>
          </p:cNvSpPr>
          <p:nvPr/>
        </p:nvSpPr>
        <p:spPr>
          <a:xfrm xmlns:a="http://schemas.openxmlformats.org/drawingml/2006/main">
            <a:off x="609600" y="409575"/>
            <a:ext cx="109537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4800" b="1">
                <a:solidFill>
                  <a:srgbClr val="FFFFFF"/>
                </a:solidFill>
                <a:latin typeface="Arial"/>
                <a:ea typeface="Arial"/>
                <a:cs typeface="Arial"/>
              </a:defRPr>
            </a:pPr>
            <a:r>
              <a:rPr sz="4800" b="1">
                <a:solidFill>
                  <a:srgbClr val="FFFFFF"/>
                </a:solidFill>
                <a:latin typeface="Arial"/>
                <a:ea typeface="Arial"/>
                <a:cs typeface="Arial"/>
              </a:rPr>
              <a:t>Damage Intelligence</a:t>
            </a:r>
          </a:p>
        </p:txBody>
      </p:sp>
      <p:sp>
        <p:nvSpPr>
          <p:cNvPr id="2" name="">
            <a:extLst xmlns:a="http://schemas.openxmlformats.org/drawingml/2006/main">
              <a:ext uri="{FF2B5EF4-FFF2-40B4-BE49-F238E27FC236}">
                <a16:creationId xmlns:a16="http://schemas.microsoft.com/office/drawing/2014/main" id="{E90DD583-8423-4710-BBD5-3C5879F001DD}"/>
              </a:ext>
            </a:extLst>
          </p:cNvPr>
          <p:cNvSpPr>
            <a:spLocks xmlns:a="http://schemas.openxmlformats.org/drawingml/2006/main" noGrp="1"/>
          </p:cNvSpPr>
          <p:nvPr/>
        </p:nvSpPr>
        <p:spPr>
          <a:xfrm xmlns:a="http://schemas.openxmlformats.org/drawingml/2006/main">
            <a:off x="11144250" y="6324600"/>
            <a:ext cx="476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547078"/>
                </a:solidFill>
                <a:latin typeface="Arial"/>
                <a:ea typeface="Arial"/>
                <a:cs typeface="Arial"/>
              </a:defRPr>
            </a:pPr>
            <a:r>
              <a:rPr sz="1350" b="0">
                <a:solidFill>
                  <a:srgbClr val="547078"/>
                </a:solidFill>
                <a:latin typeface="Arial"/>
                <a:ea typeface="Arial"/>
                <a:cs typeface="Arial"/>
              </a:rPr>
              <a:t>01</a:t>
            </a:r>
          </a:p>
        </p:txBody>
      </p:sp>
      <p:sp>
        <p:nvSpPr>
          <p:cNvPr id="3" name="">
            <a:extLst xmlns:a="http://schemas.openxmlformats.org/drawingml/2006/main">
              <a:ext uri="{FF2B5EF4-FFF2-40B4-BE49-F238E27FC236}">
                <a16:creationId xmlns:a16="http://schemas.microsoft.com/office/drawing/2014/main" id="{EC670042-1743-4526-83E4-614F385CA364}"/>
              </a:ext>
            </a:extLst>
          </p:cNvPr>
          <p:cNvSpPr>
            <a:spLocks xmlns:a="http://schemas.openxmlformats.org/drawingml/2006/main" noGrp="1"/>
          </p:cNvSpPr>
          <p:nvPr/>
        </p:nvSpPr>
        <p:spPr>
          <a:xfrm xmlns:a="http://schemas.openxmlformats.org/drawingml/2006/main">
            <a:off x="609600" y="1885950"/>
            <a:ext cx="10477500" cy="1485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600" b="1">
                <a:solidFill>
                  <a:srgbClr val="FFFFFF"/>
                </a:solidFill>
                <a:latin typeface="Arial"/>
                <a:ea typeface="Arial"/>
                <a:cs typeface="Arial"/>
              </a:defRPr>
            </a:pPr>
            <a:r>
              <a:rPr sz="3600" b="1">
                <a:solidFill>
                  <a:srgbClr val="FFFFFF"/>
                </a:solidFill>
                <a:latin typeface="Arial"/>
                <a:ea typeface="Arial"/>
                <a:cs typeface="Arial"/>
              </a:rPr>
              <a:t>Les notes d’atelier allemandes,</a:t>
            </a:r>
          </a:p>
          <a:p xmlns:a="http://schemas.openxmlformats.org/drawingml/2006/main">
            <a:pPr>
              <a:defRPr sz="3600" b="1">
                <a:solidFill>
                  <a:srgbClr val="FFFFFF"/>
                </a:solidFill>
                <a:latin typeface="Arial"/>
                <a:ea typeface="Arial"/>
                <a:cs typeface="Arial"/>
              </a:defRPr>
            </a:pPr>
            <a:r>
              <a:rPr sz="3600" b="1">
                <a:solidFill>
                  <a:srgbClr val="FFFFFF"/>
                </a:solidFill>
                <a:latin typeface="Arial"/>
                <a:ea typeface="Arial"/>
                <a:cs typeface="Arial"/>
              </a:rPr>
              <a:t>exploitables dossier par dossier</a:t>
            </a:r>
          </a:p>
        </p:txBody>
      </p:sp>
      <p:sp>
        <p:nvSpPr>
          <p:cNvPr id="4" name="">
            <a:extLst xmlns:a="http://schemas.openxmlformats.org/drawingml/2006/main">
              <a:ext uri="{FF2B5EF4-FFF2-40B4-BE49-F238E27FC236}">
                <a16:creationId xmlns:a16="http://schemas.microsoft.com/office/drawing/2014/main" id="{C7BEB761-EA07-4F19-8B4C-76BCE8485B99}"/>
              </a:ext>
            </a:extLst>
          </p:cNvPr>
          <p:cNvSpPr>
            <a:spLocks xmlns:a="http://schemas.openxmlformats.org/drawingml/2006/main" noGrp="1"/>
          </p:cNvSpPr>
          <p:nvPr/>
        </p:nvSpPr>
        <p:spPr>
          <a:xfrm xmlns:a="http://schemas.openxmlformats.org/drawingml/2006/main">
            <a:off x="609600" y="3705225"/>
            <a:ext cx="100012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325" b="0">
                <a:solidFill>
                  <a:srgbClr val="B9D7D4"/>
                </a:solidFill>
                <a:latin typeface="Arial"/>
                <a:ea typeface="Arial"/>
                <a:cs typeface="Arial"/>
              </a:defRPr>
            </a:pPr>
            <a:r>
              <a:rPr sz="2325" b="0">
                <a:solidFill>
                  <a:srgbClr val="B9D7D4"/>
                </a:solidFill>
                <a:latin typeface="Arial"/>
                <a:ea typeface="Arial"/>
                <a:cs typeface="Arial"/>
              </a:rPr>
              <a:t>Une fiche visuelle des dommages</a:t>
            </a:r>
          </a:p>
          <a:p xmlns:a="http://schemas.openxmlformats.org/drawingml/2006/main">
            <a:pPr>
              <a:defRPr sz="2325" b="0">
                <a:solidFill>
                  <a:srgbClr val="B9D7D4"/>
                </a:solidFill>
                <a:latin typeface="Arial"/>
                <a:ea typeface="Arial"/>
                <a:cs typeface="Arial"/>
              </a:defRPr>
            </a:pPr>
            <a:r>
              <a:rPr sz="2325" b="0">
                <a:solidFill>
                  <a:srgbClr val="B9D7D4"/>
                </a:solidFill>
                <a:latin typeface="Arial"/>
                <a:ea typeface="Arial"/>
                <a:cs typeface="Arial"/>
              </a:rPr>
              <a:t>et une analyse de l’activité du concessionnaire</a:t>
            </a:r>
          </a:p>
        </p:txBody>
      </p:sp>
      <p:sp>
        <p:nvSpPr>
          <p:cNvPr id="5" name="">
            <a:extLst xmlns:a="http://schemas.openxmlformats.org/drawingml/2006/main">
              <a:ext uri="{FF2B5EF4-FFF2-40B4-BE49-F238E27FC236}">
                <a16:creationId xmlns:a16="http://schemas.microsoft.com/office/drawing/2014/main" id="{A559B5E8-9CB7-41EA-AFE7-B2B2EEE9E7E2}"/>
              </a:ext>
            </a:extLst>
          </p:cNvPr>
          <p:cNvSpPr>
            <a:spLocks xmlns:a="http://schemas.openxmlformats.org/drawingml/2006/main" noGrp="1"/>
          </p:cNvSpPr>
          <p:nvPr/>
        </p:nvSpPr>
        <p:spPr>
          <a:xfrm xmlns:a="http://schemas.openxmlformats.org/drawingml/2006/main">
            <a:off x="609600" y="5267325"/>
            <a:ext cx="85725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64D4BF"/>
                </a:solidFill>
                <a:latin typeface="Arial"/>
                <a:ea typeface="Arial"/>
                <a:cs typeface="Arial"/>
              </a:defRPr>
            </a:pPr>
            <a:r>
              <a:rPr sz="2550" b="1">
                <a:solidFill>
                  <a:srgbClr val="64D4BF"/>
                </a:solidFill>
                <a:latin typeface="Arial"/>
                <a:ea typeface="Arial"/>
                <a:cs typeface="Arial"/>
              </a:rPr>
              <a:t>1 000 dossiers synthétiques</a:t>
            </a:r>
          </a:p>
        </p:txBody>
      </p:sp>
      <p:sp>
        <p:nvSpPr>
          <p:cNvPr id="6" name="">
            <a:extLst xmlns:a="http://schemas.openxmlformats.org/drawingml/2006/main">
              <a:ext uri="{FF2B5EF4-FFF2-40B4-BE49-F238E27FC236}">
                <a16:creationId xmlns:a16="http://schemas.microsoft.com/office/drawing/2014/main" id="{48B40988-B505-4F64-8226-EBD18CC71F5E}"/>
              </a:ext>
            </a:extLst>
          </p:cNvPr>
          <p:cNvSpPr>
            <a:spLocks xmlns:a="http://schemas.openxmlformats.org/drawingml/2006/main" noGrp="1"/>
          </p:cNvSpPr>
          <p:nvPr/>
        </p:nvSpPr>
        <p:spPr>
          <a:xfrm xmlns:a="http://schemas.openxmlformats.org/drawingml/2006/main">
            <a:off x="609600" y="5981700"/>
            <a:ext cx="100012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0">
                <a:solidFill>
                  <a:srgbClr val="B9D7D4"/>
                </a:solidFill>
                <a:latin typeface="Arial"/>
                <a:ea typeface="Arial"/>
                <a:cs typeface="Arial"/>
              </a:defRPr>
            </a:pPr>
            <a:r>
              <a:rPr sz="1650" b="0">
                <a:solidFill>
                  <a:srgbClr val="B9D7D4"/>
                </a:solidFill>
                <a:latin typeface="Arial"/>
                <a:ea typeface="Arial"/>
                <a:cs typeface="Arial"/>
              </a:rPr>
              <a:t>Wolf Day · DaiL · Track B     Équipe : __________</a:t>
            </a:r>
          </a:p>
        </p:txBody>
      </p:sp>
    </p:spTree>
    <p:extLst>
      <p:ext uri="{BB962C8B-B14F-4D97-AF65-F5344CB8AC3E}">
        <p14:creationId xmlns:p14="http://schemas.microsoft.com/office/powerpoint/2010/main" val="1414999751"/>
      </p:ext>
    </p:extLst>
  </p:cSld>
</p:sld>
</file>

<file path=ppt/slides/slide2.xml><?xml version="1.0" encoding="utf-8"?>
<p:sld xmlns:p="http://schemas.openxmlformats.org/presentationml/2006/main">
  <p:cSld>
    <p:bg>
      <p:bgPr>
        <a:solidFill xmlns:a="http://schemas.openxmlformats.org/drawingml/2006/main">
          <a:srgbClr val="F5F4EF"/>
        </a:solidFill>
      </p:bgPr>
    </p:bg>
    <p:spTree>
      <p:nvGrpSpPr>
        <p:cNvPr id="1" name=""/>
        <p:cNvGrpSpPr/>
        <p:nvPr/>
      </p:nvGrpSpPr>
      <p:grpSpPr>
        <a:xfrm xmlns:a="http://schemas.openxmlformats.org/drawingml/2006/main"/>
      </p:grpSpPr>
      <p:sp>
        <p:nvSpPr>
          <p:cNvPr id="16" name="">
            <a:extLst xmlns:a="http://schemas.openxmlformats.org/drawingml/2006/main">
              <a:ext uri="{FF2B5EF4-FFF2-40B4-BE49-F238E27FC236}">
                <a16:creationId xmlns:a16="http://schemas.microsoft.com/office/drawing/2014/main" id="{7BDACD64-46C6-49A3-A770-9769CE4D17FE}"/>
              </a:ext>
            </a:extLst>
          </p:cNvPr>
          <p:cNvSpPr>
            <a:spLocks xmlns:a="http://schemas.openxmlformats.org/drawingml/2006/main" noGrp="1"/>
          </p:cNvSpPr>
          <p:nvPr/>
        </p:nvSpPr>
        <p:spPr>
          <a:xfrm xmlns:a="http://schemas.openxmlformats.org/drawingml/2006/main">
            <a:off x="609600" y="409575"/>
            <a:ext cx="109537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225" b="1">
                <a:solidFill>
                  <a:srgbClr val="102C36"/>
                </a:solidFill>
                <a:latin typeface="Arial"/>
                <a:ea typeface="Arial"/>
                <a:cs typeface="Arial"/>
              </a:defRPr>
            </a:pPr>
            <a:r>
              <a:rPr sz="3225" b="1">
                <a:solidFill>
                  <a:srgbClr val="102C36"/>
                </a:solidFill>
                <a:latin typeface="Arial"/>
                <a:ea typeface="Arial"/>
                <a:cs typeface="Arial"/>
              </a:rPr>
              <a:t>Une extraction commune aux deux livrables</a:t>
            </a:r>
          </a:p>
        </p:txBody>
      </p:sp>
      <p:sp>
        <p:nvSpPr>
          <p:cNvPr id="2" name="">
            <a:extLst xmlns:a="http://schemas.openxmlformats.org/drawingml/2006/main">
              <a:ext uri="{FF2B5EF4-FFF2-40B4-BE49-F238E27FC236}">
                <a16:creationId xmlns:a16="http://schemas.microsoft.com/office/drawing/2014/main" id="{3EA85EF9-7674-495A-ACED-C3C810E7EB39}"/>
              </a:ext>
            </a:extLst>
          </p:cNvPr>
          <p:cNvSpPr>
            <a:spLocks xmlns:a="http://schemas.openxmlformats.org/drawingml/2006/main" noGrp="1"/>
          </p:cNvSpPr>
          <p:nvPr/>
        </p:nvSpPr>
        <p:spPr>
          <a:xfrm xmlns:a="http://schemas.openxmlformats.org/drawingml/2006/main">
            <a:off x="11144250" y="6324600"/>
            <a:ext cx="476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547078"/>
                </a:solidFill>
                <a:latin typeface="Arial"/>
                <a:ea typeface="Arial"/>
                <a:cs typeface="Arial"/>
              </a:defRPr>
            </a:pPr>
            <a:r>
              <a:rPr sz="1350" b="0">
                <a:solidFill>
                  <a:srgbClr val="547078"/>
                </a:solidFill>
                <a:latin typeface="Arial"/>
                <a:ea typeface="Arial"/>
                <a:cs typeface="Arial"/>
              </a:rPr>
              <a:t>02</a:t>
            </a:r>
          </a:p>
        </p:txBody>
      </p:sp>
      <p:sp>
        <p:nvSpPr>
          <p:cNvPr id="3" name="">
            <a:extLst xmlns:a="http://schemas.openxmlformats.org/drawingml/2006/main">
              <a:ext uri="{FF2B5EF4-FFF2-40B4-BE49-F238E27FC236}">
                <a16:creationId xmlns:a16="http://schemas.microsoft.com/office/drawing/2014/main" id="{AFE3D03B-DF02-4B5C-A3F5-4CC846EE9AD8}"/>
              </a:ext>
            </a:extLst>
          </p:cNvPr>
          <p:cNvSpPr>
            <a:spLocks xmlns:a="http://schemas.openxmlformats.org/drawingml/2006/main" noGrp="1"/>
          </p:cNvSpPr>
          <p:nvPr/>
        </p:nvSpPr>
        <p:spPr>
          <a:xfrm xmlns:a="http://schemas.openxmlformats.org/drawingml/2006/main">
            <a:off x="609600" y="1524000"/>
            <a:ext cx="666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925" b="1">
                <a:solidFill>
                  <a:srgbClr val="007F75"/>
                </a:solidFill>
                <a:latin typeface="Arial"/>
                <a:ea typeface="Arial"/>
                <a:cs typeface="Arial"/>
              </a:defRPr>
            </a:pPr>
            <a:r>
              <a:rPr sz="2925" b="1">
                <a:solidFill>
                  <a:srgbClr val="007F75"/>
                </a:solidFill>
                <a:latin typeface="Arial"/>
                <a:ea typeface="Arial"/>
                <a:cs typeface="Arial"/>
              </a:rPr>
              <a:t>01</a:t>
            </a:r>
          </a:p>
        </p:txBody>
      </p:sp>
      <p:sp>
        <p:nvSpPr>
          <p:cNvPr id="4" name="">
            <a:extLst xmlns:a="http://schemas.openxmlformats.org/drawingml/2006/main">
              <a:ext uri="{FF2B5EF4-FFF2-40B4-BE49-F238E27FC236}">
                <a16:creationId xmlns:a16="http://schemas.microsoft.com/office/drawing/2014/main" id="{8014000B-D2D6-4796-A1E6-1E618D136650}"/>
              </a:ext>
            </a:extLst>
          </p:cNvPr>
          <p:cNvSpPr>
            <a:spLocks xmlns:a="http://schemas.openxmlformats.org/drawingml/2006/main" noGrp="1"/>
          </p:cNvSpPr>
          <p:nvPr/>
        </p:nvSpPr>
        <p:spPr>
          <a:xfrm xmlns:a="http://schemas.openxmlformats.org/drawingml/2006/main">
            <a:off x="1466850" y="1524000"/>
            <a:ext cx="42862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1">
                <a:solidFill>
                  <a:srgbClr val="102C36"/>
                </a:solidFill>
                <a:latin typeface="Arial"/>
                <a:ea typeface="Arial"/>
                <a:cs typeface="Arial"/>
              </a:defRPr>
            </a:pPr>
            <a:r>
              <a:rPr sz="2175" b="1">
                <a:solidFill>
                  <a:srgbClr val="102C36"/>
                </a:solidFill>
                <a:latin typeface="Arial"/>
                <a:ea typeface="Arial"/>
                <a:cs typeface="Arial"/>
              </a:rPr>
              <a:t>Note en allemand</a:t>
            </a:r>
          </a:p>
        </p:txBody>
      </p:sp>
      <p:sp>
        <p:nvSpPr>
          <p:cNvPr id="5" name="">
            <a:extLst xmlns:a="http://schemas.openxmlformats.org/drawingml/2006/main">
              <a:ext uri="{FF2B5EF4-FFF2-40B4-BE49-F238E27FC236}">
                <a16:creationId xmlns:a16="http://schemas.microsoft.com/office/drawing/2014/main" id="{F586B2EF-AE83-4759-A5FD-D7F0B078C278}"/>
              </a:ext>
            </a:extLst>
          </p:cNvPr>
          <p:cNvSpPr>
            <a:spLocks xmlns:a="http://schemas.openxmlformats.org/drawingml/2006/main" noGrp="1"/>
          </p:cNvSpPr>
          <p:nvPr/>
        </p:nvSpPr>
        <p:spPr>
          <a:xfrm xmlns:a="http://schemas.openxmlformats.org/drawingml/2006/main">
            <a:off x="1466850" y="1981200"/>
            <a:ext cx="96202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547078"/>
                </a:solidFill>
                <a:latin typeface="Arial"/>
                <a:ea typeface="Arial"/>
                <a:cs typeface="Arial"/>
              </a:defRPr>
            </a:pPr>
            <a:r>
              <a:rPr sz="1875" b="0">
                <a:solidFill>
                  <a:srgbClr val="547078"/>
                </a:solidFill>
                <a:latin typeface="Arial"/>
                <a:ea typeface="Arial"/>
                <a:cs typeface="Arial"/>
              </a:rPr>
              <a:t>DeepSeek extrait les pièces, dommages et citations justificatives.</a:t>
            </a:r>
          </a:p>
        </p:txBody>
      </p:sp>
      <p:sp>
        <p:nvSpPr>
          <p:cNvPr id="6" name="">
            <a:extLst xmlns:a="http://schemas.openxmlformats.org/drawingml/2006/main">
              <a:ext uri="{FF2B5EF4-FFF2-40B4-BE49-F238E27FC236}">
                <a16:creationId xmlns:a16="http://schemas.microsoft.com/office/drawing/2014/main" id="{9D4244CA-27DC-40D6-8AFA-08C4F3B00560}"/>
              </a:ext>
            </a:extLst>
          </p:cNvPr>
          <p:cNvSpPr>
            <a:spLocks xmlns:a="http://schemas.openxmlformats.org/drawingml/2006/main" noGrp="1"/>
          </p:cNvSpPr>
          <p:nvPr/>
        </p:nvSpPr>
        <p:spPr>
          <a:xfrm xmlns:a="http://schemas.openxmlformats.org/drawingml/2006/main">
            <a:off x="609600" y="2571750"/>
            <a:ext cx="666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925" b="1">
                <a:solidFill>
                  <a:srgbClr val="007F75"/>
                </a:solidFill>
                <a:latin typeface="Arial"/>
                <a:ea typeface="Arial"/>
                <a:cs typeface="Arial"/>
              </a:defRPr>
            </a:pPr>
            <a:r>
              <a:rPr sz="2925" b="1">
                <a:solidFill>
                  <a:srgbClr val="007F75"/>
                </a:solidFill>
                <a:latin typeface="Arial"/>
                <a:ea typeface="Arial"/>
                <a:cs typeface="Arial"/>
              </a:rPr>
              <a:t>02</a:t>
            </a:r>
          </a:p>
        </p:txBody>
      </p:sp>
      <p:sp>
        <p:nvSpPr>
          <p:cNvPr id="7" name="">
            <a:extLst xmlns:a="http://schemas.openxmlformats.org/drawingml/2006/main">
              <a:ext uri="{FF2B5EF4-FFF2-40B4-BE49-F238E27FC236}">
                <a16:creationId xmlns:a16="http://schemas.microsoft.com/office/drawing/2014/main" id="{FD7984A3-654D-4EEF-B0A6-A9F86F939C77}"/>
              </a:ext>
            </a:extLst>
          </p:cNvPr>
          <p:cNvSpPr>
            <a:spLocks xmlns:a="http://schemas.openxmlformats.org/drawingml/2006/main" noGrp="1"/>
          </p:cNvSpPr>
          <p:nvPr/>
        </p:nvSpPr>
        <p:spPr>
          <a:xfrm xmlns:a="http://schemas.openxmlformats.org/drawingml/2006/main">
            <a:off x="1466850" y="2571750"/>
            <a:ext cx="42862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1">
                <a:solidFill>
                  <a:srgbClr val="102C36"/>
                </a:solidFill>
                <a:latin typeface="Arial"/>
                <a:ea typeface="Arial"/>
                <a:cs typeface="Arial"/>
              </a:defRPr>
            </a:pPr>
            <a:r>
              <a:rPr sz="2175" b="1">
                <a:solidFill>
                  <a:srgbClr val="102C36"/>
                </a:solidFill>
                <a:latin typeface="Arial"/>
                <a:ea typeface="Arial"/>
                <a:cs typeface="Arial"/>
              </a:rPr>
              <a:t>JSON validé</a:t>
            </a:r>
          </a:p>
        </p:txBody>
      </p:sp>
      <p:sp>
        <p:nvSpPr>
          <p:cNvPr id="8" name="">
            <a:extLst xmlns:a="http://schemas.openxmlformats.org/drawingml/2006/main">
              <a:ext uri="{FF2B5EF4-FFF2-40B4-BE49-F238E27FC236}">
                <a16:creationId xmlns:a16="http://schemas.microsoft.com/office/drawing/2014/main" id="{BA85B0F8-E75F-48ED-867C-D45A8B045F24}"/>
              </a:ext>
            </a:extLst>
          </p:cNvPr>
          <p:cNvSpPr>
            <a:spLocks xmlns:a="http://schemas.openxmlformats.org/drawingml/2006/main" noGrp="1"/>
          </p:cNvSpPr>
          <p:nvPr/>
        </p:nvSpPr>
        <p:spPr>
          <a:xfrm xmlns:a="http://schemas.openxmlformats.org/drawingml/2006/main">
            <a:off x="1466850" y="3028950"/>
            <a:ext cx="96202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547078"/>
                </a:solidFill>
                <a:latin typeface="Arial"/>
                <a:ea typeface="Arial"/>
                <a:cs typeface="Arial"/>
              </a:defRPr>
            </a:pPr>
            <a:r>
              <a:rPr sz="1875" b="0">
                <a:solidFill>
                  <a:srgbClr val="547078"/>
                </a:solidFill>
                <a:latin typeface="Arial"/>
                <a:ea typeface="Arial"/>
                <a:cs typeface="Arial"/>
              </a:rPr>
              <a:t>Pydantic impose les champs et le vocabulaire de pièces + côté.</a:t>
            </a:r>
          </a:p>
        </p:txBody>
      </p:sp>
      <p:sp>
        <p:nvSpPr>
          <p:cNvPr id="9" name="">
            <a:extLst xmlns:a="http://schemas.openxmlformats.org/drawingml/2006/main">
              <a:ext uri="{FF2B5EF4-FFF2-40B4-BE49-F238E27FC236}">
                <a16:creationId xmlns:a16="http://schemas.microsoft.com/office/drawing/2014/main" id="{5F9CFACF-D445-4E2E-B7B1-B02A24E597D2}"/>
              </a:ext>
            </a:extLst>
          </p:cNvPr>
          <p:cNvSpPr>
            <a:spLocks xmlns:a="http://schemas.openxmlformats.org/drawingml/2006/main" noGrp="1"/>
          </p:cNvSpPr>
          <p:nvPr/>
        </p:nvSpPr>
        <p:spPr>
          <a:xfrm xmlns:a="http://schemas.openxmlformats.org/drawingml/2006/main">
            <a:off x="609600" y="3619500"/>
            <a:ext cx="666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925" b="1">
                <a:solidFill>
                  <a:srgbClr val="007F75"/>
                </a:solidFill>
                <a:latin typeface="Arial"/>
                <a:ea typeface="Arial"/>
                <a:cs typeface="Arial"/>
              </a:defRPr>
            </a:pPr>
            <a:r>
              <a:rPr sz="2925" b="1">
                <a:solidFill>
                  <a:srgbClr val="007F75"/>
                </a:solidFill>
                <a:latin typeface="Arial"/>
                <a:ea typeface="Arial"/>
                <a:cs typeface="Arial"/>
              </a:rPr>
              <a:t>03</a:t>
            </a:r>
          </a:p>
        </p:txBody>
      </p:sp>
      <p:sp>
        <p:nvSpPr>
          <p:cNvPr id="10" name="">
            <a:extLst xmlns:a="http://schemas.openxmlformats.org/drawingml/2006/main">
              <a:ext uri="{FF2B5EF4-FFF2-40B4-BE49-F238E27FC236}">
                <a16:creationId xmlns:a16="http://schemas.microsoft.com/office/drawing/2014/main" id="{E97C1399-AA0E-44C0-85F5-49CD917E0E6F}"/>
              </a:ext>
            </a:extLst>
          </p:cNvPr>
          <p:cNvSpPr>
            <a:spLocks xmlns:a="http://schemas.openxmlformats.org/drawingml/2006/main" noGrp="1"/>
          </p:cNvSpPr>
          <p:nvPr/>
        </p:nvSpPr>
        <p:spPr>
          <a:xfrm xmlns:a="http://schemas.openxmlformats.org/drawingml/2006/main">
            <a:off x="1466850" y="3619500"/>
            <a:ext cx="42862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1">
                <a:solidFill>
                  <a:srgbClr val="102C36"/>
                </a:solidFill>
                <a:latin typeface="Arial"/>
                <a:ea typeface="Arial"/>
                <a:cs typeface="Arial"/>
              </a:defRPr>
            </a:pPr>
            <a:r>
              <a:rPr sz="2175" b="1">
                <a:solidFill>
                  <a:srgbClr val="102C36"/>
                </a:solidFill>
                <a:latin typeface="Arial"/>
                <a:ea typeface="Arial"/>
                <a:cs typeface="Arial"/>
              </a:rPr>
              <a:t>Règles de réparation</a:t>
            </a:r>
          </a:p>
        </p:txBody>
      </p:sp>
      <p:sp>
        <p:nvSpPr>
          <p:cNvPr id="11" name="">
            <a:extLst xmlns:a="http://schemas.openxmlformats.org/drawingml/2006/main">
              <a:ext uri="{FF2B5EF4-FFF2-40B4-BE49-F238E27FC236}">
                <a16:creationId xmlns:a16="http://schemas.microsoft.com/office/drawing/2014/main" id="{3ACE9503-9C91-4AE4-8F2E-EA959FB41D72}"/>
              </a:ext>
            </a:extLst>
          </p:cNvPr>
          <p:cNvSpPr>
            <a:spLocks xmlns:a="http://schemas.openxmlformats.org/drawingml/2006/main" noGrp="1"/>
          </p:cNvSpPr>
          <p:nvPr/>
        </p:nvSpPr>
        <p:spPr>
          <a:xfrm xmlns:a="http://schemas.openxmlformats.org/drawingml/2006/main">
            <a:off x="1466850" y="4076700"/>
            <a:ext cx="96202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547078"/>
                </a:solidFill>
                <a:latin typeface="Arial"/>
                <a:ea typeface="Arial"/>
                <a:cs typeface="Arial"/>
              </a:defRPr>
            </a:pPr>
            <a:r>
              <a:rPr sz="1875" b="0">
                <a:solidFill>
                  <a:srgbClr val="547078"/>
                </a:solidFill>
                <a:latin typeface="Arial"/>
                <a:ea typeface="Arial"/>
                <a:cs typeface="Arial"/>
              </a:rPr>
              <a:t>Les opérations et la dépose / repose viennent du code métier.</a:t>
            </a:r>
          </a:p>
        </p:txBody>
      </p:sp>
      <p:sp>
        <p:nvSpPr>
          <p:cNvPr id="12" name="">
            <a:extLst xmlns:a="http://schemas.openxmlformats.org/drawingml/2006/main">
              <a:ext uri="{FF2B5EF4-FFF2-40B4-BE49-F238E27FC236}">
                <a16:creationId xmlns:a16="http://schemas.microsoft.com/office/drawing/2014/main" id="{14A9B9E9-62E4-4237-AC2C-EB440953CEEC}"/>
              </a:ext>
            </a:extLst>
          </p:cNvPr>
          <p:cNvSpPr>
            <a:spLocks xmlns:a="http://schemas.openxmlformats.org/drawingml/2006/main" noGrp="1"/>
          </p:cNvSpPr>
          <p:nvPr/>
        </p:nvSpPr>
        <p:spPr>
          <a:xfrm xmlns:a="http://schemas.openxmlformats.org/drawingml/2006/main">
            <a:off x="609600" y="4667250"/>
            <a:ext cx="666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925" b="1">
                <a:solidFill>
                  <a:srgbClr val="007F75"/>
                </a:solidFill>
                <a:latin typeface="Arial"/>
                <a:ea typeface="Arial"/>
                <a:cs typeface="Arial"/>
              </a:defRPr>
            </a:pPr>
            <a:r>
              <a:rPr sz="2925" b="1">
                <a:solidFill>
                  <a:srgbClr val="007F75"/>
                </a:solidFill>
                <a:latin typeface="Arial"/>
                <a:ea typeface="Arial"/>
                <a:cs typeface="Arial"/>
              </a:rPr>
              <a:t>04</a:t>
            </a:r>
          </a:p>
        </p:txBody>
      </p:sp>
      <p:sp>
        <p:nvSpPr>
          <p:cNvPr id="13" name="">
            <a:extLst xmlns:a="http://schemas.openxmlformats.org/drawingml/2006/main">
              <a:ext uri="{FF2B5EF4-FFF2-40B4-BE49-F238E27FC236}">
                <a16:creationId xmlns:a16="http://schemas.microsoft.com/office/drawing/2014/main" id="{55C9C11F-4FE3-4733-AC8B-E6C178E5A9EE}"/>
              </a:ext>
            </a:extLst>
          </p:cNvPr>
          <p:cNvSpPr>
            <a:spLocks xmlns:a="http://schemas.openxmlformats.org/drawingml/2006/main" noGrp="1"/>
          </p:cNvSpPr>
          <p:nvPr/>
        </p:nvSpPr>
        <p:spPr>
          <a:xfrm xmlns:a="http://schemas.openxmlformats.org/drawingml/2006/main">
            <a:off x="1466850" y="4667250"/>
            <a:ext cx="42862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1">
                <a:solidFill>
                  <a:srgbClr val="102C36"/>
                </a:solidFill>
                <a:latin typeface="Arial"/>
                <a:ea typeface="Arial"/>
                <a:cs typeface="Arial"/>
              </a:defRPr>
            </a:pPr>
            <a:r>
              <a:rPr sz="2175" b="1">
                <a:solidFill>
                  <a:srgbClr val="102C36"/>
                </a:solidFill>
                <a:latin typeface="Arial"/>
                <a:ea typeface="Arial"/>
                <a:cs typeface="Arial"/>
              </a:rPr>
              <a:t>Visualisation et analyse</a:t>
            </a:r>
          </a:p>
        </p:txBody>
      </p:sp>
      <p:sp>
        <p:nvSpPr>
          <p:cNvPr id="14" name="">
            <a:extLst xmlns:a="http://schemas.openxmlformats.org/drawingml/2006/main">
              <a:ext uri="{FF2B5EF4-FFF2-40B4-BE49-F238E27FC236}">
                <a16:creationId xmlns:a16="http://schemas.microsoft.com/office/drawing/2014/main" id="{B0697E6F-1CD9-41D3-AA7C-CD67BA9365FB}"/>
              </a:ext>
            </a:extLst>
          </p:cNvPr>
          <p:cNvSpPr>
            <a:spLocks xmlns:a="http://schemas.openxmlformats.org/drawingml/2006/main" noGrp="1"/>
          </p:cNvSpPr>
          <p:nvPr/>
        </p:nvSpPr>
        <p:spPr>
          <a:xfrm xmlns:a="http://schemas.openxmlformats.org/drawingml/2006/main">
            <a:off x="1466850" y="5124450"/>
            <a:ext cx="96202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547078"/>
                </a:solidFill>
                <a:latin typeface="Arial"/>
                <a:ea typeface="Arial"/>
                <a:cs typeface="Arial"/>
              </a:defRPr>
            </a:pPr>
            <a:r>
              <a:rPr sz="1875" b="0">
                <a:solidFill>
                  <a:srgbClr val="547078"/>
                </a:solidFill>
                <a:latin typeface="Arial"/>
                <a:ea typeface="Arial"/>
                <a:cs typeface="Arial"/>
              </a:rPr>
              <a:t>Le même résultat alimente la fiche véhicule et les agrégats.</a:t>
            </a:r>
          </a:p>
        </p:txBody>
      </p:sp>
      <p:sp>
        <p:nvSpPr>
          <p:cNvPr id="15" name="">
            <a:extLst xmlns:a="http://schemas.openxmlformats.org/drawingml/2006/main">
              <a:ext uri="{FF2B5EF4-FFF2-40B4-BE49-F238E27FC236}">
                <a16:creationId xmlns:a16="http://schemas.microsoft.com/office/drawing/2014/main" id="{D9BE8FF7-76ED-4858-92BF-9A111C2B89FE}"/>
              </a:ext>
            </a:extLst>
          </p:cNvPr>
          <p:cNvSpPr>
            <a:spLocks xmlns:a="http://schemas.openxmlformats.org/drawingml/2006/main" noGrp="1"/>
          </p:cNvSpPr>
          <p:nvPr/>
        </p:nvSpPr>
        <p:spPr>
          <a:xfrm xmlns:a="http://schemas.openxmlformats.org/drawingml/2006/main">
            <a:off x="609600" y="6000750"/>
            <a:ext cx="10668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0">
                <a:solidFill>
                  <a:srgbClr val="007F75"/>
                </a:solidFill>
                <a:latin typeface="Arial"/>
                <a:ea typeface="Arial"/>
                <a:cs typeface="Arial"/>
              </a:defRPr>
            </a:pPr>
            <a:r>
              <a:rPr sz="1650" b="0">
                <a:solidFill>
                  <a:srgbClr val="007F75"/>
                </a:solidFill>
                <a:latin typeface="Arial"/>
                <a:ea typeface="Arial"/>
                <a:cs typeface="Arial"/>
              </a:rPr>
              <a:t>Statuts : champs structurés existants. Cache par dossier et reprise sur erreur.</a:t>
            </a:r>
          </a:p>
        </p:txBody>
      </p:sp>
    </p:spTree>
    <p:extLst>
      <p:ext uri="{BB962C8B-B14F-4D97-AF65-F5344CB8AC3E}">
        <p14:creationId xmlns:p14="http://schemas.microsoft.com/office/powerpoint/2010/main" val="2087904956"/>
      </p:ext>
    </p:extLst>
  </p:cSld>
</p:sld>
</file>

<file path=ppt/slides/slide3.xml><?xml version="1.0" encoding="utf-8"?>
<p:sld xmlns:p="http://schemas.openxmlformats.org/presentationml/2006/main">
  <p:cSld>
    <p:bg>
      <p:bgPr>
        <a:solidFill xmlns:a="http://schemas.openxmlformats.org/drawingml/2006/main">
          <a:srgbClr val="F5F4E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59343C8F-C72F-4E26-98A3-29E9CF0EEE4A}"/>
              </a:ext>
            </a:extLst>
          </p:cNvPr>
          <p:cNvSpPr>
            <a:spLocks xmlns:a="http://schemas.openxmlformats.org/drawingml/2006/main" noGrp="1"/>
          </p:cNvSpPr>
          <p:nvPr/>
        </p:nvSpPr>
        <p:spPr>
          <a:xfrm xmlns:a="http://schemas.openxmlformats.org/drawingml/2006/main">
            <a:off x="609600" y="409575"/>
            <a:ext cx="109537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225" b="1">
                <a:solidFill>
                  <a:srgbClr val="102C36"/>
                </a:solidFill>
                <a:latin typeface="Arial"/>
                <a:ea typeface="Arial"/>
                <a:cs typeface="Arial"/>
              </a:defRPr>
            </a:pPr>
            <a:r>
              <a:rPr sz="3225" b="1">
                <a:solidFill>
                  <a:srgbClr val="102C36"/>
                </a:solidFill>
                <a:latin typeface="Arial"/>
                <a:ea typeface="Arial"/>
                <a:cs typeface="Arial"/>
              </a:rPr>
              <a:t>Un dommage, sa preuve et ses opérations</a:t>
            </a:r>
          </a:p>
        </p:txBody>
      </p:sp>
      <p:sp>
        <p:nvSpPr>
          <p:cNvPr id="2" name="">
            <a:extLst xmlns:a="http://schemas.openxmlformats.org/drawingml/2006/main">
              <a:ext uri="{FF2B5EF4-FFF2-40B4-BE49-F238E27FC236}">
                <a16:creationId xmlns:a16="http://schemas.microsoft.com/office/drawing/2014/main" id="{9C7512A1-E156-4F74-A433-F181D6C45214}"/>
              </a:ext>
            </a:extLst>
          </p:cNvPr>
          <p:cNvSpPr>
            <a:spLocks xmlns:a="http://schemas.openxmlformats.org/drawingml/2006/main" noGrp="1"/>
          </p:cNvSpPr>
          <p:nvPr/>
        </p:nvSpPr>
        <p:spPr>
          <a:xfrm xmlns:a="http://schemas.openxmlformats.org/drawingml/2006/main">
            <a:off x="11144250" y="6324600"/>
            <a:ext cx="476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547078"/>
                </a:solidFill>
                <a:latin typeface="Arial"/>
                <a:ea typeface="Arial"/>
                <a:cs typeface="Arial"/>
              </a:defRPr>
            </a:pPr>
            <a:r>
              <a:rPr sz="1350" b="0">
                <a:solidFill>
                  <a:srgbClr val="547078"/>
                </a:solidFill>
                <a:latin typeface="Arial"/>
                <a:ea typeface="Arial"/>
                <a:cs typeface="Arial"/>
              </a:rPr>
              <a:t>03</a:t>
            </a:r>
          </a:p>
        </p:txBody>
      </p:sp>
      <p:pic>
        <p:nvPicPr>
          <p:cNvPr id="13" name=""/>
          <p:cNvPicPr>
            <a:picLocks xmlns:a="http://schemas.openxmlformats.org/drawingml/2006/main" noChangeAspect="1"/>
          </p:cNvPicPr>
          <p:nvPr/>
        </p:nvPicPr>
        <p:blipFill>
          <a:blip xmlns:r="http://schemas.openxmlformats.org/officeDocument/2006/relationships" xmlns:a="http://schemas.openxmlformats.org/drawingml/2006/main" r:embed="Reefc1f0573744b84"/>
          <a:stretch xmlns:a="http://schemas.openxmlformats.org/drawingml/2006/main"/>
        </p:blipFill>
        <p:spPr>
          <a:xfrm xmlns:a="http://schemas.openxmlformats.org/drawingml/2006/main">
            <a:off x="803659" y="1495425"/>
            <a:ext cx="3279006" cy="4267200"/>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7F8B9516-A0A7-48AF-AA02-72325DBFF296}"/>
              </a:ext>
            </a:extLst>
          </p:cNvPr>
          <p:cNvSpPr>
            <a:spLocks xmlns:a="http://schemas.openxmlformats.org/drawingml/2006/main" noGrp="1"/>
          </p:cNvSpPr>
          <p:nvPr/>
        </p:nvSpPr>
        <p:spPr>
          <a:xfrm xmlns:a="http://schemas.openxmlformats.org/drawingml/2006/main">
            <a:off x="4752975" y="1438275"/>
            <a:ext cx="6762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547078"/>
                </a:solidFill>
                <a:latin typeface="Arial"/>
                <a:ea typeface="Arial"/>
                <a:cs typeface="Arial"/>
              </a:defRPr>
            </a:pPr>
            <a:r>
              <a:rPr sz="1800" b="0">
                <a:solidFill>
                  <a:srgbClr val="547078"/>
                </a:solidFill>
                <a:latin typeface="Arial"/>
                <a:ea typeface="Arial"/>
                <a:cs typeface="Arial"/>
              </a:rPr>
              <a:t>Dossier 820002 · Extrait original</a:t>
            </a:r>
          </a:p>
        </p:txBody>
      </p:sp>
      <p:sp>
        <p:nvSpPr>
          <p:cNvPr id="5" name="">
            <a:extLst xmlns:a="http://schemas.openxmlformats.org/drawingml/2006/main">
              <a:ext uri="{FF2B5EF4-FFF2-40B4-BE49-F238E27FC236}">
                <a16:creationId xmlns:a16="http://schemas.microsoft.com/office/drawing/2014/main" id="{A8E82463-8164-459A-A467-8190536EA681}"/>
              </a:ext>
            </a:extLst>
          </p:cNvPr>
          <p:cNvSpPr>
            <a:spLocks xmlns:a="http://schemas.openxmlformats.org/drawingml/2006/main" noGrp="1"/>
          </p:cNvSpPr>
          <p:nvPr/>
        </p:nvSpPr>
        <p:spPr>
          <a:xfrm xmlns:a="http://schemas.openxmlformats.org/drawingml/2006/main">
            <a:off x="4752975" y="1952625"/>
            <a:ext cx="6619875" cy="1409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325" b="1">
                <a:solidFill>
                  <a:srgbClr val="102C36"/>
                </a:solidFill>
                <a:latin typeface="Arial"/>
                <a:ea typeface="Arial"/>
                <a:cs typeface="Arial"/>
              </a:defRPr>
            </a:pPr>
            <a:r>
              <a:rPr sz="2325" b="1">
                <a:solidFill>
                  <a:srgbClr val="102C36"/>
                </a:solidFill>
                <a:latin typeface="Arial"/>
                <a:ea typeface="Arial"/>
                <a:cs typeface="Arial"/>
              </a:rPr>
              <a:t>« Steinschlag Windschutzscheibe im Sichtfeld Fahrer, Reparatur nicht möglich, Austausch nötig. »</a:t>
            </a:r>
          </a:p>
        </p:txBody>
      </p:sp>
      <p:sp>
        <p:nvSpPr>
          <p:cNvPr id="6" name="">
            <a:extLst xmlns:a="http://schemas.openxmlformats.org/drawingml/2006/main">
              <a:ext uri="{FF2B5EF4-FFF2-40B4-BE49-F238E27FC236}">
                <a16:creationId xmlns:a16="http://schemas.microsoft.com/office/drawing/2014/main" id="{2D7890BD-BBDB-44A7-9228-E205246E8691}"/>
              </a:ext>
            </a:extLst>
          </p:cNvPr>
          <p:cNvSpPr>
            <a:spLocks xmlns:a="http://schemas.openxmlformats.org/drawingml/2006/main" noGrp="1"/>
          </p:cNvSpPr>
          <p:nvPr/>
        </p:nvSpPr>
        <p:spPr>
          <a:xfrm xmlns:a="http://schemas.openxmlformats.org/drawingml/2006/main">
            <a:off x="4752975" y="3714750"/>
            <a:ext cx="66675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1">
                <a:solidFill>
                  <a:srgbClr val="D7562C"/>
                </a:solidFill>
                <a:latin typeface="Arial"/>
                <a:ea typeface="Arial"/>
                <a:cs typeface="Arial"/>
              </a:defRPr>
            </a:pPr>
            <a:r>
              <a:rPr sz="2250" b="1">
                <a:solidFill>
                  <a:srgbClr val="D7562C"/>
                </a:solidFill>
                <a:latin typeface="Arial"/>
                <a:ea typeface="Arial"/>
                <a:cs typeface="Arial"/>
              </a:rPr>
              <a:t>Pare-brise : remplacement</a:t>
            </a:r>
          </a:p>
        </p:txBody>
      </p:sp>
      <p:sp>
        <p:nvSpPr>
          <p:cNvPr id="7" name="">
            <a:extLst xmlns:a="http://schemas.openxmlformats.org/drawingml/2006/main">
              <a:ext uri="{FF2B5EF4-FFF2-40B4-BE49-F238E27FC236}">
                <a16:creationId xmlns:a16="http://schemas.microsoft.com/office/drawing/2014/main" id="{7E7D4C20-20CD-4F28-8EE6-FE33C8EEEBD3}"/>
              </a:ext>
            </a:extLst>
          </p:cNvPr>
          <p:cNvSpPr>
            <a:spLocks xmlns:a="http://schemas.openxmlformats.org/drawingml/2006/main" noGrp="1"/>
          </p:cNvSpPr>
          <p:nvPr/>
        </p:nvSpPr>
        <p:spPr>
          <a:xfrm xmlns:a="http://schemas.openxmlformats.org/drawingml/2006/main">
            <a:off x="4752975" y="4181475"/>
            <a:ext cx="6667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0">
                <a:solidFill>
                  <a:srgbClr val="547078"/>
                </a:solidFill>
                <a:latin typeface="Arial"/>
                <a:ea typeface="Arial"/>
                <a:cs typeface="Arial"/>
              </a:defRPr>
            </a:pPr>
            <a:r>
              <a:rPr sz="1725" b="0">
                <a:solidFill>
                  <a:srgbClr val="547078"/>
                </a:solidFill>
                <a:latin typeface="Arial"/>
                <a:ea typeface="Arial"/>
                <a:cs typeface="Arial"/>
              </a:rPr>
              <a:t>Action explicitement mentionnée dans la note</a:t>
            </a:r>
          </a:p>
        </p:txBody>
      </p:sp>
      <p:sp>
        <p:nvSpPr>
          <p:cNvPr id="8" name="">
            <a:extLst xmlns:a="http://schemas.openxmlformats.org/drawingml/2006/main">
              <a:ext uri="{FF2B5EF4-FFF2-40B4-BE49-F238E27FC236}">
                <a16:creationId xmlns:a16="http://schemas.microsoft.com/office/drawing/2014/main" id="{EA8B30F0-31F1-46E0-AE5C-E3104BBCFA2D}"/>
              </a:ext>
            </a:extLst>
          </p:cNvPr>
          <p:cNvSpPr>
            <a:spLocks xmlns:a="http://schemas.openxmlformats.org/drawingml/2006/main" noGrp="1"/>
          </p:cNvSpPr>
          <p:nvPr/>
        </p:nvSpPr>
        <p:spPr>
          <a:xfrm xmlns:a="http://schemas.openxmlformats.org/drawingml/2006/main">
            <a:off x="4752975" y="4810125"/>
            <a:ext cx="66675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1">
                <a:solidFill>
                  <a:srgbClr val="007F75"/>
                </a:solidFill>
                <a:latin typeface="Arial"/>
                <a:ea typeface="Arial"/>
                <a:cs typeface="Arial"/>
              </a:defRPr>
            </a:pPr>
            <a:r>
              <a:rPr sz="2250" b="1">
                <a:solidFill>
                  <a:srgbClr val="007F75"/>
                </a:solidFill>
                <a:latin typeface="Arial"/>
                <a:ea typeface="Arial"/>
                <a:cs typeface="Arial"/>
              </a:rPr>
              <a:t>Garniture : dépose / repose</a:t>
            </a:r>
          </a:p>
        </p:txBody>
      </p:sp>
      <p:sp>
        <p:nvSpPr>
          <p:cNvPr id="9" name="">
            <a:extLst xmlns:a="http://schemas.openxmlformats.org/drawingml/2006/main">
              <a:ext uri="{FF2B5EF4-FFF2-40B4-BE49-F238E27FC236}">
                <a16:creationId xmlns:a16="http://schemas.microsoft.com/office/drawing/2014/main" id="{D4D9FFF9-F3B1-4C6B-B46F-9707F7DA2075}"/>
              </a:ext>
            </a:extLst>
          </p:cNvPr>
          <p:cNvSpPr>
            <a:spLocks xmlns:a="http://schemas.openxmlformats.org/drawingml/2006/main" noGrp="1"/>
          </p:cNvSpPr>
          <p:nvPr/>
        </p:nvSpPr>
        <p:spPr>
          <a:xfrm xmlns:a="http://schemas.openxmlformats.org/drawingml/2006/main">
            <a:off x="4752975" y="5276850"/>
            <a:ext cx="6667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0">
                <a:solidFill>
                  <a:srgbClr val="547078"/>
                </a:solidFill>
                <a:latin typeface="Arial"/>
                <a:ea typeface="Arial"/>
                <a:cs typeface="Arial"/>
              </a:defRPr>
            </a:pPr>
            <a:r>
              <a:rPr sz="1725" b="0">
                <a:solidFill>
                  <a:srgbClr val="547078"/>
                </a:solidFill>
                <a:latin typeface="Arial"/>
                <a:ea typeface="Arial"/>
                <a:cs typeface="Arial"/>
              </a:rPr>
              <a:t>Opération issue de la table de dépendances</a:t>
            </a:r>
          </a:p>
        </p:txBody>
      </p:sp>
      <p:sp>
        <p:nvSpPr>
          <p:cNvPr id="10" name="">
            <a:extLst xmlns:a="http://schemas.openxmlformats.org/drawingml/2006/main">
              <a:ext uri="{FF2B5EF4-FFF2-40B4-BE49-F238E27FC236}">
                <a16:creationId xmlns:a16="http://schemas.microsoft.com/office/drawing/2014/main" id="{FF9E7BB0-FA91-4AED-9E53-92FB47A31E2D}"/>
              </a:ext>
            </a:extLst>
          </p:cNvPr>
          <p:cNvSpPr>
            <a:spLocks xmlns:a="http://schemas.openxmlformats.org/drawingml/2006/main" noGrp="1"/>
          </p:cNvSpPr>
          <p:nvPr/>
        </p:nvSpPr>
        <p:spPr>
          <a:xfrm xmlns:a="http://schemas.openxmlformats.org/drawingml/2006/main">
            <a:off x="609600" y="6000750"/>
            <a:ext cx="107632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75" b="0">
                <a:solidFill>
                  <a:srgbClr val="547078"/>
                </a:solidFill>
                <a:latin typeface="Arial"/>
                <a:ea typeface="Arial"/>
                <a:cs typeface="Arial"/>
              </a:defRPr>
            </a:pPr>
            <a:r>
              <a:rPr sz="1575" b="0">
                <a:solidFill>
                  <a:srgbClr val="547078"/>
                </a:solidFill>
                <a:latin typeface="Arial"/>
                <a:ea typeface="Arial"/>
                <a:cs typeface="Arial"/>
              </a:rPr>
              <a:t>Capture du prototype. Les couleurs distinguent dommage et dépose / repose.</a:t>
            </a:r>
          </a:p>
        </p:txBody>
      </p:sp>
    </p:spTree>
    <p:extLst>
      <p:ext uri="{BB962C8B-B14F-4D97-AF65-F5344CB8AC3E}">
        <p14:creationId xmlns:p14="http://schemas.microsoft.com/office/powerpoint/2010/main" val="854725429"/>
      </p:ext>
    </p:extLst>
  </p:cSld>
</p:sld>
</file>

<file path=ppt/slides/slide4.xml><?xml version="1.0" encoding="utf-8"?>
<p:sld xmlns:p="http://schemas.openxmlformats.org/presentationml/2006/main">
  <p:cSld>
    <p:bg>
      <p:bgPr>
        <a:solidFill xmlns:a="http://schemas.openxmlformats.org/drawingml/2006/main">
          <a:srgbClr val="F5F4EF"/>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513CDD1D-DFF0-4CDA-B318-74930B76E136}"/>
              </a:ext>
            </a:extLst>
          </p:cNvPr>
          <p:cNvSpPr>
            <a:spLocks xmlns:a="http://schemas.openxmlformats.org/drawingml/2006/main" noGrp="1"/>
          </p:cNvSpPr>
          <p:nvPr/>
        </p:nvSpPr>
        <p:spPr>
          <a:xfrm xmlns:a="http://schemas.openxmlformats.org/drawingml/2006/main">
            <a:off x="609600" y="409575"/>
            <a:ext cx="109537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225" b="1">
                <a:solidFill>
                  <a:srgbClr val="102C36"/>
                </a:solidFill>
                <a:latin typeface="Arial"/>
                <a:ea typeface="Arial"/>
                <a:cs typeface="Arial"/>
              </a:defRPr>
            </a:pPr>
            <a:r>
              <a:rPr sz="3225" b="1">
                <a:solidFill>
                  <a:srgbClr val="102C36"/>
                </a:solidFill>
                <a:latin typeface="Arial"/>
                <a:ea typeface="Arial"/>
                <a:cs typeface="Arial"/>
              </a:rPr>
              <a:t>Les premiers constats sur le corpus</a:t>
            </a:r>
          </a:p>
        </p:txBody>
      </p:sp>
      <p:sp>
        <p:nvSpPr>
          <p:cNvPr id="2" name="">
            <a:extLst xmlns:a="http://schemas.openxmlformats.org/drawingml/2006/main">
              <a:ext uri="{FF2B5EF4-FFF2-40B4-BE49-F238E27FC236}">
                <a16:creationId xmlns:a16="http://schemas.microsoft.com/office/drawing/2014/main" id="{A85C8F2D-C6E1-4DC9-9E03-CFF45966A424}"/>
              </a:ext>
            </a:extLst>
          </p:cNvPr>
          <p:cNvSpPr>
            <a:spLocks xmlns:a="http://schemas.openxmlformats.org/drawingml/2006/main" noGrp="1"/>
          </p:cNvSpPr>
          <p:nvPr/>
        </p:nvSpPr>
        <p:spPr>
          <a:xfrm xmlns:a="http://schemas.openxmlformats.org/drawingml/2006/main">
            <a:off x="11144250" y="6324600"/>
            <a:ext cx="476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547078"/>
                </a:solidFill>
                <a:latin typeface="Arial"/>
                <a:ea typeface="Arial"/>
                <a:cs typeface="Arial"/>
              </a:defRPr>
            </a:pPr>
            <a:r>
              <a:rPr sz="1350" b="0">
                <a:solidFill>
                  <a:srgbClr val="547078"/>
                </a:solidFill>
                <a:latin typeface="Arial"/>
                <a:ea typeface="Arial"/>
                <a:cs typeface="Arial"/>
              </a:rPr>
              <a:t>04</a:t>
            </a:r>
          </a:p>
        </p:txBody>
      </p:sp>
      <p:sp>
        <p:nvSpPr>
          <p:cNvPr id="3" name="">
            <a:extLst xmlns:a="http://schemas.openxmlformats.org/drawingml/2006/main">
              <a:ext uri="{FF2B5EF4-FFF2-40B4-BE49-F238E27FC236}">
                <a16:creationId xmlns:a16="http://schemas.microsoft.com/office/drawing/2014/main" id="{8AB64388-7E9E-4D82-BB03-4D42E09F0299}"/>
              </a:ext>
            </a:extLst>
          </p:cNvPr>
          <p:cNvSpPr>
            <a:spLocks xmlns:a="http://schemas.openxmlformats.org/drawingml/2006/main" noGrp="1"/>
          </p:cNvSpPr>
          <p:nvPr/>
        </p:nvSpPr>
        <p:spPr>
          <a:xfrm xmlns:a="http://schemas.openxmlformats.org/drawingml/2006/main">
            <a:off x="609600" y="1390650"/>
            <a:ext cx="6715125"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1">
                <a:solidFill>
                  <a:srgbClr val="102C36"/>
                </a:solidFill>
                <a:latin typeface="Arial"/>
                <a:ea typeface="Arial"/>
                <a:cs typeface="Arial"/>
              </a:defRPr>
            </a:pPr>
            <a:r>
              <a:rPr sz="1950" b="1">
                <a:solidFill>
                  <a:srgbClr val="102C36"/>
                </a:solidFill>
                <a:latin typeface="Arial"/>
                <a:ea typeface="Arial"/>
                <a:cs typeface="Arial"/>
              </a:rPr>
              <a:t>Types de dommages · 450 dossiers</a:t>
            </a:r>
          </a:p>
        </p:txBody>
      </p:sp>
      <p:graphicFrame>
        <p:nvGraphicFramePr>
          <p:cNvPr id="13" name="Chart"/>
          <p:cNvGraphicFramePr/>
          <p:nvPr/>
        </p:nvGraphicFramePr>
        <p:xfrm>
          <a:off xmlns:a="http://schemas.openxmlformats.org/drawingml/2006/main" x="552450" y="1990725"/>
          <a:ext xmlns:a="http://schemas.openxmlformats.org/drawingml/2006/main" cx="6858000" cy="3705225"/>
        </p:xfrm>
        <a:graphic xmlns:a="http://schemas.openxmlformats.org/drawingml/2006/main">
          <a:graphicData uri="http://schemas.openxmlformats.org/drawingml/2006/chart">
            <c:chart xmlns:r="http://schemas.openxmlformats.org/officeDocument/2006/relationships" xmlns:c="http://schemas.openxmlformats.org/drawingml/2006/chart" r:id="Rd9d7ee664a4f4304"/>
          </a:graphicData>
        </a:graphic>
      </p:graphicFrame>
      <p:sp>
        <p:nvSpPr>
          <p:cNvPr id="5" name="">
            <a:extLst xmlns:a="http://schemas.openxmlformats.org/drawingml/2006/main">
              <a:ext uri="{FF2B5EF4-FFF2-40B4-BE49-F238E27FC236}">
                <a16:creationId xmlns:a16="http://schemas.microsoft.com/office/drawing/2014/main" id="{EBEAD060-EE55-4496-B13D-FADDFCC87683}"/>
              </a:ext>
            </a:extLst>
          </p:cNvPr>
          <p:cNvSpPr>
            <a:spLocks xmlns:a="http://schemas.openxmlformats.org/drawingml/2006/main" noGrp="1"/>
          </p:cNvSpPr>
          <p:nvPr/>
        </p:nvSpPr>
        <p:spPr>
          <a:xfrm xmlns:a="http://schemas.openxmlformats.org/drawingml/2006/main">
            <a:off x="7924800" y="1952625"/>
            <a:ext cx="3333750"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4500" b="1">
                <a:solidFill>
                  <a:srgbClr val="007F75"/>
                </a:solidFill>
                <a:latin typeface="Arial"/>
                <a:ea typeface="Arial"/>
                <a:cs typeface="Arial"/>
              </a:defRPr>
            </a:pPr>
            <a:r>
              <a:rPr sz="4500" b="1">
                <a:solidFill>
                  <a:srgbClr val="007F75"/>
                </a:solidFill>
                <a:latin typeface="Arial"/>
                <a:ea typeface="Arial"/>
                <a:cs typeface="Arial"/>
              </a:rPr>
              <a:t>41,3 %</a:t>
            </a:r>
          </a:p>
        </p:txBody>
      </p:sp>
      <p:sp>
        <p:nvSpPr>
          <p:cNvPr id="6" name="">
            <a:extLst xmlns:a="http://schemas.openxmlformats.org/drawingml/2006/main">
              <a:ext uri="{FF2B5EF4-FFF2-40B4-BE49-F238E27FC236}">
                <a16:creationId xmlns:a16="http://schemas.microsoft.com/office/drawing/2014/main" id="{F8993B5B-F894-4BB0-95EE-611233AB2433}"/>
              </a:ext>
            </a:extLst>
          </p:cNvPr>
          <p:cNvSpPr>
            <a:spLocks xmlns:a="http://schemas.openxmlformats.org/drawingml/2006/main" noGrp="1"/>
          </p:cNvSpPr>
          <p:nvPr/>
        </p:nvSpPr>
        <p:spPr>
          <a:xfrm xmlns:a="http://schemas.openxmlformats.org/drawingml/2006/main">
            <a:off x="7924800" y="2809875"/>
            <a:ext cx="3409950" cy="1085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102C36"/>
                </a:solidFill>
                <a:latin typeface="Arial"/>
                <a:ea typeface="Arial"/>
                <a:cs typeface="Arial"/>
              </a:defRPr>
            </a:pPr>
            <a:r>
              <a:rPr sz="1875" b="0">
                <a:solidFill>
                  <a:srgbClr val="102C36"/>
                </a:solidFill>
                <a:latin typeface="Arial"/>
                <a:ea typeface="Arial"/>
                <a:cs typeface="Arial"/>
              </a:rPr>
              <a:t>des dommages concernent</a:t>
            </a:r>
          </a:p>
          <a:p xmlns:a="http://schemas.openxmlformats.org/drawingml/2006/main">
            <a:pPr>
              <a:defRPr sz="1875" b="0">
                <a:solidFill>
                  <a:srgbClr val="102C36"/>
                </a:solidFill>
                <a:latin typeface="Arial"/>
                <a:ea typeface="Arial"/>
                <a:cs typeface="Arial"/>
              </a:defRPr>
            </a:pPr>
            <a:r>
              <a:rPr sz="1875" b="0">
                <a:solidFill>
                  <a:srgbClr val="102C36"/>
                </a:solidFill>
                <a:latin typeface="Arial"/>
                <a:ea typeface="Arial"/>
                <a:cs typeface="Arial"/>
              </a:rPr>
              <a:t>stationnement ou manœuvre</a:t>
            </a:r>
          </a:p>
          <a:p xmlns:a="http://schemas.openxmlformats.org/drawingml/2006/main">
            <a:pPr>
              <a:defRPr sz="1875" b="0">
                <a:solidFill>
                  <a:srgbClr val="102C36"/>
                </a:solidFill>
                <a:latin typeface="Arial"/>
                <a:ea typeface="Arial"/>
                <a:cs typeface="Arial"/>
              </a:defRPr>
            </a:pPr>
            <a:r>
              <a:rPr sz="1875" b="0">
                <a:solidFill>
                  <a:srgbClr val="102C36"/>
                </a:solidFill>
                <a:latin typeface="Arial"/>
                <a:ea typeface="Arial"/>
                <a:cs typeface="Arial"/>
              </a:rPr>
              <a:t>(186 dossiers sur 450)</a:t>
            </a:r>
          </a:p>
        </p:txBody>
      </p:sp>
      <p:sp>
        <p:nvSpPr>
          <p:cNvPr id="7" name="">
            <a:extLst xmlns:a="http://schemas.openxmlformats.org/drawingml/2006/main">
              <a:ext uri="{FF2B5EF4-FFF2-40B4-BE49-F238E27FC236}">
                <a16:creationId xmlns:a16="http://schemas.microsoft.com/office/drawing/2014/main" id="{D456A6E0-94FF-46F8-9EF9-B1DD68D4F433}"/>
              </a:ext>
            </a:extLst>
          </p:cNvPr>
          <p:cNvSpPr>
            <a:spLocks xmlns:a="http://schemas.openxmlformats.org/drawingml/2006/main" noGrp="1"/>
          </p:cNvSpPr>
          <p:nvPr/>
        </p:nvSpPr>
        <p:spPr>
          <a:xfrm xmlns:a="http://schemas.openxmlformats.org/drawingml/2006/main">
            <a:off x="7924800" y="4333875"/>
            <a:ext cx="35242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325" b="1">
                <a:solidFill>
                  <a:srgbClr val="102C36"/>
                </a:solidFill>
                <a:latin typeface="Arial"/>
                <a:ea typeface="Arial"/>
                <a:cs typeface="Arial"/>
              </a:defRPr>
            </a:pPr>
            <a:r>
              <a:rPr sz="2325" b="1">
                <a:solidFill>
                  <a:srgbClr val="102C36"/>
                </a:solidFill>
                <a:latin typeface="Arial"/>
                <a:ea typeface="Arial"/>
                <a:cs typeface="Arial"/>
              </a:rPr>
              <a:t>668 dossiers ouverts</a:t>
            </a:r>
          </a:p>
        </p:txBody>
      </p:sp>
      <p:sp>
        <p:nvSpPr>
          <p:cNvPr id="8" name="">
            <a:extLst xmlns:a="http://schemas.openxmlformats.org/drawingml/2006/main">
              <a:ext uri="{FF2B5EF4-FFF2-40B4-BE49-F238E27FC236}">
                <a16:creationId xmlns:a16="http://schemas.microsoft.com/office/drawing/2014/main" id="{2AE3D056-AFD2-4B1F-A634-CA2CC5EDF2F2}"/>
              </a:ext>
            </a:extLst>
          </p:cNvPr>
          <p:cNvSpPr>
            <a:spLocks xmlns:a="http://schemas.openxmlformats.org/drawingml/2006/main" noGrp="1"/>
          </p:cNvSpPr>
          <p:nvPr/>
        </p:nvSpPr>
        <p:spPr>
          <a:xfrm xmlns:a="http://schemas.openxmlformats.org/drawingml/2006/main">
            <a:off x="7924800" y="4933950"/>
            <a:ext cx="340995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547078"/>
                </a:solidFill>
                <a:latin typeface="Arial"/>
                <a:ea typeface="Arial"/>
                <a:cs typeface="Arial"/>
              </a:defRPr>
            </a:pPr>
            <a:r>
              <a:rPr sz="1800" b="0">
                <a:solidFill>
                  <a:srgbClr val="547078"/>
                </a:solidFill>
                <a:latin typeface="Arial"/>
                <a:ea typeface="Arial"/>
                <a:cs typeface="Arial"/>
              </a:rPr>
              <a:t>Ancienneté médiane : 150 jours</a:t>
            </a:r>
          </a:p>
          <a:p xmlns:a="http://schemas.openxmlformats.org/drawingml/2006/main">
            <a:pPr>
              <a:defRPr sz="1800" b="0">
                <a:solidFill>
                  <a:srgbClr val="547078"/>
                </a:solidFill>
                <a:latin typeface="Arial"/>
                <a:ea typeface="Arial"/>
                <a:cs typeface="Arial"/>
              </a:defRPr>
            </a:pPr>
            <a:r>
              <a:rPr sz="1800" b="0">
                <a:solidFill>
                  <a:srgbClr val="547078"/>
                </a:solidFill>
                <a:latin typeface="Arial"/>
                <a:ea typeface="Arial"/>
                <a:cs typeface="Arial"/>
              </a:rPr>
              <a:t>Une file à examiner avec l’atelier</a:t>
            </a:r>
          </a:p>
        </p:txBody>
      </p:sp>
      <p:sp>
        <p:nvSpPr>
          <p:cNvPr id="9" name="">
            <a:extLst xmlns:a="http://schemas.openxmlformats.org/drawingml/2006/main">
              <a:ext uri="{FF2B5EF4-FFF2-40B4-BE49-F238E27FC236}">
                <a16:creationId xmlns:a16="http://schemas.microsoft.com/office/drawing/2014/main" id="{9D437113-C8BC-46D9-90CA-275F57FD0849}"/>
              </a:ext>
            </a:extLst>
          </p:cNvPr>
          <p:cNvSpPr>
            <a:spLocks xmlns:a="http://schemas.openxmlformats.org/drawingml/2006/main" noGrp="1"/>
          </p:cNvSpPr>
          <p:nvPr/>
        </p:nvSpPr>
        <p:spPr>
          <a:xfrm xmlns:a="http://schemas.openxmlformats.org/drawingml/2006/main">
            <a:off x="609600" y="6000750"/>
            <a:ext cx="1081087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75" b="0">
                <a:solidFill>
                  <a:srgbClr val="547078"/>
                </a:solidFill>
                <a:latin typeface="Arial"/>
                <a:ea typeface="Arial"/>
                <a:cs typeface="Arial"/>
              </a:defRPr>
            </a:pPr>
            <a:r>
              <a:rPr sz="1575" b="0">
                <a:solidFill>
                  <a:srgbClr val="547078"/>
                </a:solidFill>
                <a:latin typeface="Arial"/>
                <a:ea typeface="Arial"/>
                <a:cs typeface="Arial"/>
              </a:rPr>
              <a:t>Jeu synthétique. L’ancienneté depuis la création ne mesure pas un délai de réparation.</a:t>
            </a:r>
          </a:p>
        </p:txBody>
      </p:sp>
    </p:spTree>
    <p:extLst>
      <p:ext uri="{BB962C8B-B14F-4D97-AF65-F5344CB8AC3E}">
        <p14:creationId xmlns:p14="http://schemas.microsoft.com/office/powerpoint/2010/main" val="565877214"/>
      </p:ext>
    </p:extLst>
  </p:cSld>
</p:sld>
</file>

<file path=ppt/slides/slide5.xml><?xml version="1.0" encoding="utf-8"?>
<p:sld xmlns:p="http://schemas.openxmlformats.org/presentationml/2006/main">
  <p:cSld>
    <p:bg>
      <p:bgPr>
        <a:solidFill xmlns:a="http://schemas.openxmlformats.org/drawingml/2006/main">
          <a:srgbClr val="F5F4EF"/>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2919FD4F-95A4-4AD7-A89D-74BA38963ADC}"/>
              </a:ext>
            </a:extLst>
          </p:cNvPr>
          <p:cNvSpPr>
            <a:spLocks xmlns:a="http://schemas.openxmlformats.org/drawingml/2006/main" noGrp="1"/>
          </p:cNvSpPr>
          <p:nvPr/>
        </p:nvSpPr>
        <p:spPr>
          <a:xfrm xmlns:a="http://schemas.openxmlformats.org/drawingml/2006/main">
            <a:off x="609600" y="409575"/>
            <a:ext cx="109537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225" b="1">
                <a:solidFill>
                  <a:srgbClr val="102C36"/>
                </a:solidFill>
                <a:latin typeface="Arial"/>
                <a:ea typeface="Arial"/>
                <a:cs typeface="Arial"/>
              </a:defRPr>
            </a:pPr>
            <a:r>
              <a:rPr sz="3225" b="1">
                <a:solidFill>
                  <a:srgbClr val="102C36"/>
                </a:solidFill>
                <a:latin typeface="Arial"/>
                <a:ea typeface="Arial"/>
                <a:cs typeface="Arial"/>
              </a:rPr>
              <a:t>Résultats mesurés sur les dossiers réservés</a:t>
            </a:r>
          </a:p>
        </p:txBody>
      </p:sp>
      <p:sp>
        <p:nvSpPr>
          <p:cNvPr id="2" name="">
            <a:extLst xmlns:a="http://schemas.openxmlformats.org/drawingml/2006/main">
              <a:ext uri="{FF2B5EF4-FFF2-40B4-BE49-F238E27FC236}">
                <a16:creationId xmlns:a16="http://schemas.microsoft.com/office/drawing/2014/main" id="{EC40EA9D-5225-4F64-AE0C-40AE6DDC0D63}"/>
              </a:ext>
            </a:extLst>
          </p:cNvPr>
          <p:cNvSpPr>
            <a:spLocks xmlns:a="http://schemas.openxmlformats.org/drawingml/2006/main" noGrp="1"/>
          </p:cNvSpPr>
          <p:nvPr/>
        </p:nvSpPr>
        <p:spPr>
          <a:xfrm xmlns:a="http://schemas.openxmlformats.org/drawingml/2006/main">
            <a:off x="11144250" y="6324600"/>
            <a:ext cx="476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547078"/>
                </a:solidFill>
                <a:latin typeface="Arial"/>
                <a:ea typeface="Arial"/>
                <a:cs typeface="Arial"/>
              </a:defRPr>
            </a:pPr>
            <a:r>
              <a:rPr sz="1350" b="0">
                <a:solidFill>
                  <a:srgbClr val="547078"/>
                </a:solidFill>
                <a:latin typeface="Arial"/>
                <a:ea typeface="Arial"/>
                <a:cs typeface="Arial"/>
              </a:rPr>
              <a:t>05</a:t>
            </a:r>
          </a:p>
        </p:txBody>
      </p:sp>
      <p:sp>
        <p:nvSpPr>
          <p:cNvPr id="3" name="">
            <a:extLst xmlns:a="http://schemas.openxmlformats.org/drawingml/2006/main">
              <a:ext uri="{FF2B5EF4-FFF2-40B4-BE49-F238E27FC236}">
                <a16:creationId xmlns:a16="http://schemas.microsoft.com/office/drawing/2014/main" id="{61FB158A-2BF9-4B8F-8C37-9F5CF4DD267B}"/>
              </a:ext>
            </a:extLst>
          </p:cNvPr>
          <p:cNvSpPr>
            <a:spLocks xmlns:a="http://schemas.openxmlformats.org/drawingml/2006/main" noGrp="1"/>
          </p:cNvSpPr>
          <p:nvPr/>
        </p:nvSpPr>
        <p:spPr>
          <a:xfrm xmlns:a="http://schemas.openxmlformats.org/drawingml/2006/main">
            <a:off x="609600" y="1428750"/>
            <a:ext cx="4953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1">
                <a:solidFill>
                  <a:srgbClr val="102C36"/>
                </a:solidFill>
                <a:latin typeface="Arial"/>
                <a:ea typeface="Arial"/>
                <a:cs typeface="Arial"/>
              </a:defRPr>
            </a:pPr>
            <a:r>
              <a:rPr sz="2175" b="1">
                <a:solidFill>
                  <a:srgbClr val="102C36"/>
                </a:solidFill>
                <a:latin typeface="Arial"/>
                <a:ea typeface="Arial"/>
                <a:cs typeface="Arial"/>
              </a:rPr>
              <a:t>Extraction DeepSeek</a:t>
            </a:r>
          </a:p>
        </p:txBody>
      </p:sp>
      <p:sp>
        <p:nvSpPr>
          <p:cNvPr id="4" name="">
            <a:extLst xmlns:a="http://schemas.openxmlformats.org/drawingml/2006/main">
              <a:ext uri="{FF2B5EF4-FFF2-40B4-BE49-F238E27FC236}">
                <a16:creationId xmlns:a16="http://schemas.microsoft.com/office/drawing/2014/main" id="{ED27CB0E-249E-4788-8C0C-14911A92CB50}"/>
              </a:ext>
            </a:extLst>
          </p:cNvPr>
          <p:cNvSpPr>
            <a:spLocks xmlns:a="http://schemas.openxmlformats.org/drawingml/2006/main" noGrp="1"/>
          </p:cNvSpPr>
          <p:nvPr/>
        </p:nvSpPr>
        <p:spPr>
          <a:xfrm xmlns:a="http://schemas.openxmlformats.org/drawingml/2006/main">
            <a:off x="609600" y="1924050"/>
            <a:ext cx="49530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0">
                <a:solidFill>
                  <a:srgbClr val="547078"/>
                </a:solidFill>
                <a:latin typeface="Arial"/>
                <a:ea typeface="Arial"/>
                <a:cs typeface="Arial"/>
              </a:defRPr>
            </a:pPr>
            <a:r>
              <a:rPr sz="1725" b="0">
                <a:solidFill>
                  <a:srgbClr val="547078"/>
                </a:solidFill>
                <a:latin typeface="Arial"/>
                <a:ea typeface="Arial"/>
                <a:cs typeface="Arial"/>
              </a:rPr>
              <a:t>977 dossiers hors exemples et pilote</a:t>
            </a:r>
          </a:p>
        </p:txBody>
      </p:sp>
      <p:sp>
        <p:nvSpPr>
          <p:cNvPr id="5" name="">
            <a:extLst xmlns:a="http://schemas.openxmlformats.org/drawingml/2006/main">
              <a:ext uri="{FF2B5EF4-FFF2-40B4-BE49-F238E27FC236}">
                <a16:creationId xmlns:a16="http://schemas.microsoft.com/office/drawing/2014/main" id="{45C1711F-AF88-48F5-A53C-43345F02B493}"/>
              </a:ext>
            </a:extLst>
          </p:cNvPr>
          <p:cNvSpPr>
            <a:spLocks xmlns:a="http://schemas.openxmlformats.org/drawingml/2006/main" noGrp="1"/>
          </p:cNvSpPr>
          <p:nvPr/>
        </p:nvSpPr>
        <p:spPr>
          <a:xfrm xmlns:a="http://schemas.openxmlformats.org/drawingml/2006/main">
            <a:off x="609600" y="2619375"/>
            <a:ext cx="23812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4275" b="1">
                <a:solidFill>
                  <a:srgbClr val="007F75"/>
                </a:solidFill>
                <a:latin typeface="Arial"/>
                <a:ea typeface="Arial"/>
                <a:cs typeface="Arial"/>
              </a:defRPr>
            </a:pPr>
            <a:r>
              <a:rPr sz="4275" b="1">
                <a:solidFill>
                  <a:srgbClr val="007F75"/>
                </a:solidFill>
                <a:latin typeface="Arial"/>
                <a:ea typeface="Arial"/>
                <a:cs typeface="Arial"/>
              </a:rPr>
              <a:t>99,9 %</a:t>
            </a:r>
          </a:p>
        </p:txBody>
      </p:sp>
      <p:sp>
        <p:nvSpPr>
          <p:cNvPr id="6" name="">
            <a:extLst xmlns:a="http://schemas.openxmlformats.org/drawingml/2006/main">
              <a:ext uri="{FF2B5EF4-FFF2-40B4-BE49-F238E27FC236}">
                <a16:creationId xmlns:a16="http://schemas.microsoft.com/office/drawing/2014/main" id="{E8E3E4AB-9A30-41F9-9AF3-BAE400140A35}"/>
              </a:ext>
            </a:extLst>
          </p:cNvPr>
          <p:cNvSpPr>
            <a:spLocks xmlns:a="http://schemas.openxmlformats.org/drawingml/2006/main" noGrp="1"/>
          </p:cNvSpPr>
          <p:nvPr/>
        </p:nvSpPr>
        <p:spPr>
          <a:xfrm xmlns:a="http://schemas.openxmlformats.org/drawingml/2006/main">
            <a:off x="609600" y="3343275"/>
            <a:ext cx="48577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0">
                <a:solidFill>
                  <a:srgbClr val="102C36"/>
                </a:solidFill>
                <a:latin typeface="Arial"/>
                <a:ea typeface="Arial"/>
                <a:cs typeface="Arial"/>
              </a:defRPr>
            </a:pPr>
            <a:r>
              <a:rPr sz="1950" b="0">
                <a:solidFill>
                  <a:srgbClr val="102C36"/>
                </a:solidFill>
                <a:latin typeface="Arial"/>
                <a:ea typeface="Arial"/>
                <a:cs typeface="Arial"/>
              </a:rPr>
              <a:t>F1 des zones de dommage</a:t>
            </a:r>
          </a:p>
        </p:txBody>
      </p:sp>
      <p:sp>
        <p:nvSpPr>
          <p:cNvPr id="7" name="">
            <a:extLst xmlns:a="http://schemas.openxmlformats.org/drawingml/2006/main">
              <a:ext uri="{FF2B5EF4-FFF2-40B4-BE49-F238E27FC236}">
                <a16:creationId xmlns:a16="http://schemas.microsoft.com/office/drawing/2014/main" id="{CC76E1AC-89FF-497E-B3D5-6B266C2C3536}"/>
              </a:ext>
            </a:extLst>
          </p:cNvPr>
          <p:cNvSpPr>
            <a:spLocks xmlns:a="http://schemas.openxmlformats.org/drawingml/2006/main" noGrp="1"/>
          </p:cNvSpPr>
          <p:nvPr/>
        </p:nvSpPr>
        <p:spPr>
          <a:xfrm xmlns:a="http://schemas.openxmlformats.org/drawingml/2006/main">
            <a:off x="609600" y="4095750"/>
            <a:ext cx="2381250" cy="695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975" b="1">
                <a:solidFill>
                  <a:srgbClr val="007F75"/>
                </a:solidFill>
                <a:latin typeface="Arial"/>
                <a:ea typeface="Arial"/>
                <a:cs typeface="Arial"/>
              </a:defRPr>
            </a:pPr>
            <a:r>
              <a:rPr sz="3975" b="1">
                <a:solidFill>
                  <a:srgbClr val="007F75"/>
                </a:solidFill>
                <a:latin typeface="Arial"/>
                <a:ea typeface="Arial"/>
                <a:cs typeface="Arial"/>
              </a:rPr>
              <a:t>100 %</a:t>
            </a:r>
          </a:p>
        </p:txBody>
      </p:sp>
      <p:sp>
        <p:nvSpPr>
          <p:cNvPr id="8" name="">
            <a:extLst xmlns:a="http://schemas.openxmlformats.org/drawingml/2006/main">
              <a:ext uri="{FF2B5EF4-FFF2-40B4-BE49-F238E27FC236}">
                <a16:creationId xmlns:a16="http://schemas.microsoft.com/office/drawing/2014/main" id="{42DE4D00-D6F0-42B5-A59A-291785F1DBE2}"/>
              </a:ext>
            </a:extLst>
          </p:cNvPr>
          <p:cNvSpPr>
            <a:spLocks xmlns:a="http://schemas.openxmlformats.org/drawingml/2006/main" noGrp="1"/>
          </p:cNvSpPr>
          <p:nvPr/>
        </p:nvSpPr>
        <p:spPr>
          <a:xfrm xmlns:a="http://schemas.openxmlformats.org/drawingml/2006/main">
            <a:off x="609600" y="4838700"/>
            <a:ext cx="4857750"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0">
                <a:solidFill>
                  <a:srgbClr val="102C36"/>
                </a:solidFill>
                <a:latin typeface="Arial"/>
                <a:ea typeface="Arial"/>
                <a:cs typeface="Arial"/>
              </a:defRPr>
            </a:pPr>
            <a:r>
              <a:rPr sz="1950" b="0">
                <a:solidFill>
                  <a:srgbClr val="102C36"/>
                </a:solidFill>
                <a:latin typeface="Arial"/>
                <a:ea typeface="Arial"/>
                <a:cs typeface="Arial"/>
              </a:rPr>
              <a:t>Exactitude du type de cas</a:t>
            </a:r>
          </a:p>
          <a:p xmlns:a="http://schemas.openxmlformats.org/drawingml/2006/main">
            <a:pPr>
              <a:defRPr sz="1950" b="0">
                <a:solidFill>
                  <a:srgbClr val="102C36"/>
                </a:solidFill>
                <a:latin typeface="Arial"/>
                <a:ea typeface="Arial"/>
                <a:cs typeface="Arial"/>
              </a:defRPr>
            </a:pPr>
            <a:r>
              <a:rPr sz="1950" b="0">
                <a:solidFill>
                  <a:srgbClr val="102C36"/>
                </a:solidFill>
                <a:latin typeface="Arial"/>
                <a:ea typeface="Arial"/>
                <a:cs typeface="Arial"/>
              </a:rPr>
              <a:t>et de l’assurance¹</a:t>
            </a:r>
          </a:p>
        </p:txBody>
      </p:sp>
      <p:sp>
        <p:nvSpPr>
          <p:cNvPr id="9" name="">
            <a:extLst xmlns:a="http://schemas.openxmlformats.org/drawingml/2006/main">
              <a:ext uri="{FF2B5EF4-FFF2-40B4-BE49-F238E27FC236}">
                <a16:creationId xmlns:a16="http://schemas.microsoft.com/office/drawing/2014/main" id="{C0F99FCF-EDE9-4F21-A1CA-30393B17D845}"/>
              </a:ext>
            </a:extLst>
          </p:cNvPr>
          <p:cNvSpPr>
            <a:spLocks xmlns:a="http://schemas.openxmlformats.org/drawingml/2006/main" noGrp="1"/>
          </p:cNvSpPr>
          <p:nvPr/>
        </p:nvSpPr>
        <p:spPr>
          <a:xfrm xmlns:a="http://schemas.openxmlformats.org/drawingml/2006/main">
            <a:off x="5838825" y="1428750"/>
            <a:ext cx="5810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1">
                <a:solidFill>
                  <a:srgbClr val="102C36"/>
                </a:solidFill>
                <a:latin typeface="Arial"/>
                <a:ea typeface="Arial"/>
                <a:cs typeface="Arial"/>
              </a:defRPr>
            </a:pPr>
            <a:r>
              <a:rPr sz="2100" b="1">
                <a:solidFill>
                  <a:srgbClr val="102C36"/>
                </a:solidFill>
                <a:latin typeface="Arial"/>
                <a:ea typeface="Arial"/>
                <a:cs typeface="Arial"/>
              </a:rPr>
              <a:t>Gravité : comparaison sur 150 dossiers</a:t>
            </a:r>
          </a:p>
        </p:txBody>
      </p:sp>
      <p:sp>
        <p:nvSpPr>
          <p:cNvPr id="10" name="">
            <a:extLst xmlns:a="http://schemas.openxmlformats.org/drawingml/2006/main">
              <a:ext uri="{FF2B5EF4-FFF2-40B4-BE49-F238E27FC236}">
                <a16:creationId xmlns:a16="http://schemas.microsoft.com/office/drawing/2014/main" id="{A3104A55-52D7-4274-8694-F124332AF5F2}"/>
              </a:ext>
            </a:extLst>
          </p:cNvPr>
          <p:cNvSpPr>
            <a:spLocks xmlns:a="http://schemas.openxmlformats.org/drawingml/2006/main" noGrp="1"/>
          </p:cNvSpPr>
          <p:nvPr/>
        </p:nvSpPr>
        <p:spPr>
          <a:xfrm xmlns:a="http://schemas.openxmlformats.org/drawingml/2006/main">
            <a:off x="5838825" y="1924050"/>
            <a:ext cx="58102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0">
                <a:solidFill>
                  <a:srgbClr val="547078"/>
                </a:solidFill>
                <a:latin typeface="Arial"/>
                <a:ea typeface="Arial"/>
                <a:cs typeface="Arial"/>
              </a:defRPr>
            </a:pPr>
            <a:r>
              <a:rPr sz="1725" b="0">
                <a:solidFill>
                  <a:srgbClr val="547078"/>
                </a:solidFill>
                <a:latin typeface="Arial"/>
                <a:ea typeface="Arial"/>
                <a:cs typeface="Arial"/>
              </a:rPr>
              <a:t>Même jeu de test pour les cinq modèles</a:t>
            </a:r>
          </a:p>
        </p:txBody>
      </p:sp>
      <p:graphicFrame>
        <p:nvGraphicFramePr>
          <p:cNvPr id="23" name=""/>
          <p:cNvGraphicFramePr/>
          <p:nvPr/>
        </p:nvGraphicFramePr>
        <p:xfrm>
          <a:off xmlns:a="http://schemas.openxmlformats.org/drawingml/2006/main" x="5829300" y="2466975"/>
          <a:ext xmlns:a="http://schemas.openxmlformats.org/drawingml/2006/main" cx="5715000" cy="3000375"/>
        </p:xfrm>
        <a:graphic xmlns:a="http://schemas.openxmlformats.org/drawingml/2006/main">
          <a:graphicData uri="http://schemas.openxmlformats.org/drawingml/2006/table">
            <a:tbl>
              <a:tblPr/>
              <a:tblGrid>
                <a:gridCol w="3952875"/>
                <a:gridCol w="1762125"/>
              </a:tblGrid>
              <a:tr h="500063">
                <a:tc>
                  <a:txBody>
                    <a:bodyPr/>
                    <a:lstStyle/>
                    <a:p>
                      <a:r>
                        <a:rPr sz="1875" b="1">
                          <a:solidFill>
                            <a:srgbClr val="FFFFFF"/>
                          </a:solidFill>
                          <a:latin typeface="Arial"/>
                          <a:ea typeface="Arial"/>
                          <a:cs typeface="Arial"/>
                        </a:rPr>
                        <a:t>Modèle</a:t>
                      </a:r>
                    </a:p>
                  </a:txBody>
                  <a:tcPr marL="91440" marR="91440" marT="45720" marB="45720">
                    <a:solidFill>
                      <a:srgbClr val="102C36"/>
                    </a:solidFill>
                  </a:tcPr>
                </a:tc>
                <a:tc>
                  <a:txBody>
                    <a:bodyPr/>
                    <a:lstStyle/>
                    <a:p>
                      <a:r>
                        <a:rPr sz="1875" b="1">
                          <a:solidFill>
                            <a:srgbClr val="FFFFFF"/>
                          </a:solidFill>
                          <a:latin typeface="Arial"/>
                          <a:ea typeface="Arial"/>
                          <a:cs typeface="Arial"/>
                        </a:rPr>
                        <a:t>Exactitude</a:t>
                      </a:r>
                    </a:p>
                  </a:txBody>
                  <a:tcPr marL="91440" marR="91440" marT="45720" marB="45720">
                    <a:solidFill>
                      <a:srgbClr val="102C36"/>
                    </a:solidFill>
                  </a:tcPr>
                </a:tc>
              </a:tr>
              <a:tr h="500063">
                <a:tc>
                  <a:txBody>
                    <a:bodyPr/>
                    <a:lstStyle/>
                    <a:p>
                      <a:r>
                        <a:rPr sz="1875" b="1">
                          <a:solidFill>
                            <a:srgbClr val="102C36"/>
                          </a:solidFill>
                          <a:latin typeface="Arial"/>
                          <a:ea typeface="Arial"/>
                          <a:cs typeface="Arial"/>
                        </a:rPr>
                        <a:t>XGBoost</a:t>
                      </a:r>
                    </a:p>
                  </a:txBody>
                  <a:tcPr marL="91440" marR="91440" marT="45720" marB="45720">
                    <a:solidFill>
                      <a:srgbClr val="DFEDE7"/>
                    </a:solidFill>
                  </a:tcPr>
                </a:tc>
                <a:tc>
                  <a:txBody>
                    <a:bodyPr/>
                    <a:lstStyle/>
                    <a:p>
                      <a:r>
                        <a:rPr sz="1875" b="1">
                          <a:solidFill>
                            <a:srgbClr val="102C36"/>
                          </a:solidFill>
                          <a:latin typeface="Arial"/>
                          <a:ea typeface="Arial"/>
                          <a:cs typeface="Arial"/>
                        </a:rPr>
                        <a:t>82,0 %</a:t>
                      </a:r>
                    </a:p>
                  </a:txBody>
                  <a:tcPr marL="91440" marR="91440" marT="45720" marB="45720">
                    <a:solidFill>
                      <a:srgbClr val="DFEDE7"/>
                    </a:solidFill>
                  </a:tcPr>
                </a:tc>
              </a:tr>
              <a:tr h="500063">
                <a:tc>
                  <a:txBody>
                    <a:bodyPr/>
                    <a:lstStyle/>
                    <a:p>
                      <a:r>
                        <a:rPr sz="1875" b="0">
                          <a:solidFill>
                            <a:srgbClr val="102C36"/>
                          </a:solidFill>
                          <a:latin typeface="Arial"/>
                          <a:ea typeface="Arial"/>
                          <a:cs typeface="Arial"/>
                        </a:rPr>
                        <a:t>GBERT ajusté</a:t>
                      </a:r>
                    </a:p>
                  </a:txBody>
                  <a:tcPr marL="91440" marR="91440" marT="45720" marB="45720">
                    <a:solidFill>
                      <a:srgbClr val="F5F4EF"/>
                    </a:solidFill>
                  </a:tcPr>
                </a:tc>
                <a:tc>
                  <a:txBody>
                    <a:bodyPr/>
                    <a:lstStyle/>
                    <a:p>
                      <a:r>
                        <a:rPr sz="1875" b="0">
                          <a:solidFill>
                            <a:srgbClr val="102C36"/>
                          </a:solidFill>
                          <a:latin typeface="Arial"/>
                          <a:ea typeface="Arial"/>
                          <a:cs typeface="Arial"/>
                        </a:rPr>
                        <a:t>78,7 %</a:t>
                      </a:r>
                    </a:p>
                  </a:txBody>
                  <a:tcPr marL="91440" marR="91440" marT="45720" marB="45720">
                    <a:solidFill>
                      <a:srgbClr val="F5F4EF"/>
                    </a:solidFill>
                  </a:tcPr>
                </a:tc>
              </a:tr>
              <a:tr h="500063">
                <a:tc>
                  <a:txBody>
                    <a:bodyPr/>
                    <a:lstStyle/>
                    <a:p>
                      <a:r>
                        <a:rPr sz="1875" b="0">
                          <a:solidFill>
                            <a:srgbClr val="102C36"/>
                          </a:solidFill>
                          <a:latin typeface="Arial"/>
                          <a:ea typeface="Arial"/>
                          <a:cs typeface="Arial"/>
                        </a:rPr>
                        <a:t>Régression logistique</a:t>
                      </a:r>
                    </a:p>
                  </a:txBody>
                  <a:tcPr marL="91440" marR="91440" marT="45720" marB="45720">
                    <a:solidFill>
                      <a:srgbClr val="F5F4EF"/>
                    </a:solidFill>
                  </a:tcPr>
                </a:tc>
                <a:tc>
                  <a:txBody>
                    <a:bodyPr/>
                    <a:lstStyle/>
                    <a:p>
                      <a:r>
                        <a:rPr sz="1875" b="0">
                          <a:solidFill>
                            <a:srgbClr val="102C36"/>
                          </a:solidFill>
                          <a:latin typeface="Arial"/>
                          <a:ea typeface="Arial"/>
                          <a:cs typeface="Arial"/>
                        </a:rPr>
                        <a:t>73,3 %</a:t>
                      </a:r>
                    </a:p>
                  </a:txBody>
                  <a:tcPr marL="91440" marR="91440" marT="45720" marB="45720">
                    <a:solidFill>
                      <a:srgbClr val="F5F4EF"/>
                    </a:solidFill>
                  </a:tcPr>
                </a:tc>
              </a:tr>
              <a:tr h="500063">
                <a:tc>
                  <a:txBody>
                    <a:bodyPr/>
                    <a:lstStyle/>
                    <a:p>
                      <a:r>
                        <a:rPr sz="1875" b="0">
                          <a:solidFill>
                            <a:srgbClr val="102C36"/>
                          </a:solidFill>
                          <a:latin typeface="Arial"/>
                          <a:ea typeface="Arial"/>
                          <a:cs typeface="Arial"/>
                        </a:rPr>
                        <a:t>DeepSeek</a:t>
                      </a:r>
                    </a:p>
                  </a:txBody>
                  <a:tcPr marL="91440" marR="91440" marT="45720" marB="45720">
                    <a:solidFill>
                      <a:srgbClr val="F5F4EF"/>
                    </a:solidFill>
                  </a:tcPr>
                </a:tc>
                <a:tc>
                  <a:txBody>
                    <a:bodyPr/>
                    <a:lstStyle/>
                    <a:p>
                      <a:r>
                        <a:rPr sz="1875" b="0">
                          <a:solidFill>
                            <a:srgbClr val="102C36"/>
                          </a:solidFill>
                          <a:latin typeface="Arial"/>
                          <a:ea typeface="Arial"/>
                          <a:cs typeface="Arial"/>
                        </a:rPr>
                        <a:t>72,7 %</a:t>
                      </a:r>
                    </a:p>
                  </a:txBody>
                  <a:tcPr marL="91440" marR="91440" marT="45720" marB="45720">
                    <a:solidFill>
                      <a:srgbClr val="F5F4EF"/>
                    </a:solidFill>
                  </a:tcPr>
                </a:tc>
              </a:tr>
              <a:tr h="500063">
                <a:tc>
                  <a:txBody>
                    <a:bodyPr/>
                    <a:lstStyle/>
                    <a:p>
                      <a:r>
                        <a:rPr sz="1875" b="0">
                          <a:solidFill>
                            <a:srgbClr val="102C36"/>
                          </a:solidFill>
                          <a:latin typeface="Arial"/>
                          <a:ea typeface="Arial"/>
                          <a:cs typeface="Arial"/>
                        </a:rPr>
                        <a:t>LightGBM</a:t>
                      </a:r>
                    </a:p>
                  </a:txBody>
                  <a:tcPr marL="91440" marR="91440" marT="45720" marB="45720">
                    <a:solidFill>
                      <a:srgbClr val="F5F4EF"/>
                    </a:solidFill>
                  </a:tcPr>
                </a:tc>
                <a:tc>
                  <a:txBody>
                    <a:bodyPr/>
                    <a:lstStyle/>
                    <a:p>
                      <a:r>
                        <a:rPr sz="1875" b="0">
                          <a:solidFill>
                            <a:srgbClr val="102C36"/>
                          </a:solidFill>
                          <a:latin typeface="Arial"/>
                          <a:ea typeface="Arial"/>
                          <a:cs typeface="Arial"/>
                        </a:rPr>
                        <a:t>65,3 %</a:t>
                      </a:r>
                    </a:p>
                  </a:txBody>
                  <a:tcPr marL="91440" marR="91440" marT="45720" marB="45720">
                    <a:solidFill>
                      <a:srgbClr val="F5F4EF"/>
                    </a:solidFill>
                  </a:tcPr>
                </a:tc>
              </a:tr>
            </a:tbl>
          </a:graphicData>
        </a:graphic>
      </p:graphicFrame>
      <p:sp>
        <p:nvSpPr>
          <p:cNvPr id="12" name="">
            <a:extLst xmlns:a="http://schemas.openxmlformats.org/drawingml/2006/main">
              <a:ext uri="{FF2B5EF4-FFF2-40B4-BE49-F238E27FC236}">
                <a16:creationId xmlns:a16="http://schemas.microsoft.com/office/drawing/2014/main" id="{53E3152F-9ACB-4845-AA41-2553BF79334F}"/>
              </a:ext>
            </a:extLst>
          </p:cNvPr>
          <p:cNvSpPr>
            <a:spLocks xmlns:a="http://schemas.openxmlformats.org/drawingml/2006/main" noGrp="1"/>
          </p:cNvSpPr>
          <p:nvPr/>
        </p:nvSpPr>
        <p:spPr>
          <a:xfrm xmlns:a="http://schemas.openxmlformats.org/drawingml/2006/main">
            <a:off x="609600" y="5934075"/>
            <a:ext cx="108585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547078"/>
                </a:solidFill>
                <a:latin typeface="Arial"/>
                <a:ea typeface="Arial"/>
                <a:cs typeface="Arial"/>
              </a:defRPr>
            </a:pPr>
            <a:r>
              <a:rPr sz="1500" b="0">
                <a:solidFill>
                  <a:srgbClr val="547078"/>
                </a:solidFill>
                <a:latin typeface="Arial"/>
                <a:ea typeface="Arial"/>
                <a:cs typeface="Arial"/>
              </a:rPr>
              <a:t>¹ Assurance : 434 dossiers de dommages. Gravité : 284 dossiers d’entraînement, 150 de test.</a:t>
            </a:r>
          </a:p>
        </p:txBody>
      </p:sp>
    </p:spTree>
    <p:extLst>
      <p:ext uri="{BB962C8B-B14F-4D97-AF65-F5344CB8AC3E}">
        <p14:creationId xmlns:p14="http://schemas.microsoft.com/office/powerpoint/2010/main" val="2139342296"/>
      </p:ext>
    </p:extLst>
  </p:cSld>
</p:sld>
</file>

<file path=ppt/slides/slide6.xml><?xml version="1.0" encoding="utf-8"?>
<p:sld xmlns:p="http://schemas.openxmlformats.org/presentationml/2006/main">
  <p:cSld>
    <p:bg>
      <p:bgPr>
        <a:solidFill xmlns:a="http://schemas.openxmlformats.org/drawingml/2006/main">
          <a:srgbClr val="F5F4EF"/>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BC389F48-7629-4AD2-B4AD-5458322DA05D}"/>
              </a:ext>
            </a:extLst>
          </p:cNvPr>
          <p:cNvSpPr>
            <a:spLocks xmlns:a="http://schemas.openxmlformats.org/drawingml/2006/main" noGrp="1"/>
          </p:cNvSpPr>
          <p:nvPr/>
        </p:nvSpPr>
        <p:spPr>
          <a:xfrm xmlns:a="http://schemas.openxmlformats.org/drawingml/2006/main">
            <a:off x="609600" y="409575"/>
            <a:ext cx="109537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225" b="1">
                <a:solidFill>
                  <a:srgbClr val="102C36"/>
                </a:solidFill>
                <a:latin typeface="Arial"/>
                <a:ea typeface="Arial"/>
                <a:cs typeface="Arial"/>
              </a:defRPr>
            </a:pPr>
            <a:r>
              <a:rPr sz="3225" b="1">
                <a:solidFill>
                  <a:srgbClr val="102C36"/>
                </a:solidFill>
                <a:latin typeface="Arial"/>
                <a:ea typeface="Arial"/>
                <a:cs typeface="Arial"/>
              </a:rPr>
              <a:t>Limites et prochaines validations</a:t>
            </a:r>
          </a:p>
        </p:txBody>
      </p:sp>
      <p:sp>
        <p:nvSpPr>
          <p:cNvPr id="2" name="">
            <a:extLst xmlns:a="http://schemas.openxmlformats.org/drawingml/2006/main">
              <a:ext uri="{FF2B5EF4-FFF2-40B4-BE49-F238E27FC236}">
                <a16:creationId xmlns:a16="http://schemas.microsoft.com/office/drawing/2014/main" id="{1F279D86-D8BF-4076-A107-1F1D8EDDFB29}"/>
              </a:ext>
            </a:extLst>
          </p:cNvPr>
          <p:cNvSpPr>
            <a:spLocks xmlns:a="http://schemas.openxmlformats.org/drawingml/2006/main" noGrp="1"/>
          </p:cNvSpPr>
          <p:nvPr/>
        </p:nvSpPr>
        <p:spPr>
          <a:xfrm xmlns:a="http://schemas.openxmlformats.org/drawingml/2006/main">
            <a:off x="11144250" y="6324600"/>
            <a:ext cx="476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547078"/>
                </a:solidFill>
                <a:latin typeface="Arial"/>
                <a:ea typeface="Arial"/>
                <a:cs typeface="Arial"/>
              </a:defRPr>
            </a:pPr>
            <a:r>
              <a:rPr sz="1350" b="0">
                <a:solidFill>
                  <a:srgbClr val="547078"/>
                </a:solidFill>
                <a:latin typeface="Arial"/>
                <a:ea typeface="Arial"/>
                <a:cs typeface="Arial"/>
              </a:rPr>
              <a:t>06</a:t>
            </a:r>
          </a:p>
        </p:txBody>
      </p:sp>
      <p:sp>
        <p:nvSpPr>
          <p:cNvPr id="3" name="">
            <a:extLst xmlns:a="http://schemas.openxmlformats.org/drawingml/2006/main">
              <a:ext uri="{FF2B5EF4-FFF2-40B4-BE49-F238E27FC236}">
                <a16:creationId xmlns:a16="http://schemas.microsoft.com/office/drawing/2014/main" id="{0E181C90-9565-4CBE-99B0-94615C2FE127}"/>
              </a:ext>
            </a:extLst>
          </p:cNvPr>
          <p:cNvSpPr>
            <a:spLocks xmlns:a="http://schemas.openxmlformats.org/drawingml/2006/main" noGrp="1"/>
          </p:cNvSpPr>
          <p:nvPr/>
        </p:nvSpPr>
        <p:spPr>
          <a:xfrm xmlns:a="http://schemas.openxmlformats.org/drawingml/2006/main">
            <a:off x="609600" y="1466850"/>
            <a:ext cx="628650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1">
                <a:solidFill>
                  <a:srgbClr val="102C36"/>
                </a:solidFill>
                <a:latin typeface="Arial"/>
                <a:ea typeface="Arial"/>
                <a:cs typeface="Arial"/>
              </a:defRPr>
            </a:pPr>
            <a:r>
              <a:rPr sz="2250" b="1">
                <a:solidFill>
                  <a:srgbClr val="102C36"/>
                </a:solidFill>
                <a:latin typeface="Arial"/>
                <a:ea typeface="Arial"/>
                <a:cs typeface="Arial"/>
              </a:rPr>
              <a:t>Ce que le test révèle</a:t>
            </a:r>
          </a:p>
        </p:txBody>
      </p:sp>
      <p:sp>
        <p:nvSpPr>
          <p:cNvPr id="4" name="">
            <a:extLst xmlns:a="http://schemas.openxmlformats.org/drawingml/2006/main">
              <a:ext uri="{FF2B5EF4-FFF2-40B4-BE49-F238E27FC236}">
                <a16:creationId xmlns:a16="http://schemas.microsoft.com/office/drawing/2014/main" id="{F76A8715-957D-41E5-BAD0-0B3F1591C4E3}"/>
              </a:ext>
            </a:extLst>
          </p:cNvPr>
          <p:cNvSpPr>
            <a:spLocks xmlns:a="http://schemas.openxmlformats.org/drawingml/2006/main" noGrp="1"/>
          </p:cNvSpPr>
          <p:nvPr/>
        </p:nvSpPr>
        <p:spPr>
          <a:xfrm xmlns:a="http://schemas.openxmlformats.org/drawingml/2006/main">
            <a:off x="609600" y="2114550"/>
            <a:ext cx="66675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102C36"/>
                </a:solidFill>
                <a:latin typeface="Arial"/>
                <a:ea typeface="Arial"/>
                <a:cs typeface="Arial"/>
              </a:defRPr>
            </a:pPr>
            <a:r>
              <a:rPr sz="2025" b="0">
                <a:solidFill>
                  <a:srgbClr val="102C36"/>
                </a:solidFill>
                <a:latin typeface="Arial"/>
                <a:ea typeface="Arial"/>
                <a:cs typeface="Arial"/>
              </a:rPr>
              <a:t>Des phrases récurrentes simplifient l’extraction.</a:t>
            </a:r>
          </a:p>
          <a:p xmlns:a="http://schemas.openxmlformats.org/drawingml/2006/main">
            <a:pPr>
              <a:defRPr sz="2025" b="0">
                <a:solidFill>
                  <a:srgbClr val="102C36"/>
                </a:solidFill>
                <a:latin typeface="Arial"/>
                <a:ea typeface="Arial"/>
                <a:cs typeface="Arial"/>
              </a:defRPr>
            </a:pPr>
            <a:r>
              <a:rPr sz="2025" b="0">
                <a:solidFill>
                  <a:srgbClr val="102C36"/>
                </a:solidFill>
                <a:latin typeface="Arial"/>
                <a:ea typeface="Arial"/>
                <a:cs typeface="Arial"/>
              </a:rPr>
              <a:t>La baseline lexicale atteint 100 % de F1 sur les zones.</a:t>
            </a:r>
          </a:p>
        </p:txBody>
      </p:sp>
      <p:sp>
        <p:nvSpPr>
          <p:cNvPr id="5" name="">
            <a:extLst xmlns:a="http://schemas.openxmlformats.org/drawingml/2006/main">
              <a:ext uri="{FF2B5EF4-FFF2-40B4-BE49-F238E27FC236}">
                <a16:creationId xmlns:a16="http://schemas.microsoft.com/office/drawing/2014/main" id="{B819C22A-19B2-4757-8D54-2B69F0CDC573}"/>
              </a:ext>
            </a:extLst>
          </p:cNvPr>
          <p:cNvSpPr>
            <a:spLocks xmlns:a="http://schemas.openxmlformats.org/drawingml/2006/main" noGrp="1"/>
          </p:cNvSpPr>
          <p:nvPr/>
        </p:nvSpPr>
        <p:spPr>
          <a:xfrm xmlns:a="http://schemas.openxmlformats.org/drawingml/2006/main">
            <a:off x="609600" y="3381375"/>
            <a:ext cx="66675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102C36"/>
                </a:solidFill>
                <a:latin typeface="Arial"/>
                <a:ea typeface="Arial"/>
                <a:cs typeface="Arial"/>
              </a:defRPr>
            </a:pPr>
            <a:r>
              <a:rPr sz="2025" b="0">
                <a:solidFill>
                  <a:srgbClr val="102C36"/>
                </a:solidFill>
                <a:latin typeface="Arial"/>
                <a:ea typeface="Arial"/>
                <a:cs typeface="Arial"/>
              </a:rPr>
              <a:t>Une même description porte parfois plusieurs</a:t>
            </a:r>
          </a:p>
          <a:p xmlns:a="http://schemas.openxmlformats.org/drawingml/2006/main">
            <a:pPr>
              <a:defRPr sz="2025" b="0">
                <a:solidFill>
                  <a:srgbClr val="102C36"/>
                </a:solidFill>
                <a:latin typeface="Arial"/>
                <a:ea typeface="Arial"/>
                <a:cs typeface="Arial"/>
              </a:defRPr>
            </a:pPr>
            <a:r>
              <a:rPr sz="2025" b="0">
                <a:solidFill>
                  <a:srgbClr val="102C36"/>
                </a:solidFill>
                <a:latin typeface="Arial"/>
                <a:ea typeface="Arial"/>
                <a:cs typeface="Arial"/>
              </a:rPr>
              <a:t>étiquettes de gravité.</a:t>
            </a:r>
          </a:p>
        </p:txBody>
      </p:sp>
      <p:sp>
        <p:nvSpPr>
          <p:cNvPr id="6" name="">
            <a:extLst xmlns:a="http://schemas.openxmlformats.org/drawingml/2006/main">
              <a:ext uri="{FF2B5EF4-FFF2-40B4-BE49-F238E27FC236}">
                <a16:creationId xmlns:a16="http://schemas.microsoft.com/office/drawing/2014/main" id="{CD561742-7960-4149-933B-C9EE70756C2D}"/>
              </a:ext>
            </a:extLst>
          </p:cNvPr>
          <p:cNvSpPr>
            <a:spLocks xmlns:a="http://schemas.openxmlformats.org/drawingml/2006/main" noGrp="1"/>
          </p:cNvSpPr>
          <p:nvPr/>
        </p:nvSpPr>
        <p:spPr>
          <a:xfrm xmlns:a="http://schemas.openxmlformats.org/drawingml/2006/main">
            <a:off x="609600" y="4505325"/>
            <a:ext cx="66675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102C36"/>
                </a:solidFill>
                <a:latin typeface="Arial"/>
                <a:ea typeface="Arial"/>
                <a:cs typeface="Arial"/>
              </a:defRPr>
            </a:pPr>
            <a:r>
              <a:rPr sz="2025" b="0">
                <a:solidFill>
                  <a:srgbClr val="102C36"/>
                </a:solidFill>
                <a:latin typeface="Arial"/>
                <a:ea typeface="Arial"/>
                <a:cs typeface="Arial"/>
              </a:rPr>
              <a:t>Les règles de réparation restent des propositions</a:t>
            </a:r>
          </a:p>
          <a:p xmlns:a="http://schemas.openxmlformats.org/drawingml/2006/main">
            <a:pPr>
              <a:defRPr sz="2025" b="0">
                <a:solidFill>
                  <a:srgbClr val="102C36"/>
                </a:solidFill>
                <a:latin typeface="Arial"/>
                <a:ea typeface="Arial"/>
                <a:cs typeface="Arial"/>
              </a:defRPr>
            </a:pPr>
            <a:r>
              <a:rPr sz="2025" b="0">
                <a:solidFill>
                  <a:srgbClr val="102C36"/>
                </a:solidFill>
                <a:latin typeface="Arial"/>
                <a:ea typeface="Arial"/>
                <a:cs typeface="Arial"/>
              </a:rPr>
              <a:t>à confronter aux procédures de l’atelier.</a:t>
            </a:r>
          </a:p>
        </p:txBody>
      </p:sp>
      <p:sp>
        <p:nvSpPr>
          <p:cNvPr id="7" name="">
            <a:extLst xmlns:a="http://schemas.openxmlformats.org/drawingml/2006/main">
              <a:ext uri="{FF2B5EF4-FFF2-40B4-BE49-F238E27FC236}">
                <a16:creationId xmlns:a16="http://schemas.microsoft.com/office/drawing/2014/main" id="{05C8C0DA-366F-48DC-9AED-DBFE564313CB}"/>
              </a:ext>
            </a:extLst>
          </p:cNvPr>
          <p:cNvSpPr>
            <a:spLocks xmlns:a="http://schemas.openxmlformats.org/drawingml/2006/main" noGrp="1"/>
          </p:cNvSpPr>
          <p:nvPr/>
        </p:nvSpPr>
        <p:spPr>
          <a:xfrm xmlns:a="http://schemas.openxmlformats.org/drawingml/2006/main">
            <a:off x="7962900" y="1466850"/>
            <a:ext cx="333375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1">
                <a:solidFill>
                  <a:srgbClr val="007F75"/>
                </a:solidFill>
                <a:latin typeface="Arial"/>
                <a:ea typeface="Arial"/>
                <a:cs typeface="Arial"/>
              </a:defRPr>
            </a:pPr>
            <a:r>
              <a:rPr sz="2250" b="1">
                <a:solidFill>
                  <a:srgbClr val="007F75"/>
                </a:solidFill>
                <a:latin typeface="Arial"/>
                <a:ea typeface="Arial"/>
                <a:cs typeface="Arial"/>
              </a:rPr>
              <a:t>À compléter</a:t>
            </a:r>
          </a:p>
        </p:txBody>
      </p:sp>
      <p:sp>
        <p:nvSpPr>
          <p:cNvPr id="8" name="">
            <a:extLst xmlns:a="http://schemas.openxmlformats.org/drawingml/2006/main">
              <a:ext uri="{FF2B5EF4-FFF2-40B4-BE49-F238E27FC236}">
                <a16:creationId xmlns:a16="http://schemas.microsoft.com/office/drawing/2014/main" id="{3B75BDFE-74AA-4D75-B56B-D4D3E2FBC8FF}"/>
              </a:ext>
            </a:extLst>
          </p:cNvPr>
          <p:cNvSpPr>
            <a:spLocks xmlns:a="http://schemas.openxmlformats.org/drawingml/2006/main" noGrp="1"/>
          </p:cNvSpPr>
          <p:nvPr/>
        </p:nvSpPr>
        <p:spPr>
          <a:xfrm xmlns:a="http://schemas.openxmlformats.org/drawingml/2006/main">
            <a:off x="7962900" y="2219325"/>
            <a:ext cx="333375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547078"/>
                </a:solidFill>
                <a:latin typeface="Arial"/>
                <a:ea typeface="Arial"/>
                <a:cs typeface="Arial"/>
              </a:defRPr>
            </a:pPr>
            <a:r>
              <a:rPr sz="1875" b="0">
                <a:solidFill>
                  <a:srgbClr val="547078"/>
                </a:solidFill>
                <a:latin typeface="Arial"/>
                <a:ea typeface="Arial"/>
                <a:cs typeface="Arial"/>
              </a:rPr>
              <a:t>Latence par dossier</a:t>
            </a:r>
          </a:p>
          <a:p xmlns:a="http://schemas.openxmlformats.org/drawingml/2006/main">
            <a:pPr>
              <a:defRPr sz="1875" b="0">
                <a:solidFill>
                  <a:srgbClr val="547078"/>
                </a:solidFill>
                <a:latin typeface="Arial"/>
                <a:ea typeface="Arial"/>
                <a:cs typeface="Arial"/>
              </a:defRPr>
            </a:pPr>
            <a:r>
              <a:rPr sz="1875" b="0">
                <a:solidFill>
                  <a:srgbClr val="547078"/>
                </a:solidFill>
                <a:latin typeface="Arial"/>
                <a:ea typeface="Arial"/>
                <a:cs typeface="Arial"/>
              </a:rPr>
              <a:t>__________</a:t>
            </a:r>
          </a:p>
        </p:txBody>
      </p:sp>
      <p:sp>
        <p:nvSpPr>
          <p:cNvPr id="9" name="">
            <a:extLst xmlns:a="http://schemas.openxmlformats.org/drawingml/2006/main">
              <a:ext uri="{FF2B5EF4-FFF2-40B4-BE49-F238E27FC236}">
                <a16:creationId xmlns:a16="http://schemas.microsoft.com/office/drawing/2014/main" id="{083F0F77-EC28-4E74-B2DD-1DAC3E22F23D}"/>
              </a:ext>
            </a:extLst>
          </p:cNvPr>
          <p:cNvSpPr>
            <a:spLocks xmlns:a="http://schemas.openxmlformats.org/drawingml/2006/main" noGrp="1"/>
          </p:cNvSpPr>
          <p:nvPr/>
        </p:nvSpPr>
        <p:spPr>
          <a:xfrm xmlns:a="http://schemas.openxmlformats.org/drawingml/2006/main">
            <a:off x="7962900" y="3457575"/>
            <a:ext cx="333375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547078"/>
                </a:solidFill>
                <a:latin typeface="Arial"/>
                <a:ea typeface="Arial"/>
                <a:cs typeface="Arial"/>
              </a:defRPr>
            </a:pPr>
            <a:r>
              <a:rPr sz="1875" b="0">
                <a:solidFill>
                  <a:srgbClr val="547078"/>
                </a:solidFill>
                <a:latin typeface="Arial"/>
                <a:ea typeface="Arial"/>
                <a:cs typeface="Arial"/>
              </a:rPr>
              <a:t>Coût total en €</a:t>
            </a:r>
          </a:p>
          <a:p xmlns:a="http://schemas.openxmlformats.org/drawingml/2006/main">
            <a:pPr>
              <a:defRPr sz="1875" b="0">
                <a:solidFill>
                  <a:srgbClr val="547078"/>
                </a:solidFill>
                <a:latin typeface="Arial"/>
                <a:ea typeface="Arial"/>
                <a:cs typeface="Arial"/>
              </a:defRPr>
            </a:pPr>
            <a:r>
              <a:rPr sz="1875" b="0">
                <a:solidFill>
                  <a:srgbClr val="547078"/>
                </a:solidFill>
                <a:latin typeface="Arial"/>
                <a:ea typeface="Arial"/>
                <a:cs typeface="Arial"/>
              </a:rPr>
              <a:t>__________</a:t>
            </a:r>
          </a:p>
        </p:txBody>
      </p:sp>
      <p:sp>
        <p:nvSpPr>
          <p:cNvPr id="10" name="">
            <a:extLst xmlns:a="http://schemas.openxmlformats.org/drawingml/2006/main">
              <a:ext uri="{FF2B5EF4-FFF2-40B4-BE49-F238E27FC236}">
                <a16:creationId xmlns:a16="http://schemas.microsoft.com/office/drawing/2014/main" id="{E7E7DBCA-9497-4FB0-A559-61AD4249BD49}"/>
              </a:ext>
            </a:extLst>
          </p:cNvPr>
          <p:cNvSpPr>
            <a:spLocks xmlns:a="http://schemas.openxmlformats.org/drawingml/2006/main" noGrp="1"/>
          </p:cNvSpPr>
          <p:nvPr/>
        </p:nvSpPr>
        <p:spPr>
          <a:xfrm xmlns:a="http://schemas.openxmlformats.org/drawingml/2006/main">
            <a:off x="7962900" y="4695825"/>
            <a:ext cx="333375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547078"/>
                </a:solidFill>
                <a:latin typeface="Arial"/>
                <a:ea typeface="Arial"/>
                <a:cs typeface="Arial"/>
              </a:defRPr>
            </a:pPr>
            <a:r>
              <a:rPr sz="1875" b="0">
                <a:solidFill>
                  <a:srgbClr val="547078"/>
                </a:solidFill>
                <a:latin typeface="Arial"/>
                <a:ea typeface="Arial"/>
                <a:cs typeface="Arial"/>
              </a:rPr>
              <a:t>Validation sur notes réelles</a:t>
            </a:r>
          </a:p>
          <a:p xmlns:a="http://schemas.openxmlformats.org/drawingml/2006/main">
            <a:pPr>
              <a:defRPr sz="1875" b="0">
                <a:solidFill>
                  <a:srgbClr val="547078"/>
                </a:solidFill>
                <a:latin typeface="Arial"/>
                <a:ea typeface="Arial"/>
                <a:cs typeface="Arial"/>
              </a:defRPr>
            </a:pPr>
            <a:r>
              <a:rPr sz="1875" b="0">
                <a:solidFill>
                  <a:srgbClr val="547078"/>
                </a:solidFill>
                <a:latin typeface="Arial"/>
                <a:ea typeface="Arial"/>
                <a:cs typeface="Arial"/>
              </a:rPr>
              <a:t>__________</a:t>
            </a:r>
          </a:p>
        </p:txBody>
      </p:sp>
      <p:sp>
        <p:nvSpPr>
          <p:cNvPr id="11" name="">
            <a:extLst xmlns:a="http://schemas.openxmlformats.org/drawingml/2006/main">
              <a:ext uri="{FF2B5EF4-FFF2-40B4-BE49-F238E27FC236}">
                <a16:creationId xmlns:a16="http://schemas.microsoft.com/office/drawing/2014/main" id="{CD34A495-CE5A-4E7E-9DBF-ED860B8E05B7}"/>
              </a:ext>
            </a:extLst>
          </p:cNvPr>
          <p:cNvSpPr>
            <a:spLocks xmlns:a="http://schemas.openxmlformats.org/drawingml/2006/main" noGrp="1"/>
          </p:cNvSpPr>
          <p:nvPr/>
        </p:nvSpPr>
        <p:spPr>
          <a:xfrm xmlns:a="http://schemas.openxmlformats.org/drawingml/2006/main">
            <a:off x="609600" y="6000750"/>
            <a:ext cx="10763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0">
                <a:solidFill>
                  <a:srgbClr val="007F75"/>
                </a:solidFill>
                <a:latin typeface="Arial"/>
                <a:ea typeface="Arial"/>
                <a:cs typeface="Arial"/>
              </a:defRPr>
            </a:pPr>
            <a:r>
              <a:rPr sz="1650" b="0">
                <a:solidFill>
                  <a:srgbClr val="007F75"/>
                </a:solidFill>
                <a:latin typeface="Arial"/>
                <a:ea typeface="Arial"/>
                <a:cs typeface="Arial"/>
              </a:rPr>
              <a:t>Suite proposée : test externe, revue des cas ambigus et validation métier des opérations.</a:t>
            </a:r>
          </a:p>
        </p:txBody>
      </p:sp>
    </p:spTree>
    <p:extLst>
      <p:ext uri="{BB962C8B-B14F-4D97-AF65-F5344CB8AC3E}">
        <p14:creationId xmlns:p14="http://schemas.microsoft.com/office/powerpoint/2010/main" val="1424090901"/>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2026-09-18T15:11:40.2990000Z</dcterms:created>
  <dcterms:modified xsi:type="dcterms:W3CDTF">2026-09-18T15:11:40.2990000Z</dcterms:modified>
</coreProperties>
</file>