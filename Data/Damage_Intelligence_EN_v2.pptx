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bar"/>
        <c:grouping val="clustered"/>
        <c:varyColors val="0"/>
        <c:ser>
          <c:idx val="0"/>
          <c:order val="0"/>
          <c:tx>
            <c:strRef>
              <c:f>Sheet1!$B$1</c:f>
              <c:strCache>
                <c:ptCount val="1"/>
              </c:strCache>
            </c:strRef>
          </c:tx>
          <c:spPr>
            <a:solidFill>
              <a:srgbClr val="007F75"/>
            </a:solidFill>
          </c:spPr>
          <c:invertIfNegative val="1"/>
          <c:dLbls>
            <c:spPr>
              <a:noFill/>
              <a:ln>
                <a:noFill/>
              </a:ln>
              <a:effectLst/>
            </c:spPr>
            <c:txPr>
              <a:bodyPr anchorCtr="1"/>
              <a:lstStyle/>
              <a:p>
                <a:pPr>
                  <a:defRPr sz="1650">
                    <a:solidFill>
                      <a:srgbClr val="102C36"/>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Parking</c:v>
                </c:pt>
                <c:pt idx="1">
                  <c:v>Manoeuvring</c:v>
                </c:pt>
                <c:pt idx="2">
                  <c:v>Rear-end collision</c:v>
                </c:pt>
                <c:pt idx="3">
                  <c:v>Stone chip</c:v>
                </c:pt>
                <c:pt idx="4">
                  <c:v>Hail</c:v>
                </c:pt>
                <c:pt idx="5">
                  <c:v>Vandalism</c:v>
                </c:pt>
                <c:pt idx="6">
                  <c:v>Wildlife</c:v>
                </c:pt>
              </c:strCache>
            </c:strRef>
          </c:cat>
          <c:val>
            <c:numRef>
              <c:f>Sheet1!$B$2:$B$8</c:f>
              <c:numCache>
                <c:formatCode>General</c:formatCode>
                <c:ptCount val="7"/>
                <c:pt idx="0">
                  <c:v>110</c:v>
                </c:pt>
                <c:pt idx="1">
                  <c:v>76</c:v>
                </c:pt>
                <c:pt idx="2">
                  <c:v>62</c:v>
                </c:pt>
                <c:pt idx="3">
                  <c:v>55</c:v>
                </c:pt>
                <c:pt idx="4">
                  <c:v>55</c:v>
                </c:pt>
                <c:pt idx="5">
                  <c:v>48</c:v>
                </c:pt>
                <c:pt idx="6">
                  <c:v>44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C88-4146-AD7C-B0408F29189D}"/>
            </c:ext>
          </c:extLst>
        </c:ser>
        <c:dLbls>
          <c:dLblPos val="outEnd"/>
          <c:showLegendKey val="0"/>
          <c:showVal val="1"/>
          <c:showCatName val="0"/>
          <c:showSerName val="0"/>
          <c:showPercent val="0"/>
          <c:showBubbleSize val="0"/>
        </c:dLbls>
        <c:gapWidth val="65"/>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sz="1650">
                <a:solidFill>
                  <a:srgbClr val="102C3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120"/>
          <c:min val="0"/>
        </c:scaling>
        <c:delete val="0"/>
        <c:axPos val="b"/>
        <c:majorGridlines>
          <c:spPr>
            <a:ln w="9525">
              <a:solidFill>
                <a:srgbClr val="DEE6E2"/>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547078"/>
                </a:solidFill>
                <a:latin typeface="Arial"/>
                <a:ea typeface="Arial"/>
                <a:cs typeface="Arial"/>
              </a:defRPr>
            </a:pPr>
            <a:endParaRPr lang="en-US"/>
          </a:p>
        </c:txPr>
        <c:crossAx val="48650112"/>
        <c:crosses val="autoZero"/>
        <c:crossBetween val="between"/>
        <c:majorUnit val="40"/>
      </c:valAx>
      <c:spPr>
        <a:solidFill>
          <a:srgbClr val="F5F4EF"/>
        </a:solidFill>
      </c:spPr>
    </c:plotArea>
    <c:plotVisOnly val="1"/>
    <c:dispBlanksAs val="zero"/>
    <c:showDLblsOverMax val="1"/>
  </c:chart>
  <c:spPr>
    <a:solidFill>
      <a:srgbClr val="F5F4E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pitch: "Before we dive in, here's the live link so you can follow along: wolf-day-damage.vercel.app/dashboard. I'll walk you through what we built, then we'll review the dashboard together — it's designed for the workshop mechanic."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 seconds. The AI fills a strict schema and must keep a German excerpt justifying each damage. The closed vocabulary links a part and its side to the visualisation. Statuses come from structured data. An explicit action in the note takes priority; otherwise, rules propose the operations. Remove-and-install (R&amp;I) uses a dependency table — it separates a damaged part from a neighbouring part that must be taken off. The per-case cache avoids redoing successful calls. Failures are flagged; calls retry with increasing back-off. Passing format validation does not prove the meaning is correct.</a:t>
            </a:r>
          </a:p>
          <a:p/>
          <a:p>
            <a:r>
              <a:t>Local sources:</a:t>
            </a:r>
          </a:p>
          <a:p>
            <a:r>
              <a:t>Work/pipeline/extract.py</a:t>
            </a:r>
          </a:p>
          <a:p>
            <a:r>
              <a:t>Work/pipeline/schema.py</a:t>
            </a:r>
          </a:p>
          <a:p>
            <a:r>
              <a:t>Work/pipeline/repair_logic.py</a:t>
            </a:r>
          </a:p>
          <a:p>
            <a:r>
              <a:t>Work/pipeline/build_dataset.py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seconds. Show the German sentence before the colours. The note says the windscreen cannot be repaired and needs replacing. The windscreen shows orange, which here matches the extracted medium severity. Blue marks a trim piece to remove and reinstall per the business rule, not a second damage. This example is from the development pilot: it illustrates how it works, not proof of generalisation. The prototype also has a 3D view, but the capture uses the 2D view, clearer for explaining the data-to-zone link. Local demo: /dashboard/cases/820002/.</a:t>
            </a:r>
          </a:p>
          <a:p/>
          <a:p>
            <a:r>
              <a:t>Local sources:</a:t>
            </a:r>
          </a:p>
          <a:p>
            <a:r>
              <a:t>Data/frontend/public/data/cases.json</a:t>
            </a:r>
          </a:p>
          <a:p>
            <a:r>
              <a:t>Data/frontend/src/sections/damage/car-diagram.tsx</a:t>
            </a:r>
          </a:p>
          <a:p>
            <a:r>
              <a:t>Work/pipeline/repair_logic.py</a:t>
            </a:r>
          </a:p>
          <a:p>
            <a:r>
              <a:t>Work/pipeline/ml_common.py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seconds. The corpus has 550 service cases and 450 damage cases. Among the latter, 110 are parking and 76 are manoeuvring, i.e. 186/450 = 41.3%. A business angle would be to look at their bodywork load, but we do not measure an operational gain here. The 668 cases on the open worklist have a median age of 150 days as of 18 September 2026. That is time since creation, not repair time, and some statuses may need checking. The observations describe this synthetic set, with no extrapolation to the market. The source notes stay in German.</a:t>
            </a:r>
          </a:p>
          <a:p/>
          <a:p>
            <a:r>
              <a:t>Local sources:</a:t>
            </a:r>
          </a:p>
          <a:p>
            <a:r>
              <a:t>Data/frontend/public/data/aggregates.json</a:t>
            </a:r>
          </a:p>
          <a:p>
            <a:r>
              <a:t>Work/pipeline/build_dataset.py</a:t>
            </a:r>
          </a:p>
          <a:p>
            <a:r>
              <a:t>Dataset/DATASET.md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seconds. Two protocols appear here. On the left, the DeepSeek extraction is evaluated on 977 cases, excluding the 3 prompt examples and the 20 pilot cases. Zones give 751 true positives, zero false positives and one false negative — an F1 of 99.93%. Case kind reaches 100%. Insurance reaches 100% on the 434 damage cases of this test. DeepSeek severity on those 434 cases is 68.7%, not to be compared directly with the table on the right. On the right, every model uses exactly the same 150 held-out ids for severity. The supervised models have 284 training examples. Verified counts: XGBoost 123/150, gbert 118/150, logistic regression 110/150, DeepSeek 109/150, LightGBM 98/150. These results describe a single split of the synthetic corpus. Recurring phrasings limit their reach. The lexical baseline also reaches 100% F1 on the zones of this corpus — so the scores do not prove a universal superiority of the LLM.</a:t>
            </a:r>
          </a:p>
          <a:p/>
          <a:p>
            <a:r>
              <a:t>Local sources:</a:t>
            </a:r>
          </a:p>
          <a:p>
            <a:r>
              <a:t>Work/pipeline/eval_report.json</a:t>
            </a:r>
          </a:p>
          <a:p>
            <a:r>
              <a:t>Work/pipeline/ml_split.json</a:t>
            </a:r>
          </a:p>
          <a:p>
            <a:r>
              <a:t>Work/pipeline/gbert_result.json</a:t>
            </a:r>
          </a:p>
          <a:p>
            <a:r>
              <a:t>Data/frontend/public/data/model_comparison.json</a:t>
            </a:r>
          </a:p>
          <a:p>
            <a:r>
              <a:t>Work/pipeline/train_cpu_models.py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seconds. Be explicit about the limits: the corpus is synthetic and reuses phrasings. Test ids are separate, but close phrasings can appear on both sides of the split. Validation by phrasing family, then on real notes, would be more convincing. The report shows the same stone-chip sentence can carry several severities. It estimates a 79.5% score for a text-fingerprint match on the full damage set: that estimate is specific to its method and scope, not a universal bound for the 150-case test (where the same method gives ~88.7%). We do not oppose it to XGBoost's 82%. Verbatim quotes and Pydantic enable auditing but do not guarantee semantic correctness. The R&amp;I and replacement rules have no ground-truth labels in this set. Next steps: measure latency and real cost, plus external validation on real notes. No financial figure is claimed.</a:t>
            </a:r>
          </a:p>
          <a:p/>
          <a:p>
            <a:r>
              <a:t>Local sources:</a:t>
            </a:r>
          </a:p>
          <a:p>
            <a:r>
              <a:t>docs/jury-reliability-report.md</a:t>
            </a:r>
          </a:p>
          <a:p>
            <a:r>
              <a:t>Work/pipeline/repair_logic.py</a:t>
            </a:r>
          </a:p>
          <a:p>
            <a:r>
              <a:t>Dataset/DATASET.md</a:t>
            </a:r>
          </a:p>
          <a:p>
            <a:r>
              <a:t>Work/pipeline/eval_report.json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C36"/>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B672F4F-FC53-4090-86C4-98E4434BC7BD}"/>
              </a:ext>
            </a:extLst>
          </p:cNvPr>
          <p:cNvSpPr>
            <a:spLocks noGrp="1"/>
          </p:cNvSpPr>
          <p:nvPr/>
        </p:nvSpPr>
        <p:spPr>
          <a:xfrm>
            <a:off x="609600" y="409575"/>
            <a:ext cx="10953750" cy="714375"/>
          </a:xfrm>
          <a:prstGeom prst="rect">
            <a:avLst/>
          </a:prstGeom>
          <a:noFill/>
          <a:ln w="0">
            <a:noFill/>
          </a:ln>
        </p:spPr>
        <p:txBody>
          <a:bodyPr>
            <a:noAutofit/>
          </a:bodyPr>
          <a:lstStyle/>
          <a:p>
            <a:pPr>
              <a:defRPr sz="4800" b="1">
                <a:solidFill>
                  <a:srgbClr val="FFFFFF"/>
                </a:solidFill>
                <a:latin typeface="Arial"/>
                <a:ea typeface="Arial"/>
                <a:cs typeface="Arial"/>
              </a:defRPr>
            </a:pPr>
            <a:r>
              <a:rPr sz="4800" b="1">
                <a:solidFill>
                  <a:srgbClr val="FFFFFF"/>
                </a:solidFill>
                <a:latin typeface="Arial"/>
                <a:ea typeface="Arial"/>
                <a:cs typeface="Arial"/>
              </a:rPr>
              <a:t>Damage Intelligence</a:t>
            </a:r>
          </a:p>
        </p:txBody>
      </p:sp>
      <p:sp>
        <p:nvSpPr>
          <p:cNvPr id="2" name="Rectangle 1">
            <a:extLst>
              <a:ext uri="{FF2B5EF4-FFF2-40B4-BE49-F238E27FC236}">
                <a16:creationId xmlns:a16="http://schemas.microsoft.com/office/drawing/2014/main" id="{E90DD583-8423-4710-BBD5-3C5879F001DD}"/>
              </a:ext>
            </a:extLst>
          </p:cNvPr>
          <p:cNvSpPr>
            <a:spLocks noGrp="1"/>
          </p:cNvSpPr>
          <p:nvPr/>
        </p:nvSpPr>
        <p:spPr>
          <a:xfrm>
            <a:off x="11144250" y="6324600"/>
            <a:ext cx="476250" cy="285750"/>
          </a:xfrm>
          <a:prstGeom prst="rect">
            <a:avLst/>
          </a:prstGeom>
          <a:noFill/>
          <a:ln w="0">
            <a:noFill/>
          </a:ln>
        </p:spPr>
        <p:txBody>
          <a:bodyPr>
            <a:noAutofit/>
          </a:bodyPr>
          <a:lstStyle/>
          <a:p>
            <a:pPr>
              <a:defRPr sz="1350" b="0">
                <a:solidFill>
                  <a:srgbClr val="547078"/>
                </a:solidFill>
                <a:latin typeface="Arial"/>
                <a:ea typeface="Arial"/>
                <a:cs typeface="Arial"/>
              </a:defRPr>
            </a:pPr>
            <a:r>
              <a:rPr sz="1350" b="0">
                <a:solidFill>
                  <a:srgbClr val="547078"/>
                </a:solidFill>
                <a:latin typeface="Arial"/>
                <a:ea typeface="Arial"/>
                <a:cs typeface="Arial"/>
              </a:rPr>
              <a:t>01</a:t>
            </a:r>
          </a:p>
        </p:txBody>
      </p:sp>
      <p:sp>
        <p:nvSpPr>
          <p:cNvPr id="3" name="Rectangle 2">
            <a:extLst>
              <a:ext uri="{FF2B5EF4-FFF2-40B4-BE49-F238E27FC236}">
                <a16:creationId xmlns:a16="http://schemas.microsoft.com/office/drawing/2014/main" id="{EC670042-1743-4526-83E4-614F385CA364}"/>
              </a:ext>
            </a:extLst>
          </p:cNvPr>
          <p:cNvSpPr>
            <a:spLocks noGrp="1"/>
          </p:cNvSpPr>
          <p:nvPr/>
        </p:nvSpPr>
        <p:spPr>
          <a:xfrm>
            <a:off x="609600" y="1885950"/>
            <a:ext cx="5857875" cy="1485900"/>
          </a:xfrm>
          <a:prstGeom prst="rect">
            <a:avLst/>
          </a:prstGeom>
          <a:noFill/>
          <a:ln w="0">
            <a:noFill/>
          </a:ln>
        </p:spPr>
        <p:txBody>
          <a:bodyPr>
            <a:noAutofit/>
          </a:bodyPr>
          <a:lstStyle/>
          <a:p>
            <a:pPr>
              <a:defRPr sz="3600" b="1">
                <a:solidFill>
                  <a:srgbClr val="FFFFFF"/>
                </a:solidFill>
                <a:latin typeface="Arial"/>
                <a:ea typeface="Arial"/>
                <a:cs typeface="Arial"/>
              </a:defRPr>
            </a:pPr>
            <a:r>
              <a:rPr sz="3600" b="1" dirty="0">
                <a:solidFill>
                  <a:srgbClr val="FFFFFF"/>
                </a:solidFill>
                <a:latin typeface="Arial"/>
                <a:ea typeface="Arial"/>
                <a:cs typeface="Arial"/>
              </a:rPr>
              <a:t>Reading messy German workshop notes,</a:t>
            </a:r>
          </a:p>
          <a:p>
            <a:pPr>
              <a:defRPr sz="3600" b="1">
                <a:solidFill>
                  <a:srgbClr val="FFFFFF"/>
                </a:solidFill>
                <a:latin typeface="Arial"/>
                <a:ea typeface="Arial"/>
                <a:cs typeface="Arial"/>
              </a:defRPr>
            </a:pPr>
            <a:r>
              <a:rPr sz="3600" b="1" dirty="0">
                <a:solidFill>
                  <a:srgbClr val="FFFFFF"/>
                </a:solidFill>
                <a:latin typeface="Arial"/>
                <a:ea typeface="Arial"/>
                <a:cs typeface="Arial"/>
              </a:rPr>
              <a:t>one case at a time</a:t>
            </a:r>
          </a:p>
        </p:txBody>
      </p:sp>
      <p:sp>
        <p:nvSpPr>
          <p:cNvPr id="4" name="Rectangle 3">
            <a:extLst>
              <a:ext uri="{FF2B5EF4-FFF2-40B4-BE49-F238E27FC236}">
                <a16:creationId xmlns:a16="http://schemas.microsoft.com/office/drawing/2014/main" id="{C7BEB761-EA07-4F19-8B4C-76BCE8485B99}"/>
              </a:ext>
            </a:extLst>
          </p:cNvPr>
          <p:cNvSpPr>
            <a:spLocks noGrp="1"/>
          </p:cNvSpPr>
          <p:nvPr/>
        </p:nvSpPr>
        <p:spPr>
          <a:xfrm>
            <a:off x="504825" y="4057650"/>
            <a:ext cx="10001250" cy="952500"/>
          </a:xfrm>
          <a:prstGeom prst="rect">
            <a:avLst/>
          </a:prstGeom>
          <a:noFill/>
          <a:ln w="0">
            <a:noFill/>
          </a:ln>
        </p:spPr>
        <p:txBody>
          <a:bodyPr>
            <a:noAutofit/>
          </a:bodyPr>
          <a:lstStyle/>
          <a:p>
            <a:pPr>
              <a:defRPr sz="2325" b="0">
                <a:solidFill>
                  <a:srgbClr val="B9D7D4"/>
                </a:solidFill>
                <a:latin typeface="Arial"/>
                <a:ea typeface="Arial"/>
                <a:cs typeface="Arial"/>
              </a:defRPr>
            </a:pPr>
            <a:r>
              <a:rPr lang="en-US" sz="2325" b="0" dirty="0">
                <a:solidFill>
                  <a:srgbClr val="B9D7D4"/>
                </a:solidFill>
                <a:latin typeface="Arial"/>
                <a:ea typeface="Arial"/>
                <a:cs typeface="Arial"/>
              </a:rPr>
              <a:t>A visual damage sheet per vehicle,</a:t>
            </a:r>
          </a:p>
          <a:p>
            <a:pPr>
              <a:defRPr sz="2325" b="0">
                <a:solidFill>
                  <a:srgbClr val="B9D7D4"/>
                </a:solidFill>
                <a:latin typeface="Arial"/>
                <a:ea typeface="Arial"/>
                <a:cs typeface="Arial"/>
              </a:defRPr>
            </a:pPr>
            <a:r>
              <a:rPr lang="en-US" sz="2325" b="0" dirty="0">
                <a:solidFill>
                  <a:srgbClr val="B9D7D4"/>
                </a:solidFill>
                <a:latin typeface="Arial"/>
                <a:ea typeface="Arial"/>
                <a:cs typeface="Arial"/>
              </a:rPr>
              <a:t>and an operational read on 1,000 dealership cases</a:t>
            </a:r>
          </a:p>
        </p:txBody>
      </p:sp>
      <p:sp>
        <p:nvSpPr>
          <p:cNvPr id="5" name="Rectangle 4">
            <a:extLst>
              <a:ext uri="{FF2B5EF4-FFF2-40B4-BE49-F238E27FC236}">
                <a16:creationId xmlns:a16="http://schemas.microsoft.com/office/drawing/2014/main" id="{A559B5E8-9CB7-41EA-AFE7-B2B2EEE9E7E2}"/>
              </a:ext>
            </a:extLst>
          </p:cNvPr>
          <p:cNvSpPr>
            <a:spLocks noGrp="1"/>
          </p:cNvSpPr>
          <p:nvPr/>
        </p:nvSpPr>
        <p:spPr>
          <a:xfrm>
            <a:off x="609600" y="5267325"/>
            <a:ext cx="8572500" cy="457200"/>
          </a:xfrm>
          <a:prstGeom prst="rect">
            <a:avLst/>
          </a:prstGeom>
          <a:noFill/>
          <a:ln w="0">
            <a:noFill/>
          </a:ln>
        </p:spPr>
        <p:txBody>
          <a:bodyPr>
            <a:noAutofit/>
          </a:bodyPr>
          <a:lstStyle/>
          <a:p>
            <a:pPr>
              <a:defRPr sz="2550" b="1">
                <a:solidFill>
                  <a:srgbClr val="64D4BF"/>
                </a:solidFill>
                <a:latin typeface="Arial"/>
                <a:ea typeface="Arial"/>
                <a:cs typeface="Arial"/>
              </a:defRPr>
            </a:pPr>
            <a:r>
              <a:rPr sz="2550" b="1" dirty="0">
                <a:solidFill>
                  <a:srgbClr val="64D4BF"/>
                </a:solidFill>
                <a:latin typeface="Arial"/>
                <a:ea typeface="Arial"/>
                <a:cs typeface="Arial"/>
              </a:rPr>
              <a:t>1,000 synthetic cases · German kept in German</a:t>
            </a:r>
          </a:p>
        </p:txBody>
      </p:sp>
      <p:sp>
        <p:nvSpPr>
          <p:cNvPr id="6" name="Rectangle 5">
            <a:extLst>
              <a:ext uri="{FF2B5EF4-FFF2-40B4-BE49-F238E27FC236}">
                <a16:creationId xmlns:a16="http://schemas.microsoft.com/office/drawing/2014/main" id="{48B40988-B505-4F64-8226-EBD18CC71F5E}"/>
              </a:ext>
            </a:extLst>
          </p:cNvPr>
          <p:cNvSpPr>
            <a:spLocks noGrp="1"/>
          </p:cNvSpPr>
          <p:nvPr/>
        </p:nvSpPr>
        <p:spPr>
          <a:xfrm>
            <a:off x="609600" y="5981700"/>
            <a:ext cx="10001250" cy="333375"/>
          </a:xfrm>
          <a:prstGeom prst="rect">
            <a:avLst/>
          </a:prstGeom>
          <a:noFill/>
          <a:ln w="0">
            <a:noFill/>
          </a:ln>
        </p:spPr>
        <p:txBody>
          <a:bodyPr>
            <a:noAutofit/>
          </a:bodyPr>
          <a:lstStyle/>
          <a:p>
            <a:pPr>
              <a:defRPr sz="1650" b="0">
                <a:solidFill>
                  <a:srgbClr val="B9D7D4"/>
                </a:solidFill>
                <a:latin typeface="Arial"/>
                <a:ea typeface="Arial"/>
                <a:cs typeface="Arial"/>
              </a:defRPr>
            </a:pPr>
            <a:r>
              <a:rPr sz="1650" b="0" dirty="0">
                <a:solidFill>
                  <a:srgbClr val="B9D7D4"/>
                </a:solidFill>
                <a:latin typeface="Arial"/>
                <a:ea typeface="Arial"/>
                <a:cs typeface="Arial"/>
              </a:rPr>
              <a:t>Wolf Day · </a:t>
            </a:r>
            <a:r>
              <a:rPr sz="1650" b="0" dirty="0" err="1">
                <a:solidFill>
                  <a:srgbClr val="B9D7D4"/>
                </a:solidFill>
                <a:latin typeface="Arial"/>
                <a:ea typeface="Arial"/>
                <a:cs typeface="Arial"/>
              </a:rPr>
              <a:t>DaiL</a:t>
            </a:r>
            <a:r>
              <a:rPr sz="1650" b="0" dirty="0">
                <a:solidFill>
                  <a:srgbClr val="B9D7D4"/>
                </a:solidFill>
                <a:latin typeface="Arial"/>
                <a:ea typeface="Arial"/>
                <a:cs typeface="Arial"/>
              </a:rPr>
              <a:t> · Track B</a:t>
            </a:r>
          </a:p>
        </p:txBody>
      </p:sp>
      <p:pic>
        <p:nvPicPr>
          <p:cNvPr id="8" name="Image 7">
            <a:extLst>
              <a:ext uri="{FF2B5EF4-FFF2-40B4-BE49-F238E27FC236}">
                <a16:creationId xmlns:a16="http://schemas.microsoft.com/office/drawing/2014/main" id="{49A1DE2D-ECFD-4694-BD6D-316D7186F7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00962" y="1123950"/>
            <a:ext cx="3862388" cy="3862388"/>
          </a:xfrm>
          <a:prstGeom prst="rect">
            <a:avLst/>
          </a:prstGeom>
        </p:spPr>
      </p:pic>
    </p:spTree>
    <p:extLst>
      <p:ext uri="{BB962C8B-B14F-4D97-AF65-F5344CB8AC3E}">
        <p14:creationId xmlns:p14="http://schemas.microsoft.com/office/powerpoint/2010/main" val="1414999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7BDACD64-46C6-49A3-A770-9769CE4D17FE}"/>
              </a:ext>
            </a:extLst>
          </p:cNvPr>
          <p:cNvSpPr>
            <a:spLocks noGrp="1"/>
          </p:cNvSpPr>
          <p:nvPr/>
        </p:nvSpPr>
        <p:spPr>
          <a:xfrm>
            <a:off x="609600" y="409575"/>
            <a:ext cx="10953750" cy="714375"/>
          </a:xfrm>
          <a:prstGeom prst="rect">
            <a:avLst/>
          </a:prstGeom>
          <a:noFill/>
          <a:ln w="0">
            <a:noFill/>
          </a:ln>
        </p:spPr>
        <p:txBody>
          <a:bodyPr>
            <a:noAutofit/>
          </a:bodyPr>
          <a:lstStyle/>
          <a:p>
            <a:pPr>
              <a:defRPr sz="3225" b="1">
                <a:solidFill>
                  <a:srgbClr val="102C36"/>
                </a:solidFill>
                <a:latin typeface="Arial"/>
                <a:ea typeface="Arial"/>
                <a:cs typeface="Arial"/>
              </a:defRPr>
            </a:pPr>
            <a:r>
              <a:rPr sz="3225" b="1">
                <a:solidFill>
                  <a:srgbClr val="102C36"/>
                </a:solidFill>
                <a:latin typeface="Arial"/>
                <a:ea typeface="Arial"/>
                <a:cs typeface="Arial"/>
              </a:rPr>
              <a:t>One extraction feeds both deliverables</a:t>
            </a:r>
          </a:p>
        </p:txBody>
      </p:sp>
      <p:sp>
        <p:nvSpPr>
          <p:cNvPr id="2" name="Rectangle 1">
            <a:extLst>
              <a:ext uri="{FF2B5EF4-FFF2-40B4-BE49-F238E27FC236}">
                <a16:creationId xmlns:a16="http://schemas.microsoft.com/office/drawing/2014/main" id="{3EA85EF9-7674-495A-ACED-C3C810E7EB39}"/>
              </a:ext>
            </a:extLst>
          </p:cNvPr>
          <p:cNvSpPr>
            <a:spLocks noGrp="1"/>
          </p:cNvSpPr>
          <p:nvPr/>
        </p:nvSpPr>
        <p:spPr>
          <a:xfrm>
            <a:off x="11144250" y="6324600"/>
            <a:ext cx="476250" cy="285750"/>
          </a:xfrm>
          <a:prstGeom prst="rect">
            <a:avLst/>
          </a:prstGeom>
          <a:noFill/>
          <a:ln w="0">
            <a:noFill/>
          </a:ln>
        </p:spPr>
        <p:txBody>
          <a:bodyPr>
            <a:noAutofit/>
          </a:bodyPr>
          <a:lstStyle/>
          <a:p>
            <a:pPr>
              <a:defRPr sz="1350" b="0">
                <a:solidFill>
                  <a:srgbClr val="547078"/>
                </a:solidFill>
                <a:latin typeface="Arial"/>
                <a:ea typeface="Arial"/>
                <a:cs typeface="Arial"/>
              </a:defRPr>
            </a:pPr>
            <a:r>
              <a:rPr sz="1350" b="0">
                <a:solidFill>
                  <a:srgbClr val="547078"/>
                </a:solidFill>
                <a:latin typeface="Arial"/>
                <a:ea typeface="Arial"/>
                <a:cs typeface="Arial"/>
              </a:rPr>
              <a:t>02</a:t>
            </a:r>
          </a:p>
        </p:txBody>
      </p:sp>
      <p:sp>
        <p:nvSpPr>
          <p:cNvPr id="3" name="Rectangle 2">
            <a:extLst>
              <a:ext uri="{FF2B5EF4-FFF2-40B4-BE49-F238E27FC236}">
                <a16:creationId xmlns:a16="http://schemas.microsoft.com/office/drawing/2014/main" id="{AFE3D03B-DF02-4B5C-A3F5-4CC846EE9AD8}"/>
              </a:ext>
            </a:extLst>
          </p:cNvPr>
          <p:cNvSpPr>
            <a:spLocks noGrp="1"/>
          </p:cNvSpPr>
          <p:nvPr/>
        </p:nvSpPr>
        <p:spPr>
          <a:xfrm>
            <a:off x="609600" y="1524000"/>
            <a:ext cx="666750" cy="523875"/>
          </a:xfrm>
          <a:prstGeom prst="rect">
            <a:avLst/>
          </a:prstGeom>
          <a:noFill/>
          <a:ln w="0">
            <a:noFill/>
          </a:ln>
        </p:spPr>
        <p:txBody>
          <a:bodyPr>
            <a:noAutofit/>
          </a:bodyPr>
          <a:lstStyle/>
          <a:p>
            <a:pPr>
              <a:defRPr sz="2925" b="1">
                <a:solidFill>
                  <a:srgbClr val="007F75"/>
                </a:solidFill>
                <a:latin typeface="Arial"/>
                <a:ea typeface="Arial"/>
                <a:cs typeface="Arial"/>
              </a:defRPr>
            </a:pPr>
            <a:r>
              <a:rPr sz="2925" b="1">
                <a:solidFill>
                  <a:srgbClr val="007F75"/>
                </a:solidFill>
                <a:latin typeface="Arial"/>
                <a:ea typeface="Arial"/>
                <a:cs typeface="Arial"/>
              </a:rPr>
              <a:t>01</a:t>
            </a:r>
          </a:p>
        </p:txBody>
      </p:sp>
      <p:sp>
        <p:nvSpPr>
          <p:cNvPr id="4" name="Rectangle 3">
            <a:extLst>
              <a:ext uri="{FF2B5EF4-FFF2-40B4-BE49-F238E27FC236}">
                <a16:creationId xmlns:a16="http://schemas.microsoft.com/office/drawing/2014/main" id="{8014000B-D2D6-4796-A1E6-1E618D136650}"/>
              </a:ext>
            </a:extLst>
          </p:cNvPr>
          <p:cNvSpPr>
            <a:spLocks noGrp="1"/>
          </p:cNvSpPr>
          <p:nvPr/>
        </p:nvSpPr>
        <p:spPr>
          <a:xfrm>
            <a:off x="1466850" y="1524000"/>
            <a:ext cx="4286250" cy="457200"/>
          </a:xfrm>
          <a:prstGeom prst="rect">
            <a:avLst/>
          </a:prstGeom>
          <a:noFill/>
          <a:ln w="0">
            <a:noFill/>
          </a:ln>
        </p:spPr>
        <p:txBody>
          <a:bodyPr>
            <a:noAutofit/>
          </a:bodyPr>
          <a:lstStyle/>
          <a:p>
            <a:pPr>
              <a:defRPr sz="2175" b="1">
                <a:solidFill>
                  <a:srgbClr val="102C36"/>
                </a:solidFill>
                <a:latin typeface="Arial"/>
                <a:ea typeface="Arial"/>
                <a:cs typeface="Arial"/>
              </a:defRPr>
            </a:pPr>
            <a:r>
              <a:rPr sz="2175" b="1">
                <a:solidFill>
                  <a:srgbClr val="102C36"/>
                </a:solidFill>
                <a:latin typeface="Arial"/>
                <a:ea typeface="Arial"/>
                <a:cs typeface="Arial"/>
              </a:rPr>
              <a:t>German note</a:t>
            </a:r>
          </a:p>
        </p:txBody>
      </p:sp>
      <p:sp>
        <p:nvSpPr>
          <p:cNvPr id="5" name="Rectangle 4">
            <a:extLst>
              <a:ext uri="{FF2B5EF4-FFF2-40B4-BE49-F238E27FC236}">
                <a16:creationId xmlns:a16="http://schemas.microsoft.com/office/drawing/2014/main" id="{F586B2EF-AE83-4759-A5FD-D7F0B078C278}"/>
              </a:ext>
            </a:extLst>
          </p:cNvPr>
          <p:cNvSpPr>
            <a:spLocks noGrp="1"/>
          </p:cNvSpPr>
          <p:nvPr/>
        </p:nvSpPr>
        <p:spPr>
          <a:xfrm>
            <a:off x="1466850" y="1981200"/>
            <a:ext cx="9620250" cy="457200"/>
          </a:xfrm>
          <a:prstGeom prst="rect">
            <a:avLst/>
          </a:prstGeom>
          <a:noFill/>
          <a:ln w="0">
            <a:noFill/>
          </a:ln>
        </p:spPr>
        <p:txBody>
          <a:bodyPr>
            <a:noAutofit/>
          </a:bodyPr>
          <a:lstStyle/>
          <a:p>
            <a:pPr>
              <a:defRPr sz="1875" b="0">
                <a:solidFill>
                  <a:srgbClr val="547078"/>
                </a:solidFill>
                <a:latin typeface="Arial"/>
                <a:ea typeface="Arial"/>
                <a:cs typeface="Arial"/>
              </a:defRPr>
            </a:pPr>
            <a:r>
              <a:rPr sz="1875" b="0">
                <a:solidFill>
                  <a:srgbClr val="547078"/>
                </a:solidFill>
                <a:latin typeface="Arial"/>
                <a:ea typeface="Arial"/>
                <a:cs typeface="Arial"/>
              </a:rPr>
              <a:t>DeepSeek reads one note and fills a strict form: parts, side, damage, severity — with a verbatim quote for each.</a:t>
            </a:r>
          </a:p>
        </p:txBody>
      </p:sp>
      <p:sp>
        <p:nvSpPr>
          <p:cNvPr id="6" name="Rectangle 5">
            <a:extLst>
              <a:ext uri="{FF2B5EF4-FFF2-40B4-BE49-F238E27FC236}">
                <a16:creationId xmlns:a16="http://schemas.microsoft.com/office/drawing/2014/main" id="{9D4244CA-27DC-40D6-8AFA-08C4F3B00560}"/>
              </a:ext>
            </a:extLst>
          </p:cNvPr>
          <p:cNvSpPr>
            <a:spLocks noGrp="1"/>
          </p:cNvSpPr>
          <p:nvPr/>
        </p:nvSpPr>
        <p:spPr>
          <a:xfrm>
            <a:off x="609600" y="2571750"/>
            <a:ext cx="666750" cy="523875"/>
          </a:xfrm>
          <a:prstGeom prst="rect">
            <a:avLst/>
          </a:prstGeom>
          <a:noFill/>
          <a:ln w="0">
            <a:noFill/>
          </a:ln>
        </p:spPr>
        <p:txBody>
          <a:bodyPr>
            <a:noAutofit/>
          </a:bodyPr>
          <a:lstStyle/>
          <a:p>
            <a:pPr>
              <a:defRPr sz="2925" b="1">
                <a:solidFill>
                  <a:srgbClr val="007F75"/>
                </a:solidFill>
                <a:latin typeface="Arial"/>
                <a:ea typeface="Arial"/>
                <a:cs typeface="Arial"/>
              </a:defRPr>
            </a:pPr>
            <a:r>
              <a:rPr sz="2925" b="1">
                <a:solidFill>
                  <a:srgbClr val="007F75"/>
                </a:solidFill>
                <a:latin typeface="Arial"/>
                <a:ea typeface="Arial"/>
                <a:cs typeface="Arial"/>
              </a:rPr>
              <a:t>02</a:t>
            </a:r>
          </a:p>
        </p:txBody>
      </p:sp>
      <p:sp>
        <p:nvSpPr>
          <p:cNvPr id="7" name="Rectangle 6">
            <a:extLst>
              <a:ext uri="{FF2B5EF4-FFF2-40B4-BE49-F238E27FC236}">
                <a16:creationId xmlns:a16="http://schemas.microsoft.com/office/drawing/2014/main" id="{FD7984A3-654D-4EEF-B0A6-A9F86F939C77}"/>
              </a:ext>
            </a:extLst>
          </p:cNvPr>
          <p:cNvSpPr>
            <a:spLocks noGrp="1"/>
          </p:cNvSpPr>
          <p:nvPr/>
        </p:nvSpPr>
        <p:spPr>
          <a:xfrm>
            <a:off x="1466850" y="2571750"/>
            <a:ext cx="4286250" cy="457200"/>
          </a:xfrm>
          <a:prstGeom prst="rect">
            <a:avLst/>
          </a:prstGeom>
          <a:noFill/>
          <a:ln w="0">
            <a:noFill/>
          </a:ln>
        </p:spPr>
        <p:txBody>
          <a:bodyPr>
            <a:noAutofit/>
          </a:bodyPr>
          <a:lstStyle/>
          <a:p>
            <a:pPr>
              <a:defRPr sz="2175" b="1">
                <a:solidFill>
                  <a:srgbClr val="102C36"/>
                </a:solidFill>
                <a:latin typeface="Arial"/>
                <a:ea typeface="Arial"/>
                <a:cs typeface="Arial"/>
              </a:defRPr>
            </a:pPr>
            <a:r>
              <a:rPr sz="2175" b="1">
                <a:solidFill>
                  <a:srgbClr val="102C36"/>
                </a:solidFill>
                <a:latin typeface="Arial"/>
                <a:ea typeface="Arial"/>
                <a:cs typeface="Arial"/>
              </a:rPr>
              <a:t>Validated JSON</a:t>
            </a:r>
          </a:p>
        </p:txBody>
      </p:sp>
      <p:sp>
        <p:nvSpPr>
          <p:cNvPr id="8" name="Rectangle 7">
            <a:extLst>
              <a:ext uri="{FF2B5EF4-FFF2-40B4-BE49-F238E27FC236}">
                <a16:creationId xmlns:a16="http://schemas.microsoft.com/office/drawing/2014/main" id="{BA85B0F8-E75F-48ED-867C-D45A8B045F24}"/>
              </a:ext>
            </a:extLst>
          </p:cNvPr>
          <p:cNvSpPr>
            <a:spLocks noGrp="1"/>
          </p:cNvSpPr>
          <p:nvPr/>
        </p:nvSpPr>
        <p:spPr>
          <a:xfrm>
            <a:off x="1466850" y="3028950"/>
            <a:ext cx="9620250" cy="457200"/>
          </a:xfrm>
          <a:prstGeom prst="rect">
            <a:avLst/>
          </a:prstGeom>
          <a:noFill/>
          <a:ln w="0">
            <a:noFill/>
          </a:ln>
        </p:spPr>
        <p:txBody>
          <a:bodyPr>
            <a:noAutofit/>
          </a:bodyPr>
          <a:lstStyle/>
          <a:p>
            <a:pPr>
              <a:defRPr sz="1875" b="0">
                <a:solidFill>
                  <a:srgbClr val="547078"/>
                </a:solidFill>
                <a:latin typeface="Arial"/>
                <a:ea typeface="Arial"/>
                <a:cs typeface="Arial"/>
              </a:defRPr>
            </a:pPr>
            <a:r>
              <a:rPr sz="1875" b="0">
                <a:solidFill>
                  <a:srgbClr val="547078"/>
                </a:solidFill>
                <a:latin typeface="Arial"/>
                <a:ea typeface="Arial"/>
                <a:cs typeface="Arial"/>
              </a:rPr>
              <a:t>A Pydantic schema forces a closed vocabulary. Unmapped terms are flagged, never dropped.</a:t>
            </a:r>
          </a:p>
        </p:txBody>
      </p:sp>
      <p:sp>
        <p:nvSpPr>
          <p:cNvPr id="9" name="Rectangle 8">
            <a:extLst>
              <a:ext uri="{FF2B5EF4-FFF2-40B4-BE49-F238E27FC236}">
                <a16:creationId xmlns:a16="http://schemas.microsoft.com/office/drawing/2014/main" id="{5F9CFACF-D445-4E2E-B7B1-B02A24E597D2}"/>
              </a:ext>
            </a:extLst>
          </p:cNvPr>
          <p:cNvSpPr>
            <a:spLocks noGrp="1"/>
          </p:cNvSpPr>
          <p:nvPr/>
        </p:nvSpPr>
        <p:spPr>
          <a:xfrm>
            <a:off x="609600" y="3619500"/>
            <a:ext cx="666750" cy="523875"/>
          </a:xfrm>
          <a:prstGeom prst="rect">
            <a:avLst/>
          </a:prstGeom>
          <a:noFill/>
          <a:ln w="0">
            <a:noFill/>
          </a:ln>
        </p:spPr>
        <p:txBody>
          <a:bodyPr>
            <a:noAutofit/>
          </a:bodyPr>
          <a:lstStyle/>
          <a:p>
            <a:pPr>
              <a:defRPr sz="2925" b="1">
                <a:solidFill>
                  <a:srgbClr val="007F75"/>
                </a:solidFill>
                <a:latin typeface="Arial"/>
                <a:ea typeface="Arial"/>
                <a:cs typeface="Arial"/>
              </a:defRPr>
            </a:pPr>
            <a:r>
              <a:rPr sz="2925" b="1">
                <a:solidFill>
                  <a:srgbClr val="007F75"/>
                </a:solidFill>
                <a:latin typeface="Arial"/>
                <a:ea typeface="Arial"/>
                <a:cs typeface="Arial"/>
              </a:rPr>
              <a:t>03</a:t>
            </a:r>
          </a:p>
        </p:txBody>
      </p:sp>
      <p:sp>
        <p:nvSpPr>
          <p:cNvPr id="10" name="Rectangle 9">
            <a:extLst>
              <a:ext uri="{FF2B5EF4-FFF2-40B4-BE49-F238E27FC236}">
                <a16:creationId xmlns:a16="http://schemas.microsoft.com/office/drawing/2014/main" id="{E97C1399-AA0E-44C0-85F5-49CD917E0E6F}"/>
              </a:ext>
            </a:extLst>
          </p:cNvPr>
          <p:cNvSpPr>
            <a:spLocks noGrp="1"/>
          </p:cNvSpPr>
          <p:nvPr/>
        </p:nvSpPr>
        <p:spPr>
          <a:xfrm>
            <a:off x="1466850" y="3619500"/>
            <a:ext cx="4286250" cy="457200"/>
          </a:xfrm>
          <a:prstGeom prst="rect">
            <a:avLst/>
          </a:prstGeom>
          <a:noFill/>
          <a:ln w="0">
            <a:noFill/>
          </a:ln>
        </p:spPr>
        <p:txBody>
          <a:bodyPr>
            <a:noAutofit/>
          </a:bodyPr>
          <a:lstStyle/>
          <a:p>
            <a:pPr>
              <a:defRPr sz="2175" b="1">
                <a:solidFill>
                  <a:srgbClr val="102C36"/>
                </a:solidFill>
                <a:latin typeface="Arial"/>
                <a:ea typeface="Arial"/>
                <a:cs typeface="Arial"/>
              </a:defRPr>
            </a:pPr>
            <a:r>
              <a:rPr sz="2175" b="1">
                <a:solidFill>
                  <a:srgbClr val="102C36"/>
                </a:solidFill>
                <a:latin typeface="Arial"/>
                <a:ea typeface="Arial"/>
                <a:cs typeface="Arial"/>
              </a:rPr>
              <a:t>Repair rules</a:t>
            </a:r>
          </a:p>
        </p:txBody>
      </p:sp>
      <p:sp>
        <p:nvSpPr>
          <p:cNvPr id="11" name="Rectangle 10">
            <a:extLst>
              <a:ext uri="{FF2B5EF4-FFF2-40B4-BE49-F238E27FC236}">
                <a16:creationId xmlns:a16="http://schemas.microsoft.com/office/drawing/2014/main" id="{3ACE9503-9C91-4AE4-8F2E-EA959FB41D72}"/>
              </a:ext>
            </a:extLst>
          </p:cNvPr>
          <p:cNvSpPr>
            <a:spLocks noGrp="1"/>
          </p:cNvSpPr>
          <p:nvPr/>
        </p:nvSpPr>
        <p:spPr>
          <a:xfrm>
            <a:off x="1466850" y="4076700"/>
            <a:ext cx="9620250" cy="457200"/>
          </a:xfrm>
          <a:prstGeom prst="rect">
            <a:avLst/>
          </a:prstGeom>
          <a:noFill/>
          <a:ln w="0">
            <a:noFill/>
          </a:ln>
        </p:spPr>
        <p:txBody>
          <a:bodyPr>
            <a:noAutofit/>
          </a:bodyPr>
          <a:lstStyle/>
          <a:p>
            <a:pPr>
              <a:defRPr sz="1875" b="0">
                <a:solidFill>
                  <a:srgbClr val="547078"/>
                </a:solidFill>
                <a:latin typeface="Arial"/>
                <a:ea typeface="Arial"/>
                <a:cs typeface="Arial"/>
              </a:defRPr>
            </a:pPr>
            <a:r>
              <a:rPr sz="1875" b="0">
                <a:solidFill>
                  <a:srgbClr val="547078"/>
                </a:solidFill>
                <a:latin typeface="Arial"/>
                <a:ea typeface="Arial"/>
                <a:cs typeface="Arial"/>
              </a:rPr>
              <a:t>Replace, repair and remove-and-install come from deterministic code — no LLM guessing.</a:t>
            </a:r>
          </a:p>
        </p:txBody>
      </p:sp>
      <p:sp>
        <p:nvSpPr>
          <p:cNvPr id="12" name="Rectangle 11">
            <a:extLst>
              <a:ext uri="{FF2B5EF4-FFF2-40B4-BE49-F238E27FC236}">
                <a16:creationId xmlns:a16="http://schemas.microsoft.com/office/drawing/2014/main" id="{14A9B9E9-62E4-4237-AC2C-EB440953CEEC}"/>
              </a:ext>
            </a:extLst>
          </p:cNvPr>
          <p:cNvSpPr>
            <a:spLocks noGrp="1"/>
          </p:cNvSpPr>
          <p:nvPr/>
        </p:nvSpPr>
        <p:spPr>
          <a:xfrm>
            <a:off x="609600" y="4667250"/>
            <a:ext cx="666750" cy="523875"/>
          </a:xfrm>
          <a:prstGeom prst="rect">
            <a:avLst/>
          </a:prstGeom>
          <a:noFill/>
          <a:ln w="0">
            <a:noFill/>
          </a:ln>
        </p:spPr>
        <p:txBody>
          <a:bodyPr>
            <a:noAutofit/>
          </a:bodyPr>
          <a:lstStyle/>
          <a:p>
            <a:pPr>
              <a:defRPr sz="2925" b="1">
                <a:solidFill>
                  <a:srgbClr val="007F75"/>
                </a:solidFill>
                <a:latin typeface="Arial"/>
                <a:ea typeface="Arial"/>
                <a:cs typeface="Arial"/>
              </a:defRPr>
            </a:pPr>
            <a:r>
              <a:rPr sz="2925" b="1">
                <a:solidFill>
                  <a:srgbClr val="007F75"/>
                </a:solidFill>
                <a:latin typeface="Arial"/>
                <a:ea typeface="Arial"/>
                <a:cs typeface="Arial"/>
              </a:rPr>
              <a:t>04</a:t>
            </a:r>
          </a:p>
        </p:txBody>
      </p:sp>
      <p:sp>
        <p:nvSpPr>
          <p:cNvPr id="13" name="Rectangle 12">
            <a:extLst>
              <a:ext uri="{FF2B5EF4-FFF2-40B4-BE49-F238E27FC236}">
                <a16:creationId xmlns:a16="http://schemas.microsoft.com/office/drawing/2014/main" id="{55C9C11F-4FE3-4733-AC8B-E6C178E5A9EE}"/>
              </a:ext>
            </a:extLst>
          </p:cNvPr>
          <p:cNvSpPr>
            <a:spLocks noGrp="1"/>
          </p:cNvSpPr>
          <p:nvPr/>
        </p:nvSpPr>
        <p:spPr>
          <a:xfrm>
            <a:off x="1466850" y="4667250"/>
            <a:ext cx="4286250" cy="457200"/>
          </a:xfrm>
          <a:prstGeom prst="rect">
            <a:avLst/>
          </a:prstGeom>
          <a:noFill/>
          <a:ln w="0">
            <a:noFill/>
          </a:ln>
        </p:spPr>
        <p:txBody>
          <a:bodyPr>
            <a:noAutofit/>
          </a:bodyPr>
          <a:lstStyle/>
          <a:p>
            <a:pPr>
              <a:defRPr sz="2175" b="1">
                <a:solidFill>
                  <a:srgbClr val="102C36"/>
                </a:solidFill>
                <a:latin typeface="Arial"/>
                <a:ea typeface="Arial"/>
                <a:cs typeface="Arial"/>
              </a:defRPr>
            </a:pPr>
            <a:r>
              <a:rPr sz="2175" b="1">
                <a:solidFill>
                  <a:srgbClr val="102C36"/>
                </a:solidFill>
                <a:latin typeface="Arial"/>
                <a:ea typeface="Arial"/>
                <a:cs typeface="Arial"/>
              </a:rPr>
              <a:t>Visualisation + analysis</a:t>
            </a:r>
          </a:p>
        </p:txBody>
      </p:sp>
      <p:sp>
        <p:nvSpPr>
          <p:cNvPr id="14" name="Rectangle 13">
            <a:extLst>
              <a:ext uri="{FF2B5EF4-FFF2-40B4-BE49-F238E27FC236}">
                <a16:creationId xmlns:a16="http://schemas.microsoft.com/office/drawing/2014/main" id="{B0697E6F-1CD9-41D3-AA7C-CD67BA9365FB}"/>
              </a:ext>
            </a:extLst>
          </p:cNvPr>
          <p:cNvSpPr>
            <a:spLocks noGrp="1"/>
          </p:cNvSpPr>
          <p:nvPr/>
        </p:nvSpPr>
        <p:spPr>
          <a:xfrm>
            <a:off x="1466850" y="5124450"/>
            <a:ext cx="9620250" cy="457200"/>
          </a:xfrm>
          <a:prstGeom prst="rect">
            <a:avLst/>
          </a:prstGeom>
          <a:noFill/>
          <a:ln w="0">
            <a:noFill/>
          </a:ln>
        </p:spPr>
        <p:txBody>
          <a:bodyPr>
            <a:noAutofit/>
          </a:bodyPr>
          <a:lstStyle/>
          <a:p>
            <a:pPr>
              <a:defRPr sz="1875" b="0">
                <a:solidFill>
                  <a:srgbClr val="547078"/>
                </a:solidFill>
                <a:latin typeface="Arial"/>
                <a:ea typeface="Arial"/>
                <a:cs typeface="Arial"/>
              </a:defRPr>
            </a:pPr>
            <a:r>
              <a:rPr sz="1875" b="0">
                <a:solidFill>
                  <a:srgbClr val="547078"/>
                </a:solidFill>
                <a:latin typeface="Arial"/>
                <a:ea typeface="Arial"/>
                <a:cs typeface="Arial"/>
              </a:rPr>
              <a:t>The same record colours the vehicle sheet and powers the corpus statistics.</a:t>
            </a:r>
          </a:p>
        </p:txBody>
      </p:sp>
      <p:sp>
        <p:nvSpPr>
          <p:cNvPr id="15" name="Rectangle 14">
            <a:extLst>
              <a:ext uri="{FF2B5EF4-FFF2-40B4-BE49-F238E27FC236}">
                <a16:creationId xmlns:a16="http://schemas.microsoft.com/office/drawing/2014/main" id="{D9BE8FF7-76ED-4858-92BF-9A111C2B89FE}"/>
              </a:ext>
            </a:extLst>
          </p:cNvPr>
          <p:cNvSpPr>
            <a:spLocks noGrp="1"/>
          </p:cNvSpPr>
          <p:nvPr/>
        </p:nvSpPr>
        <p:spPr>
          <a:xfrm>
            <a:off x="609600" y="6000750"/>
            <a:ext cx="10668000" cy="342900"/>
          </a:xfrm>
          <a:prstGeom prst="rect">
            <a:avLst/>
          </a:prstGeom>
          <a:noFill/>
          <a:ln w="0">
            <a:noFill/>
          </a:ln>
        </p:spPr>
        <p:txBody>
          <a:bodyPr>
            <a:noAutofit/>
          </a:bodyPr>
          <a:lstStyle/>
          <a:p>
            <a:pPr>
              <a:defRPr sz="1650" b="0">
                <a:solidFill>
                  <a:srgbClr val="007F75"/>
                </a:solidFill>
                <a:latin typeface="Arial"/>
                <a:ea typeface="Arial"/>
                <a:cs typeface="Arial"/>
              </a:defRPr>
            </a:pPr>
            <a:r>
              <a:rPr sz="1650" b="0">
                <a:solidFill>
                  <a:srgbClr val="007F75"/>
                </a:solidFill>
                <a:latin typeface="Arial"/>
                <a:ea typeface="Arial"/>
                <a:cs typeface="Arial"/>
              </a:rPr>
              <a:t>Case status is already structured (213 workshop statuses). Batch is idempotent: per-case cache + retry.</a:t>
            </a:r>
          </a:p>
        </p:txBody>
      </p:sp>
    </p:spTree>
    <p:extLst>
      <p:ext uri="{BB962C8B-B14F-4D97-AF65-F5344CB8AC3E}">
        <p14:creationId xmlns:p14="http://schemas.microsoft.com/office/powerpoint/2010/main" val="20879049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343C8F-C72F-4E26-98A3-29E9CF0EEE4A}"/>
              </a:ext>
            </a:extLst>
          </p:cNvPr>
          <p:cNvSpPr>
            <a:spLocks noGrp="1"/>
          </p:cNvSpPr>
          <p:nvPr/>
        </p:nvSpPr>
        <p:spPr>
          <a:xfrm>
            <a:off x="609600" y="409575"/>
            <a:ext cx="10953750" cy="714375"/>
          </a:xfrm>
          <a:prstGeom prst="rect">
            <a:avLst/>
          </a:prstGeom>
          <a:noFill/>
          <a:ln w="0">
            <a:noFill/>
          </a:ln>
        </p:spPr>
        <p:txBody>
          <a:bodyPr>
            <a:noAutofit/>
          </a:bodyPr>
          <a:lstStyle/>
          <a:p>
            <a:pPr>
              <a:defRPr sz="3225" b="1">
                <a:solidFill>
                  <a:srgbClr val="102C36"/>
                </a:solidFill>
                <a:latin typeface="Arial"/>
                <a:ea typeface="Arial"/>
                <a:cs typeface="Arial"/>
              </a:defRPr>
            </a:pPr>
            <a:r>
              <a:rPr sz="3225" b="1">
                <a:solidFill>
                  <a:srgbClr val="102C36"/>
                </a:solidFill>
                <a:latin typeface="Arial"/>
                <a:ea typeface="Arial"/>
                <a:cs typeface="Arial"/>
              </a:rPr>
              <a:t>A damage, its proof, and its operations</a:t>
            </a:r>
          </a:p>
        </p:txBody>
      </p:sp>
      <p:sp>
        <p:nvSpPr>
          <p:cNvPr id="2" name="Rectangle 1">
            <a:extLst>
              <a:ext uri="{FF2B5EF4-FFF2-40B4-BE49-F238E27FC236}">
                <a16:creationId xmlns:a16="http://schemas.microsoft.com/office/drawing/2014/main" id="{9C7512A1-E156-4F74-A433-F181D6C45214}"/>
              </a:ext>
            </a:extLst>
          </p:cNvPr>
          <p:cNvSpPr>
            <a:spLocks noGrp="1"/>
          </p:cNvSpPr>
          <p:nvPr/>
        </p:nvSpPr>
        <p:spPr>
          <a:xfrm>
            <a:off x="11144250" y="6324600"/>
            <a:ext cx="476250" cy="285750"/>
          </a:xfrm>
          <a:prstGeom prst="rect">
            <a:avLst/>
          </a:prstGeom>
          <a:noFill/>
          <a:ln w="0">
            <a:noFill/>
          </a:ln>
        </p:spPr>
        <p:txBody>
          <a:bodyPr>
            <a:noAutofit/>
          </a:bodyPr>
          <a:lstStyle/>
          <a:p>
            <a:pPr>
              <a:defRPr sz="1350" b="0">
                <a:solidFill>
                  <a:srgbClr val="547078"/>
                </a:solidFill>
                <a:latin typeface="Arial"/>
                <a:ea typeface="Arial"/>
                <a:cs typeface="Arial"/>
              </a:defRPr>
            </a:pPr>
            <a:r>
              <a:rPr sz="1350" b="0">
                <a:solidFill>
                  <a:srgbClr val="547078"/>
                </a:solidFill>
                <a:latin typeface="Arial"/>
                <a:ea typeface="Arial"/>
                <a:cs typeface="Arial"/>
              </a:rPr>
              <a:t>03</a:t>
            </a:r>
          </a:p>
        </p:txBody>
      </p:sp>
      <p:pic>
        <p:nvPicPr>
          <p:cNvPr id="13" name="Image 12"/>
          <p:cNvPicPr>
            <a:picLocks noChangeAspect="1"/>
          </p:cNvPicPr>
          <p:nvPr/>
        </p:nvPicPr>
        <p:blipFill>
          <a:blip r:embed="rId3"/>
          <a:stretch/>
        </p:blipFill>
        <p:spPr>
          <a:xfrm>
            <a:off x="803659" y="1495425"/>
            <a:ext cx="3279006" cy="4267200"/>
          </a:xfrm>
          <a:prstGeom prst="rect">
            <a:avLst/>
          </a:prstGeom>
        </p:spPr>
      </p:pic>
      <p:sp>
        <p:nvSpPr>
          <p:cNvPr id="4" name="Rectangle 3">
            <a:extLst>
              <a:ext uri="{FF2B5EF4-FFF2-40B4-BE49-F238E27FC236}">
                <a16:creationId xmlns:a16="http://schemas.microsoft.com/office/drawing/2014/main" id="{7F8B9516-A0A7-48AF-AA02-72325DBFF296}"/>
              </a:ext>
            </a:extLst>
          </p:cNvPr>
          <p:cNvSpPr>
            <a:spLocks noGrp="1"/>
          </p:cNvSpPr>
          <p:nvPr/>
        </p:nvSpPr>
        <p:spPr>
          <a:xfrm>
            <a:off x="4752975" y="1438275"/>
            <a:ext cx="6762750" cy="381000"/>
          </a:xfrm>
          <a:prstGeom prst="rect">
            <a:avLst/>
          </a:prstGeom>
          <a:noFill/>
          <a:ln w="0">
            <a:noFill/>
          </a:ln>
        </p:spPr>
        <p:txBody>
          <a:bodyPr>
            <a:noAutofit/>
          </a:bodyPr>
          <a:lstStyle/>
          <a:p>
            <a:pPr>
              <a:defRPr sz="1800" b="0">
                <a:solidFill>
                  <a:srgbClr val="547078"/>
                </a:solidFill>
                <a:latin typeface="Arial"/>
                <a:ea typeface="Arial"/>
                <a:cs typeface="Arial"/>
              </a:defRPr>
            </a:pPr>
            <a:r>
              <a:rPr sz="1800" b="0">
                <a:solidFill>
                  <a:srgbClr val="547078"/>
                </a:solidFill>
                <a:latin typeface="Arial"/>
                <a:ea typeface="Arial"/>
                <a:cs typeface="Arial"/>
              </a:rPr>
              <a:t>Case 820002 · original note (kept in German)</a:t>
            </a:r>
          </a:p>
        </p:txBody>
      </p:sp>
      <p:sp>
        <p:nvSpPr>
          <p:cNvPr id="5" name="Rectangle 4">
            <a:extLst>
              <a:ext uri="{FF2B5EF4-FFF2-40B4-BE49-F238E27FC236}">
                <a16:creationId xmlns:a16="http://schemas.microsoft.com/office/drawing/2014/main" id="{A8E82463-8164-459A-A467-8190536EA681}"/>
              </a:ext>
            </a:extLst>
          </p:cNvPr>
          <p:cNvSpPr>
            <a:spLocks noGrp="1"/>
          </p:cNvSpPr>
          <p:nvPr/>
        </p:nvSpPr>
        <p:spPr>
          <a:xfrm>
            <a:off x="4752975" y="1952625"/>
            <a:ext cx="6619875" cy="1409700"/>
          </a:xfrm>
          <a:prstGeom prst="rect">
            <a:avLst/>
          </a:prstGeom>
          <a:noFill/>
          <a:ln w="0">
            <a:noFill/>
          </a:ln>
        </p:spPr>
        <p:txBody>
          <a:bodyPr>
            <a:noAutofit/>
          </a:bodyPr>
          <a:lstStyle/>
          <a:p>
            <a:pPr>
              <a:defRPr sz="2325" b="1">
                <a:solidFill>
                  <a:srgbClr val="102C36"/>
                </a:solidFill>
                <a:latin typeface="Arial"/>
                <a:ea typeface="Arial"/>
                <a:cs typeface="Arial"/>
              </a:defRPr>
            </a:pPr>
            <a:r>
              <a:rPr sz="2325" b="1">
                <a:solidFill>
                  <a:srgbClr val="102C36"/>
                </a:solidFill>
                <a:latin typeface="Arial"/>
                <a:ea typeface="Arial"/>
                <a:cs typeface="Arial"/>
              </a:rPr>
              <a:t>« Steinschlag Windschutzscheibe im Sichtfeld Fahrer, Reparatur nicht möglich, Austausch nötig. »</a:t>
            </a:r>
          </a:p>
        </p:txBody>
      </p:sp>
      <p:sp>
        <p:nvSpPr>
          <p:cNvPr id="6" name="Rectangle 5">
            <a:extLst>
              <a:ext uri="{FF2B5EF4-FFF2-40B4-BE49-F238E27FC236}">
                <a16:creationId xmlns:a16="http://schemas.microsoft.com/office/drawing/2014/main" id="{2D7890BD-BBDB-44A7-9228-E205246E8691}"/>
              </a:ext>
            </a:extLst>
          </p:cNvPr>
          <p:cNvSpPr>
            <a:spLocks noGrp="1"/>
          </p:cNvSpPr>
          <p:nvPr/>
        </p:nvSpPr>
        <p:spPr>
          <a:xfrm>
            <a:off x="4752975" y="3714750"/>
            <a:ext cx="6667500" cy="438150"/>
          </a:xfrm>
          <a:prstGeom prst="rect">
            <a:avLst/>
          </a:prstGeom>
          <a:noFill/>
          <a:ln w="0">
            <a:noFill/>
          </a:ln>
        </p:spPr>
        <p:txBody>
          <a:bodyPr>
            <a:noAutofit/>
          </a:bodyPr>
          <a:lstStyle/>
          <a:p>
            <a:pPr>
              <a:defRPr sz="2250" b="1">
                <a:solidFill>
                  <a:srgbClr val="D7562C"/>
                </a:solidFill>
                <a:latin typeface="Arial"/>
                <a:ea typeface="Arial"/>
                <a:cs typeface="Arial"/>
              </a:defRPr>
            </a:pPr>
            <a:r>
              <a:rPr sz="2250" b="1">
                <a:solidFill>
                  <a:srgbClr val="D7562C"/>
                </a:solidFill>
                <a:latin typeface="Arial"/>
                <a:ea typeface="Arial"/>
                <a:cs typeface="Arial"/>
              </a:rPr>
              <a:t>Windscreen: replace</a:t>
            </a:r>
          </a:p>
        </p:txBody>
      </p:sp>
      <p:sp>
        <p:nvSpPr>
          <p:cNvPr id="7" name="Rectangle 6">
            <a:extLst>
              <a:ext uri="{FF2B5EF4-FFF2-40B4-BE49-F238E27FC236}">
                <a16:creationId xmlns:a16="http://schemas.microsoft.com/office/drawing/2014/main" id="{7E7D4C20-20CD-4F28-8EE6-FE33C8EEEBD3}"/>
              </a:ext>
            </a:extLst>
          </p:cNvPr>
          <p:cNvSpPr>
            <a:spLocks noGrp="1"/>
          </p:cNvSpPr>
          <p:nvPr/>
        </p:nvSpPr>
        <p:spPr>
          <a:xfrm>
            <a:off x="4752975" y="4181475"/>
            <a:ext cx="6667500" cy="400050"/>
          </a:xfrm>
          <a:prstGeom prst="rect">
            <a:avLst/>
          </a:prstGeom>
          <a:noFill/>
          <a:ln w="0">
            <a:noFill/>
          </a:ln>
        </p:spPr>
        <p:txBody>
          <a:bodyPr>
            <a:noAutofit/>
          </a:bodyPr>
          <a:lstStyle/>
          <a:p>
            <a:pPr>
              <a:defRPr sz="1725" b="0">
                <a:solidFill>
                  <a:srgbClr val="547078"/>
                </a:solidFill>
                <a:latin typeface="Arial"/>
                <a:ea typeface="Arial"/>
                <a:cs typeface="Arial"/>
              </a:defRPr>
            </a:pPr>
            <a:r>
              <a:rPr sz="1725" b="0">
                <a:solidFill>
                  <a:srgbClr val="547078"/>
                </a:solidFill>
                <a:latin typeface="Arial"/>
                <a:ea typeface="Arial"/>
                <a:cs typeface="Arial"/>
              </a:rPr>
              <a:t>Action explicitly stated in the note</a:t>
            </a:r>
          </a:p>
        </p:txBody>
      </p:sp>
      <p:sp>
        <p:nvSpPr>
          <p:cNvPr id="8" name="Rectangle 7">
            <a:extLst>
              <a:ext uri="{FF2B5EF4-FFF2-40B4-BE49-F238E27FC236}">
                <a16:creationId xmlns:a16="http://schemas.microsoft.com/office/drawing/2014/main" id="{EA8B30F0-31F1-46E0-AE5C-E3104BBCFA2D}"/>
              </a:ext>
            </a:extLst>
          </p:cNvPr>
          <p:cNvSpPr>
            <a:spLocks noGrp="1"/>
          </p:cNvSpPr>
          <p:nvPr/>
        </p:nvSpPr>
        <p:spPr>
          <a:xfrm>
            <a:off x="4752975" y="4810125"/>
            <a:ext cx="6667500" cy="438150"/>
          </a:xfrm>
          <a:prstGeom prst="rect">
            <a:avLst/>
          </a:prstGeom>
          <a:noFill/>
          <a:ln w="0">
            <a:noFill/>
          </a:ln>
        </p:spPr>
        <p:txBody>
          <a:bodyPr>
            <a:noAutofit/>
          </a:bodyPr>
          <a:lstStyle/>
          <a:p>
            <a:pPr>
              <a:defRPr sz="2250" b="1">
                <a:solidFill>
                  <a:srgbClr val="007F75"/>
                </a:solidFill>
                <a:latin typeface="Arial"/>
                <a:ea typeface="Arial"/>
                <a:cs typeface="Arial"/>
              </a:defRPr>
            </a:pPr>
            <a:r>
              <a:rPr sz="2250" b="1">
                <a:solidFill>
                  <a:srgbClr val="007F75"/>
                </a:solidFill>
                <a:latin typeface="Arial"/>
                <a:ea typeface="Arial"/>
                <a:cs typeface="Arial"/>
              </a:rPr>
              <a:t>Trim / plate: remove-and-install</a:t>
            </a:r>
          </a:p>
        </p:txBody>
      </p:sp>
      <p:sp>
        <p:nvSpPr>
          <p:cNvPr id="9" name="Rectangle 8">
            <a:extLst>
              <a:ext uri="{FF2B5EF4-FFF2-40B4-BE49-F238E27FC236}">
                <a16:creationId xmlns:a16="http://schemas.microsoft.com/office/drawing/2014/main" id="{D4D9FFF9-F3B1-4C6B-B46F-9707F7DA2075}"/>
              </a:ext>
            </a:extLst>
          </p:cNvPr>
          <p:cNvSpPr>
            <a:spLocks noGrp="1"/>
          </p:cNvSpPr>
          <p:nvPr/>
        </p:nvSpPr>
        <p:spPr>
          <a:xfrm>
            <a:off x="4752975" y="5276850"/>
            <a:ext cx="6667500" cy="400050"/>
          </a:xfrm>
          <a:prstGeom prst="rect">
            <a:avLst/>
          </a:prstGeom>
          <a:noFill/>
          <a:ln w="0">
            <a:noFill/>
          </a:ln>
        </p:spPr>
        <p:txBody>
          <a:bodyPr>
            <a:noAutofit/>
          </a:bodyPr>
          <a:lstStyle/>
          <a:p>
            <a:pPr>
              <a:defRPr sz="1725" b="0">
                <a:solidFill>
                  <a:srgbClr val="547078"/>
                </a:solidFill>
                <a:latin typeface="Arial"/>
                <a:ea typeface="Arial"/>
                <a:cs typeface="Arial"/>
              </a:defRPr>
            </a:pPr>
            <a:r>
              <a:rPr sz="1725" b="0">
                <a:solidFill>
                  <a:srgbClr val="547078"/>
                </a:solidFill>
                <a:latin typeface="Arial"/>
                <a:ea typeface="Arial"/>
                <a:cs typeface="Arial"/>
              </a:rPr>
              <a:t>Derived from the adjacency table (not the note)</a:t>
            </a:r>
          </a:p>
        </p:txBody>
      </p:sp>
      <p:sp>
        <p:nvSpPr>
          <p:cNvPr id="10" name="Rectangle 9">
            <a:extLst>
              <a:ext uri="{FF2B5EF4-FFF2-40B4-BE49-F238E27FC236}">
                <a16:creationId xmlns:a16="http://schemas.microsoft.com/office/drawing/2014/main" id="{FF9E7BB0-FA91-4AED-9E53-92FB47A31E2D}"/>
              </a:ext>
            </a:extLst>
          </p:cNvPr>
          <p:cNvSpPr>
            <a:spLocks noGrp="1"/>
          </p:cNvSpPr>
          <p:nvPr/>
        </p:nvSpPr>
        <p:spPr>
          <a:xfrm>
            <a:off x="609600" y="6000750"/>
            <a:ext cx="10763250" cy="333375"/>
          </a:xfrm>
          <a:prstGeom prst="rect">
            <a:avLst/>
          </a:prstGeom>
          <a:noFill/>
          <a:ln w="0">
            <a:noFill/>
          </a:ln>
        </p:spPr>
        <p:txBody>
          <a:bodyPr>
            <a:noAutofit/>
          </a:bodyPr>
          <a:lstStyle/>
          <a:p>
            <a:pPr>
              <a:defRPr sz="1575" b="0">
                <a:solidFill>
                  <a:srgbClr val="547078"/>
                </a:solidFill>
                <a:latin typeface="Arial"/>
                <a:ea typeface="Arial"/>
                <a:cs typeface="Arial"/>
              </a:defRPr>
            </a:pPr>
            <a:r>
              <a:rPr sz="1575" b="0">
                <a:solidFill>
                  <a:srgbClr val="547078"/>
                </a:solidFill>
                <a:latin typeface="Arial"/>
                <a:ea typeface="Arial"/>
                <a:cs typeface="Arial"/>
              </a:rPr>
              <a:t>Prototype capture. Colours separate damage from remove-and-install.</a:t>
            </a:r>
          </a:p>
        </p:txBody>
      </p:sp>
    </p:spTree>
    <p:extLst>
      <p:ext uri="{BB962C8B-B14F-4D97-AF65-F5344CB8AC3E}">
        <p14:creationId xmlns:p14="http://schemas.microsoft.com/office/powerpoint/2010/main" val="8547254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13CDD1D-DFF0-4CDA-B318-74930B76E136}"/>
              </a:ext>
            </a:extLst>
          </p:cNvPr>
          <p:cNvSpPr>
            <a:spLocks noGrp="1"/>
          </p:cNvSpPr>
          <p:nvPr/>
        </p:nvSpPr>
        <p:spPr>
          <a:xfrm>
            <a:off x="609600" y="409575"/>
            <a:ext cx="10953750" cy="714375"/>
          </a:xfrm>
          <a:prstGeom prst="rect">
            <a:avLst/>
          </a:prstGeom>
          <a:noFill/>
          <a:ln w="0">
            <a:noFill/>
          </a:ln>
        </p:spPr>
        <p:txBody>
          <a:bodyPr>
            <a:noAutofit/>
          </a:bodyPr>
          <a:lstStyle/>
          <a:p>
            <a:pPr>
              <a:defRPr sz="3225" b="1">
                <a:solidFill>
                  <a:srgbClr val="102C36"/>
                </a:solidFill>
                <a:latin typeface="Arial"/>
                <a:ea typeface="Arial"/>
                <a:cs typeface="Arial"/>
              </a:defRPr>
            </a:pPr>
            <a:r>
              <a:rPr sz="3225" b="1">
                <a:solidFill>
                  <a:srgbClr val="102C36"/>
                </a:solidFill>
                <a:latin typeface="Arial"/>
                <a:ea typeface="Arial"/>
                <a:cs typeface="Arial"/>
              </a:rPr>
              <a:t>What the corpus already shows</a:t>
            </a:r>
          </a:p>
        </p:txBody>
      </p:sp>
      <p:sp>
        <p:nvSpPr>
          <p:cNvPr id="2" name="Rectangle 1">
            <a:extLst>
              <a:ext uri="{FF2B5EF4-FFF2-40B4-BE49-F238E27FC236}">
                <a16:creationId xmlns:a16="http://schemas.microsoft.com/office/drawing/2014/main" id="{A85C8F2D-C6E1-4DC9-9E03-CFF45966A424}"/>
              </a:ext>
            </a:extLst>
          </p:cNvPr>
          <p:cNvSpPr>
            <a:spLocks noGrp="1"/>
          </p:cNvSpPr>
          <p:nvPr/>
        </p:nvSpPr>
        <p:spPr>
          <a:xfrm>
            <a:off x="11144250" y="6324600"/>
            <a:ext cx="476250" cy="285750"/>
          </a:xfrm>
          <a:prstGeom prst="rect">
            <a:avLst/>
          </a:prstGeom>
          <a:noFill/>
          <a:ln w="0">
            <a:noFill/>
          </a:ln>
        </p:spPr>
        <p:txBody>
          <a:bodyPr>
            <a:noAutofit/>
          </a:bodyPr>
          <a:lstStyle/>
          <a:p>
            <a:pPr>
              <a:defRPr sz="1350" b="0">
                <a:solidFill>
                  <a:srgbClr val="547078"/>
                </a:solidFill>
                <a:latin typeface="Arial"/>
                <a:ea typeface="Arial"/>
                <a:cs typeface="Arial"/>
              </a:defRPr>
            </a:pPr>
            <a:r>
              <a:rPr sz="1350" b="0">
                <a:solidFill>
                  <a:srgbClr val="547078"/>
                </a:solidFill>
                <a:latin typeface="Arial"/>
                <a:ea typeface="Arial"/>
                <a:cs typeface="Arial"/>
              </a:rPr>
              <a:t>04</a:t>
            </a:r>
          </a:p>
        </p:txBody>
      </p:sp>
      <p:sp>
        <p:nvSpPr>
          <p:cNvPr id="3" name="Rectangle 2">
            <a:extLst>
              <a:ext uri="{FF2B5EF4-FFF2-40B4-BE49-F238E27FC236}">
                <a16:creationId xmlns:a16="http://schemas.microsoft.com/office/drawing/2014/main" id="{8AB64388-7E9E-4D82-BB03-4D42E09F0299}"/>
              </a:ext>
            </a:extLst>
          </p:cNvPr>
          <p:cNvSpPr>
            <a:spLocks noGrp="1"/>
          </p:cNvSpPr>
          <p:nvPr/>
        </p:nvSpPr>
        <p:spPr>
          <a:xfrm>
            <a:off x="609600" y="1390650"/>
            <a:ext cx="6715125" cy="409575"/>
          </a:xfrm>
          <a:prstGeom prst="rect">
            <a:avLst/>
          </a:prstGeom>
          <a:noFill/>
          <a:ln w="0">
            <a:noFill/>
          </a:ln>
        </p:spPr>
        <p:txBody>
          <a:bodyPr>
            <a:noAutofit/>
          </a:bodyPr>
          <a:lstStyle/>
          <a:p>
            <a:pPr>
              <a:defRPr sz="1950" b="1">
                <a:solidFill>
                  <a:srgbClr val="102C36"/>
                </a:solidFill>
                <a:latin typeface="Arial"/>
                <a:ea typeface="Arial"/>
                <a:cs typeface="Arial"/>
              </a:defRPr>
            </a:pPr>
            <a:r>
              <a:rPr sz="1950" b="1">
                <a:solidFill>
                  <a:srgbClr val="102C36"/>
                </a:solidFill>
                <a:latin typeface="Arial"/>
                <a:ea typeface="Arial"/>
                <a:cs typeface="Arial"/>
              </a:rPr>
              <a:t>Damage kinds · 450 cases</a:t>
            </a:r>
          </a:p>
        </p:txBody>
      </p:sp>
      <p:graphicFrame>
        <p:nvGraphicFramePr>
          <p:cNvPr id="13" name="Chart"/>
          <p:cNvGraphicFramePr/>
          <p:nvPr/>
        </p:nvGraphicFramePr>
        <p:xfrm>
          <a:off x="552450" y="1990725"/>
          <a:ext cx="6858000" cy="3705225"/>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EBEAD060-EE55-4496-B13D-FADDFCC87683}"/>
              </a:ext>
            </a:extLst>
          </p:cNvPr>
          <p:cNvSpPr>
            <a:spLocks noGrp="1"/>
          </p:cNvSpPr>
          <p:nvPr/>
        </p:nvSpPr>
        <p:spPr>
          <a:xfrm>
            <a:off x="7924800" y="1952625"/>
            <a:ext cx="3333750" cy="790575"/>
          </a:xfrm>
          <a:prstGeom prst="rect">
            <a:avLst/>
          </a:prstGeom>
          <a:noFill/>
          <a:ln w="0">
            <a:noFill/>
          </a:ln>
        </p:spPr>
        <p:txBody>
          <a:bodyPr>
            <a:noAutofit/>
          </a:bodyPr>
          <a:lstStyle/>
          <a:p>
            <a:pPr>
              <a:defRPr sz="4500" b="1">
                <a:solidFill>
                  <a:srgbClr val="007F75"/>
                </a:solidFill>
                <a:latin typeface="Arial"/>
                <a:ea typeface="Arial"/>
                <a:cs typeface="Arial"/>
              </a:defRPr>
            </a:pPr>
            <a:r>
              <a:rPr sz="4500" b="1">
                <a:solidFill>
                  <a:srgbClr val="007F75"/>
                </a:solidFill>
                <a:latin typeface="Arial"/>
                <a:ea typeface="Arial"/>
                <a:cs typeface="Arial"/>
              </a:rPr>
              <a:t>41.3%</a:t>
            </a:r>
          </a:p>
        </p:txBody>
      </p:sp>
      <p:sp>
        <p:nvSpPr>
          <p:cNvPr id="6" name="Rectangle 5">
            <a:extLst>
              <a:ext uri="{FF2B5EF4-FFF2-40B4-BE49-F238E27FC236}">
                <a16:creationId xmlns:a16="http://schemas.microsoft.com/office/drawing/2014/main" id="{F8993B5B-F894-4BB0-95EE-611233AB2433}"/>
              </a:ext>
            </a:extLst>
          </p:cNvPr>
          <p:cNvSpPr>
            <a:spLocks noGrp="1"/>
          </p:cNvSpPr>
          <p:nvPr/>
        </p:nvSpPr>
        <p:spPr>
          <a:xfrm>
            <a:off x="7924800" y="2809875"/>
            <a:ext cx="3409950" cy="1085850"/>
          </a:xfrm>
          <a:prstGeom prst="rect">
            <a:avLst/>
          </a:prstGeom>
          <a:noFill/>
          <a:ln w="0">
            <a:noFill/>
          </a:ln>
        </p:spPr>
        <p:txBody>
          <a:bodyPr>
            <a:noAutofit/>
          </a:bodyPr>
          <a:lstStyle/>
          <a:p>
            <a:pPr>
              <a:defRPr sz="1875" b="0">
                <a:solidFill>
                  <a:srgbClr val="102C36"/>
                </a:solidFill>
                <a:latin typeface="Arial"/>
                <a:ea typeface="Arial"/>
                <a:cs typeface="Arial"/>
              </a:defRPr>
            </a:pPr>
            <a:r>
              <a:rPr sz="1875" b="0">
                <a:solidFill>
                  <a:srgbClr val="102C36"/>
                </a:solidFill>
                <a:latin typeface="Arial"/>
                <a:ea typeface="Arial"/>
                <a:cs typeface="Arial"/>
              </a:rPr>
              <a:t>of damage is parking</a:t>
            </a:r>
          </a:p>
          <a:p>
            <a:pPr>
              <a:defRPr sz="1875" b="0">
                <a:solidFill>
                  <a:srgbClr val="102C36"/>
                </a:solidFill>
                <a:latin typeface="Arial"/>
                <a:ea typeface="Arial"/>
                <a:cs typeface="Arial"/>
              </a:defRPr>
            </a:pPr>
            <a:r>
              <a:rPr sz="1875" b="0">
                <a:solidFill>
                  <a:srgbClr val="102C36"/>
                </a:solidFill>
                <a:latin typeface="Arial"/>
                <a:ea typeface="Arial"/>
                <a:cs typeface="Arial"/>
              </a:rPr>
              <a:t>or manoeuvring</a:t>
            </a:r>
          </a:p>
          <a:p>
            <a:pPr>
              <a:defRPr sz="1875" b="0">
                <a:solidFill>
                  <a:srgbClr val="102C36"/>
                </a:solidFill>
                <a:latin typeface="Arial"/>
                <a:ea typeface="Arial"/>
                <a:cs typeface="Arial"/>
              </a:defRPr>
            </a:pPr>
            <a:r>
              <a:rPr sz="1875" b="0">
                <a:solidFill>
                  <a:srgbClr val="102C36"/>
                </a:solidFill>
                <a:latin typeface="Arial"/>
                <a:ea typeface="Arial"/>
                <a:cs typeface="Arial"/>
              </a:rPr>
              <a:t>(186 of 450 cases)</a:t>
            </a:r>
          </a:p>
        </p:txBody>
      </p:sp>
      <p:sp>
        <p:nvSpPr>
          <p:cNvPr id="7" name="Rectangle 6">
            <a:extLst>
              <a:ext uri="{FF2B5EF4-FFF2-40B4-BE49-F238E27FC236}">
                <a16:creationId xmlns:a16="http://schemas.microsoft.com/office/drawing/2014/main" id="{D456A6E0-94FF-46F8-9EF9-B1DD68D4F433}"/>
              </a:ext>
            </a:extLst>
          </p:cNvPr>
          <p:cNvSpPr>
            <a:spLocks noGrp="1"/>
          </p:cNvSpPr>
          <p:nvPr/>
        </p:nvSpPr>
        <p:spPr>
          <a:xfrm>
            <a:off x="7924800" y="4333875"/>
            <a:ext cx="3524250" cy="476250"/>
          </a:xfrm>
          <a:prstGeom prst="rect">
            <a:avLst/>
          </a:prstGeom>
          <a:noFill/>
          <a:ln w="0">
            <a:noFill/>
          </a:ln>
        </p:spPr>
        <p:txBody>
          <a:bodyPr>
            <a:noAutofit/>
          </a:bodyPr>
          <a:lstStyle/>
          <a:p>
            <a:pPr>
              <a:defRPr sz="2325" b="1">
                <a:solidFill>
                  <a:srgbClr val="102C36"/>
                </a:solidFill>
                <a:latin typeface="Arial"/>
                <a:ea typeface="Arial"/>
                <a:cs typeface="Arial"/>
              </a:defRPr>
            </a:pPr>
            <a:r>
              <a:rPr sz="2325" b="1">
                <a:solidFill>
                  <a:srgbClr val="102C36"/>
                </a:solidFill>
                <a:latin typeface="Arial"/>
                <a:ea typeface="Arial"/>
                <a:cs typeface="Arial"/>
              </a:rPr>
              <a:t>668 open cases</a:t>
            </a:r>
          </a:p>
        </p:txBody>
      </p:sp>
      <p:sp>
        <p:nvSpPr>
          <p:cNvPr id="8" name="Rectangle 7">
            <a:extLst>
              <a:ext uri="{FF2B5EF4-FFF2-40B4-BE49-F238E27FC236}">
                <a16:creationId xmlns:a16="http://schemas.microsoft.com/office/drawing/2014/main" id="{2AE3D056-AFD2-4B1F-A634-CA2CC5EDF2F2}"/>
              </a:ext>
            </a:extLst>
          </p:cNvPr>
          <p:cNvSpPr>
            <a:spLocks noGrp="1"/>
          </p:cNvSpPr>
          <p:nvPr/>
        </p:nvSpPr>
        <p:spPr>
          <a:xfrm>
            <a:off x="7924800" y="4933950"/>
            <a:ext cx="3409950" cy="904875"/>
          </a:xfrm>
          <a:prstGeom prst="rect">
            <a:avLst/>
          </a:prstGeom>
          <a:noFill/>
          <a:ln w="0">
            <a:noFill/>
          </a:ln>
        </p:spPr>
        <p:txBody>
          <a:bodyPr>
            <a:noAutofit/>
          </a:bodyPr>
          <a:lstStyle/>
          <a:p>
            <a:pPr>
              <a:defRPr sz="1800" b="0">
                <a:solidFill>
                  <a:srgbClr val="547078"/>
                </a:solidFill>
                <a:latin typeface="Arial"/>
                <a:ea typeface="Arial"/>
                <a:cs typeface="Arial"/>
              </a:defRPr>
            </a:pPr>
            <a:r>
              <a:rPr sz="1800" b="0">
                <a:solidFill>
                  <a:srgbClr val="547078"/>
                </a:solidFill>
                <a:latin typeface="Arial"/>
                <a:ea typeface="Arial"/>
                <a:cs typeface="Arial"/>
              </a:rPr>
              <a:t>Median age: 150 days</a:t>
            </a:r>
          </a:p>
          <a:p>
            <a:pPr>
              <a:defRPr sz="1800" b="0">
                <a:solidFill>
                  <a:srgbClr val="547078"/>
                </a:solidFill>
                <a:latin typeface="Arial"/>
                <a:ea typeface="Arial"/>
                <a:cs typeface="Arial"/>
              </a:defRPr>
            </a:pPr>
            <a:r>
              <a:rPr sz="1800" b="0">
                <a:solidFill>
                  <a:srgbClr val="547078"/>
                </a:solidFill>
                <a:latin typeface="Arial"/>
                <a:ea typeface="Arial"/>
                <a:cs typeface="Arial"/>
              </a:rPr>
              <a:t>A queue to review with the shop</a:t>
            </a:r>
          </a:p>
        </p:txBody>
      </p:sp>
      <p:sp>
        <p:nvSpPr>
          <p:cNvPr id="9" name="Rectangle 8">
            <a:extLst>
              <a:ext uri="{FF2B5EF4-FFF2-40B4-BE49-F238E27FC236}">
                <a16:creationId xmlns:a16="http://schemas.microsoft.com/office/drawing/2014/main" id="{9D437113-C8BC-46D9-90CA-275F57FD0849}"/>
              </a:ext>
            </a:extLst>
          </p:cNvPr>
          <p:cNvSpPr>
            <a:spLocks noGrp="1"/>
          </p:cNvSpPr>
          <p:nvPr/>
        </p:nvSpPr>
        <p:spPr>
          <a:xfrm>
            <a:off x="609600" y="6000750"/>
            <a:ext cx="10810875" cy="361950"/>
          </a:xfrm>
          <a:prstGeom prst="rect">
            <a:avLst/>
          </a:prstGeom>
          <a:noFill/>
          <a:ln w="0">
            <a:noFill/>
          </a:ln>
        </p:spPr>
        <p:txBody>
          <a:bodyPr>
            <a:noAutofit/>
          </a:bodyPr>
          <a:lstStyle/>
          <a:p>
            <a:pPr>
              <a:defRPr sz="1575" b="0">
                <a:solidFill>
                  <a:srgbClr val="547078"/>
                </a:solidFill>
                <a:latin typeface="Arial"/>
                <a:ea typeface="Arial"/>
                <a:cs typeface="Arial"/>
              </a:defRPr>
            </a:pPr>
            <a:r>
              <a:rPr sz="1575" b="0">
                <a:solidFill>
                  <a:srgbClr val="547078"/>
                </a:solidFill>
                <a:latin typeface="Arial"/>
                <a:ea typeface="Arial"/>
                <a:cs typeface="Arial"/>
              </a:rPr>
              <a:t>Synthetic data. Age since creation is not a repair-time measure.</a:t>
            </a:r>
          </a:p>
        </p:txBody>
      </p:sp>
    </p:spTree>
    <p:extLst>
      <p:ext uri="{BB962C8B-B14F-4D97-AF65-F5344CB8AC3E}">
        <p14:creationId xmlns:p14="http://schemas.microsoft.com/office/powerpoint/2010/main" val="5658772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919FD4F-95A4-4AD7-A89D-74BA38963ADC}"/>
              </a:ext>
            </a:extLst>
          </p:cNvPr>
          <p:cNvSpPr>
            <a:spLocks noGrp="1"/>
          </p:cNvSpPr>
          <p:nvPr/>
        </p:nvSpPr>
        <p:spPr>
          <a:xfrm>
            <a:off x="609600" y="409575"/>
            <a:ext cx="10953750" cy="714375"/>
          </a:xfrm>
          <a:prstGeom prst="rect">
            <a:avLst/>
          </a:prstGeom>
          <a:noFill/>
          <a:ln w="0">
            <a:noFill/>
          </a:ln>
        </p:spPr>
        <p:txBody>
          <a:bodyPr>
            <a:noAutofit/>
          </a:bodyPr>
          <a:lstStyle/>
          <a:p>
            <a:pPr>
              <a:defRPr sz="3225" b="1">
                <a:solidFill>
                  <a:srgbClr val="102C36"/>
                </a:solidFill>
                <a:latin typeface="Arial"/>
                <a:ea typeface="Arial"/>
                <a:cs typeface="Arial"/>
              </a:defRPr>
            </a:pPr>
            <a:r>
              <a:rPr sz="3225" b="1">
                <a:solidFill>
                  <a:srgbClr val="102C36"/>
                </a:solidFill>
                <a:latin typeface="Arial"/>
                <a:ea typeface="Arial"/>
                <a:cs typeface="Arial"/>
              </a:rPr>
              <a:t>Measured on held-out cases</a:t>
            </a:r>
          </a:p>
        </p:txBody>
      </p:sp>
      <p:sp>
        <p:nvSpPr>
          <p:cNvPr id="2" name="Rectangle 1">
            <a:extLst>
              <a:ext uri="{FF2B5EF4-FFF2-40B4-BE49-F238E27FC236}">
                <a16:creationId xmlns:a16="http://schemas.microsoft.com/office/drawing/2014/main" id="{EC40EA9D-5225-4F64-AE0C-40AE6DDC0D63}"/>
              </a:ext>
            </a:extLst>
          </p:cNvPr>
          <p:cNvSpPr>
            <a:spLocks noGrp="1"/>
          </p:cNvSpPr>
          <p:nvPr/>
        </p:nvSpPr>
        <p:spPr>
          <a:xfrm>
            <a:off x="11144250" y="6324600"/>
            <a:ext cx="476250" cy="285750"/>
          </a:xfrm>
          <a:prstGeom prst="rect">
            <a:avLst/>
          </a:prstGeom>
          <a:noFill/>
          <a:ln w="0">
            <a:noFill/>
          </a:ln>
        </p:spPr>
        <p:txBody>
          <a:bodyPr>
            <a:noAutofit/>
          </a:bodyPr>
          <a:lstStyle/>
          <a:p>
            <a:pPr>
              <a:defRPr sz="1350" b="0">
                <a:solidFill>
                  <a:srgbClr val="547078"/>
                </a:solidFill>
                <a:latin typeface="Arial"/>
                <a:ea typeface="Arial"/>
                <a:cs typeface="Arial"/>
              </a:defRPr>
            </a:pPr>
            <a:r>
              <a:rPr sz="1350" b="0">
                <a:solidFill>
                  <a:srgbClr val="547078"/>
                </a:solidFill>
                <a:latin typeface="Arial"/>
                <a:ea typeface="Arial"/>
                <a:cs typeface="Arial"/>
              </a:rPr>
              <a:t>05</a:t>
            </a:r>
          </a:p>
        </p:txBody>
      </p:sp>
      <p:sp>
        <p:nvSpPr>
          <p:cNvPr id="3" name="Rectangle 2">
            <a:extLst>
              <a:ext uri="{FF2B5EF4-FFF2-40B4-BE49-F238E27FC236}">
                <a16:creationId xmlns:a16="http://schemas.microsoft.com/office/drawing/2014/main" id="{61FB158A-2BF9-4B8F-8C37-9F5CF4DD267B}"/>
              </a:ext>
            </a:extLst>
          </p:cNvPr>
          <p:cNvSpPr>
            <a:spLocks noGrp="1"/>
          </p:cNvSpPr>
          <p:nvPr/>
        </p:nvSpPr>
        <p:spPr>
          <a:xfrm>
            <a:off x="609600" y="1428750"/>
            <a:ext cx="4953000" cy="428625"/>
          </a:xfrm>
          <a:prstGeom prst="rect">
            <a:avLst/>
          </a:prstGeom>
          <a:noFill/>
          <a:ln w="0">
            <a:noFill/>
          </a:ln>
        </p:spPr>
        <p:txBody>
          <a:bodyPr>
            <a:noAutofit/>
          </a:bodyPr>
          <a:lstStyle/>
          <a:p>
            <a:pPr>
              <a:defRPr sz="2175" b="1">
                <a:solidFill>
                  <a:srgbClr val="102C36"/>
                </a:solidFill>
                <a:latin typeface="Arial"/>
                <a:ea typeface="Arial"/>
                <a:cs typeface="Arial"/>
              </a:defRPr>
            </a:pPr>
            <a:r>
              <a:rPr sz="2175" b="1">
                <a:solidFill>
                  <a:srgbClr val="102C36"/>
                </a:solidFill>
                <a:latin typeface="Arial"/>
                <a:ea typeface="Arial"/>
                <a:cs typeface="Arial"/>
              </a:rPr>
              <a:t>DeepSeek extraction</a:t>
            </a:r>
          </a:p>
        </p:txBody>
      </p:sp>
      <p:sp>
        <p:nvSpPr>
          <p:cNvPr id="4" name="Rectangle 3">
            <a:extLst>
              <a:ext uri="{FF2B5EF4-FFF2-40B4-BE49-F238E27FC236}">
                <a16:creationId xmlns:a16="http://schemas.microsoft.com/office/drawing/2014/main" id="{ED27CB0E-249E-4788-8C0C-14911A92CB50}"/>
              </a:ext>
            </a:extLst>
          </p:cNvPr>
          <p:cNvSpPr>
            <a:spLocks noGrp="1"/>
          </p:cNvSpPr>
          <p:nvPr/>
        </p:nvSpPr>
        <p:spPr>
          <a:xfrm>
            <a:off x="609600" y="1924050"/>
            <a:ext cx="4953000" cy="333375"/>
          </a:xfrm>
          <a:prstGeom prst="rect">
            <a:avLst/>
          </a:prstGeom>
          <a:noFill/>
          <a:ln w="0">
            <a:noFill/>
          </a:ln>
        </p:spPr>
        <p:txBody>
          <a:bodyPr>
            <a:noAutofit/>
          </a:bodyPr>
          <a:lstStyle/>
          <a:p>
            <a:pPr>
              <a:defRPr sz="1725" b="0">
                <a:solidFill>
                  <a:srgbClr val="547078"/>
                </a:solidFill>
                <a:latin typeface="Arial"/>
                <a:ea typeface="Arial"/>
                <a:cs typeface="Arial"/>
              </a:defRPr>
            </a:pPr>
            <a:r>
              <a:rPr sz="1725" b="0">
                <a:solidFill>
                  <a:srgbClr val="547078"/>
                </a:solidFill>
                <a:latin typeface="Arial"/>
                <a:ea typeface="Arial"/>
                <a:cs typeface="Arial"/>
              </a:rPr>
              <a:t>977 cases, outside examples and pilot</a:t>
            </a:r>
          </a:p>
        </p:txBody>
      </p:sp>
      <p:sp>
        <p:nvSpPr>
          <p:cNvPr id="5" name="Rectangle 4">
            <a:extLst>
              <a:ext uri="{FF2B5EF4-FFF2-40B4-BE49-F238E27FC236}">
                <a16:creationId xmlns:a16="http://schemas.microsoft.com/office/drawing/2014/main" id="{45C1711F-AF88-48F5-A53C-43345F02B493}"/>
              </a:ext>
            </a:extLst>
          </p:cNvPr>
          <p:cNvSpPr>
            <a:spLocks noGrp="1"/>
          </p:cNvSpPr>
          <p:nvPr/>
        </p:nvSpPr>
        <p:spPr>
          <a:xfrm>
            <a:off x="609600" y="2619375"/>
            <a:ext cx="2381250" cy="714375"/>
          </a:xfrm>
          <a:prstGeom prst="rect">
            <a:avLst/>
          </a:prstGeom>
          <a:noFill/>
          <a:ln w="0">
            <a:noFill/>
          </a:ln>
        </p:spPr>
        <p:txBody>
          <a:bodyPr>
            <a:noAutofit/>
          </a:bodyPr>
          <a:lstStyle/>
          <a:p>
            <a:pPr>
              <a:defRPr sz="4275" b="1">
                <a:solidFill>
                  <a:srgbClr val="007F75"/>
                </a:solidFill>
                <a:latin typeface="Arial"/>
                <a:ea typeface="Arial"/>
                <a:cs typeface="Arial"/>
              </a:defRPr>
            </a:pPr>
            <a:r>
              <a:rPr sz="4275" b="1">
                <a:solidFill>
                  <a:srgbClr val="007F75"/>
                </a:solidFill>
                <a:latin typeface="Arial"/>
                <a:ea typeface="Arial"/>
                <a:cs typeface="Arial"/>
              </a:rPr>
              <a:t>99.9%</a:t>
            </a:r>
          </a:p>
        </p:txBody>
      </p:sp>
      <p:sp>
        <p:nvSpPr>
          <p:cNvPr id="6" name="Rectangle 5">
            <a:extLst>
              <a:ext uri="{FF2B5EF4-FFF2-40B4-BE49-F238E27FC236}">
                <a16:creationId xmlns:a16="http://schemas.microsoft.com/office/drawing/2014/main" id="{E8E3E4AB-9A30-41F9-9AF3-BAE400140A35}"/>
              </a:ext>
            </a:extLst>
          </p:cNvPr>
          <p:cNvSpPr>
            <a:spLocks noGrp="1"/>
          </p:cNvSpPr>
          <p:nvPr/>
        </p:nvSpPr>
        <p:spPr>
          <a:xfrm>
            <a:off x="609600" y="3343275"/>
            <a:ext cx="4857750" cy="409575"/>
          </a:xfrm>
          <a:prstGeom prst="rect">
            <a:avLst/>
          </a:prstGeom>
          <a:noFill/>
          <a:ln w="0">
            <a:noFill/>
          </a:ln>
        </p:spPr>
        <p:txBody>
          <a:bodyPr>
            <a:noAutofit/>
          </a:bodyPr>
          <a:lstStyle/>
          <a:p>
            <a:pPr>
              <a:defRPr sz="1950" b="0">
                <a:solidFill>
                  <a:srgbClr val="102C36"/>
                </a:solidFill>
                <a:latin typeface="Arial"/>
                <a:ea typeface="Arial"/>
                <a:cs typeface="Arial"/>
              </a:defRPr>
            </a:pPr>
            <a:r>
              <a:rPr sz="1950" b="0">
                <a:solidFill>
                  <a:srgbClr val="102C36"/>
                </a:solidFill>
                <a:latin typeface="Arial"/>
                <a:ea typeface="Arial"/>
                <a:cs typeface="Arial"/>
              </a:rPr>
              <a:t>Damage-zone F1</a:t>
            </a:r>
          </a:p>
        </p:txBody>
      </p:sp>
      <p:sp>
        <p:nvSpPr>
          <p:cNvPr id="7" name="Rectangle 6">
            <a:extLst>
              <a:ext uri="{FF2B5EF4-FFF2-40B4-BE49-F238E27FC236}">
                <a16:creationId xmlns:a16="http://schemas.microsoft.com/office/drawing/2014/main" id="{CC76E1AC-89FF-497E-B3D5-6B266C2C3536}"/>
              </a:ext>
            </a:extLst>
          </p:cNvPr>
          <p:cNvSpPr>
            <a:spLocks noGrp="1"/>
          </p:cNvSpPr>
          <p:nvPr/>
        </p:nvSpPr>
        <p:spPr>
          <a:xfrm>
            <a:off x="609600" y="4095750"/>
            <a:ext cx="2381250" cy="695325"/>
          </a:xfrm>
          <a:prstGeom prst="rect">
            <a:avLst/>
          </a:prstGeom>
          <a:noFill/>
          <a:ln w="0">
            <a:noFill/>
          </a:ln>
        </p:spPr>
        <p:txBody>
          <a:bodyPr>
            <a:noAutofit/>
          </a:bodyPr>
          <a:lstStyle/>
          <a:p>
            <a:pPr>
              <a:defRPr sz="3975" b="1">
                <a:solidFill>
                  <a:srgbClr val="007F75"/>
                </a:solidFill>
                <a:latin typeface="Arial"/>
                <a:ea typeface="Arial"/>
                <a:cs typeface="Arial"/>
              </a:defRPr>
            </a:pPr>
            <a:r>
              <a:rPr sz="3975" b="1">
                <a:solidFill>
                  <a:srgbClr val="007F75"/>
                </a:solidFill>
                <a:latin typeface="Arial"/>
                <a:ea typeface="Arial"/>
                <a:cs typeface="Arial"/>
              </a:rPr>
              <a:t>100 %</a:t>
            </a:r>
          </a:p>
        </p:txBody>
      </p:sp>
      <p:sp>
        <p:nvSpPr>
          <p:cNvPr id="8" name="Rectangle 7">
            <a:extLst>
              <a:ext uri="{FF2B5EF4-FFF2-40B4-BE49-F238E27FC236}">
                <a16:creationId xmlns:a16="http://schemas.microsoft.com/office/drawing/2014/main" id="{42DE4D00-D6F0-42B5-A59A-291785F1DBE2}"/>
              </a:ext>
            </a:extLst>
          </p:cNvPr>
          <p:cNvSpPr>
            <a:spLocks noGrp="1"/>
          </p:cNvSpPr>
          <p:nvPr/>
        </p:nvSpPr>
        <p:spPr>
          <a:xfrm>
            <a:off x="609600" y="4838700"/>
            <a:ext cx="4857750" cy="733425"/>
          </a:xfrm>
          <a:prstGeom prst="rect">
            <a:avLst/>
          </a:prstGeom>
          <a:noFill/>
          <a:ln w="0">
            <a:noFill/>
          </a:ln>
        </p:spPr>
        <p:txBody>
          <a:bodyPr>
            <a:noAutofit/>
          </a:bodyPr>
          <a:lstStyle/>
          <a:p>
            <a:pPr>
              <a:defRPr sz="1950" b="0">
                <a:solidFill>
                  <a:srgbClr val="102C36"/>
                </a:solidFill>
                <a:latin typeface="Arial"/>
                <a:ea typeface="Arial"/>
                <a:cs typeface="Arial"/>
              </a:defRPr>
            </a:pPr>
            <a:r>
              <a:rPr sz="1950" b="0">
                <a:solidFill>
                  <a:srgbClr val="102C36"/>
                </a:solidFill>
                <a:latin typeface="Arial"/>
                <a:ea typeface="Arial"/>
                <a:cs typeface="Arial"/>
              </a:rPr>
              <a:t>Case kind + insurance</a:t>
            </a:r>
          </a:p>
          <a:p>
            <a:pPr>
              <a:defRPr sz="1950" b="0">
                <a:solidFill>
                  <a:srgbClr val="102C36"/>
                </a:solidFill>
                <a:latin typeface="Arial"/>
                <a:ea typeface="Arial"/>
                <a:cs typeface="Arial"/>
              </a:defRPr>
            </a:pPr>
            <a:r>
              <a:rPr sz="1950" b="0">
                <a:solidFill>
                  <a:srgbClr val="102C36"/>
                </a:solidFill>
                <a:latin typeface="Arial"/>
                <a:ea typeface="Arial"/>
                <a:cs typeface="Arial"/>
              </a:rPr>
              <a:t>100% quotes verbatim · 0 cases lost</a:t>
            </a:r>
          </a:p>
        </p:txBody>
      </p:sp>
      <p:sp>
        <p:nvSpPr>
          <p:cNvPr id="9" name="Rectangle 8">
            <a:extLst>
              <a:ext uri="{FF2B5EF4-FFF2-40B4-BE49-F238E27FC236}">
                <a16:creationId xmlns:a16="http://schemas.microsoft.com/office/drawing/2014/main" id="{C0F99FCF-EDE9-4F21-A1CA-30393B17D845}"/>
              </a:ext>
            </a:extLst>
          </p:cNvPr>
          <p:cNvSpPr>
            <a:spLocks noGrp="1"/>
          </p:cNvSpPr>
          <p:nvPr/>
        </p:nvSpPr>
        <p:spPr>
          <a:xfrm>
            <a:off x="5838825" y="1428750"/>
            <a:ext cx="5810250" cy="428625"/>
          </a:xfrm>
          <a:prstGeom prst="rect">
            <a:avLst/>
          </a:prstGeom>
          <a:noFill/>
          <a:ln w="0">
            <a:noFill/>
          </a:ln>
        </p:spPr>
        <p:txBody>
          <a:bodyPr>
            <a:noAutofit/>
          </a:bodyPr>
          <a:lstStyle/>
          <a:p>
            <a:pPr>
              <a:defRPr sz="2100" b="1">
                <a:solidFill>
                  <a:srgbClr val="102C36"/>
                </a:solidFill>
                <a:latin typeface="Arial"/>
                <a:ea typeface="Arial"/>
                <a:cs typeface="Arial"/>
              </a:defRPr>
            </a:pPr>
            <a:r>
              <a:rPr sz="2100" b="1">
                <a:solidFill>
                  <a:srgbClr val="102C36"/>
                </a:solidFill>
                <a:latin typeface="Arial"/>
                <a:ea typeface="Arial"/>
                <a:cs typeface="Arial"/>
              </a:rPr>
              <a:t>Severity: 5-model shootout on 150 cases</a:t>
            </a:r>
          </a:p>
        </p:txBody>
      </p:sp>
      <p:sp>
        <p:nvSpPr>
          <p:cNvPr id="10" name="Rectangle 9">
            <a:extLst>
              <a:ext uri="{FF2B5EF4-FFF2-40B4-BE49-F238E27FC236}">
                <a16:creationId xmlns:a16="http://schemas.microsoft.com/office/drawing/2014/main" id="{A3104A55-52D7-4274-8694-F124332AF5F2}"/>
              </a:ext>
            </a:extLst>
          </p:cNvPr>
          <p:cNvSpPr>
            <a:spLocks noGrp="1"/>
          </p:cNvSpPr>
          <p:nvPr/>
        </p:nvSpPr>
        <p:spPr>
          <a:xfrm>
            <a:off x="5838825" y="1924050"/>
            <a:ext cx="5810250" cy="333375"/>
          </a:xfrm>
          <a:prstGeom prst="rect">
            <a:avLst/>
          </a:prstGeom>
          <a:noFill/>
          <a:ln w="0">
            <a:noFill/>
          </a:ln>
        </p:spPr>
        <p:txBody>
          <a:bodyPr>
            <a:noAutofit/>
          </a:bodyPr>
          <a:lstStyle/>
          <a:p>
            <a:pPr>
              <a:defRPr sz="1725" b="0">
                <a:solidFill>
                  <a:srgbClr val="547078"/>
                </a:solidFill>
                <a:latin typeface="Arial"/>
                <a:ea typeface="Arial"/>
                <a:cs typeface="Arial"/>
              </a:defRPr>
            </a:pPr>
            <a:r>
              <a:rPr sz="1725" b="0">
                <a:solidFill>
                  <a:srgbClr val="547078"/>
                </a:solidFill>
                <a:latin typeface="Arial"/>
                <a:ea typeface="Arial"/>
                <a:cs typeface="Arial"/>
              </a:rPr>
              <a:t>Same test set for every model</a:t>
            </a:r>
          </a:p>
        </p:txBody>
      </p:sp>
      <p:graphicFrame>
        <p:nvGraphicFramePr>
          <p:cNvPr id="23" name="Tableau 22"/>
          <p:cNvGraphicFramePr/>
          <p:nvPr/>
        </p:nvGraphicFramePr>
        <p:xfrm>
          <a:off x="5829300" y="2466975"/>
          <a:ext cx="5715000" cy="3000378"/>
        </p:xfrm>
        <a:graphic>
          <a:graphicData uri="http://schemas.openxmlformats.org/drawingml/2006/table">
            <a:tbl>
              <a:tblPr/>
              <a:tblGrid>
                <a:gridCol w="3952875">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tblGrid>
              <a:tr h="500063">
                <a:tc>
                  <a:txBody>
                    <a:bodyPr/>
                    <a:lstStyle/>
                    <a:p>
                      <a:r>
                        <a:t>Model</a:t>
                      </a:r>
                    </a:p>
                  </a:txBody>
                  <a:tcPr>
                    <a:solidFill>
                      <a:srgbClr val="102C36"/>
                    </a:solidFill>
                  </a:tcPr>
                </a:tc>
                <a:tc>
                  <a:txBody>
                    <a:bodyPr/>
                    <a:lstStyle/>
                    <a:p>
                      <a:r>
                        <a:t>Accuracy</a:t>
                      </a:r>
                    </a:p>
                  </a:txBody>
                  <a:tcPr>
                    <a:solidFill>
                      <a:srgbClr val="102C36"/>
                    </a:solidFill>
                  </a:tcPr>
                </a:tc>
                <a:extLst>
                  <a:ext uri="{0D108BD9-81ED-4DB2-BD59-A6C34878D82A}">
                    <a16:rowId xmlns:a16="http://schemas.microsoft.com/office/drawing/2014/main" val="10000"/>
                  </a:ext>
                </a:extLst>
              </a:tr>
              <a:tr h="500063">
                <a:tc>
                  <a:txBody>
                    <a:bodyPr/>
                    <a:lstStyle/>
                    <a:p>
                      <a:r>
                        <a:rPr sz="1875" b="1">
                          <a:solidFill>
                            <a:srgbClr val="102C36"/>
                          </a:solidFill>
                          <a:latin typeface="Arial"/>
                          <a:ea typeface="Arial"/>
                          <a:cs typeface="Arial"/>
                        </a:rPr>
                        <a:t>XGBoost</a:t>
                      </a:r>
                    </a:p>
                  </a:txBody>
                  <a:tcPr>
                    <a:solidFill>
                      <a:srgbClr val="DFEDE7"/>
                    </a:solidFill>
                  </a:tcPr>
                </a:tc>
                <a:tc>
                  <a:txBody>
                    <a:bodyPr/>
                    <a:lstStyle/>
                    <a:p>
                      <a:r>
                        <a:t>82.0 %</a:t>
                      </a:r>
                    </a:p>
                  </a:txBody>
                  <a:tcPr>
                    <a:solidFill>
                      <a:srgbClr val="DFEDE7"/>
                    </a:solidFill>
                  </a:tcPr>
                </a:tc>
                <a:extLst>
                  <a:ext uri="{0D108BD9-81ED-4DB2-BD59-A6C34878D82A}">
                    <a16:rowId xmlns:a16="http://schemas.microsoft.com/office/drawing/2014/main" val="10001"/>
                  </a:ext>
                </a:extLst>
              </a:tr>
              <a:tr h="500063">
                <a:tc>
                  <a:txBody>
                    <a:bodyPr/>
                    <a:lstStyle/>
                    <a:p>
                      <a:r>
                        <a:t>gbert (fine-tuned)</a:t>
                      </a:r>
                    </a:p>
                  </a:txBody>
                  <a:tcPr>
                    <a:solidFill>
                      <a:srgbClr val="F5F4EF"/>
                    </a:solidFill>
                  </a:tcPr>
                </a:tc>
                <a:tc>
                  <a:txBody>
                    <a:bodyPr/>
                    <a:lstStyle/>
                    <a:p>
                      <a:r>
                        <a:t>78.7 %</a:t>
                      </a:r>
                    </a:p>
                  </a:txBody>
                  <a:tcPr>
                    <a:solidFill>
                      <a:srgbClr val="F5F4EF"/>
                    </a:solidFill>
                  </a:tcPr>
                </a:tc>
                <a:extLst>
                  <a:ext uri="{0D108BD9-81ED-4DB2-BD59-A6C34878D82A}">
                    <a16:rowId xmlns:a16="http://schemas.microsoft.com/office/drawing/2014/main" val="10002"/>
                  </a:ext>
                </a:extLst>
              </a:tr>
              <a:tr h="500063">
                <a:tc>
                  <a:txBody>
                    <a:bodyPr/>
                    <a:lstStyle/>
                    <a:p>
                      <a:r>
                        <a:t>Logistic Regression</a:t>
                      </a:r>
                    </a:p>
                  </a:txBody>
                  <a:tcPr>
                    <a:solidFill>
                      <a:srgbClr val="F5F4EF"/>
                    </a:solidFill>
                  </a:tcPr>
                </a:tc>
                <a:tc>
                  <a:txBody>
                    <a:bodyPr/>
                    <a:lstStyle/>
                    <a:p>
                      <a:r>
                        <a:t>73.3 %</a:t>
                      </a:r>
                    </a:p>
                  </a:txBody>
                  <a:tcPr>
                    <a:solidFill>
                      <a:srgbClr val="F5F4EF"/>
                    </a:solidFill>
                  </a:tcPr>
                </a:tc>
                <a:extLst>
                  <a:ext uri="{0D108BD9-81ED-4DB2-BD59-A6C34878D82A}">
                    <a16:rowId xmlns:a16="http://schemas.microsoft.com/office/drawing/2014/main" val="10003"/>
                  </a:ext>
                </a:extLst>
              </a:tr>
              <a:tr h="500063">
                <a:tc>
                  <a:txBody>
                    <a:bodyPr/>
                    <a:lstStyle/>
                    <a:p>
                      <a:r>
                        <a:rPr sz="1875" b="0">
                          <a:solidFill>
                            <a:srgbClr val="102C36"/>
                          </a:solidFill>
                          <a:latin typeface="Arial"/>
                          <a:ea typeface="Arial"/>
                          <a:cs typeface="Arial"/>
                        </a:rPr>
                        <a:t>DeepSeek</a:t>
                      </a:r>
                    </a:p>
                  </a:txBody>
                  <a:tcPr>
                    <a:solidFill>
                      <a:srgbClr val="F5F4EF"/>
                    </a:solidFill>
                  </a:tcPr>
                </a:tc>
                <a:tc>
                  <a:txBody>
                    <a:bodyPr/>
                    <a:lstStyle/>
                    <a:p>
                      <a:r>
                        <a:t>72.7 %</a:t>
                      </a:r>
                    </a:p>
                  </a:txBody>
                  <a:tcPr>
                    <a:solidFill>
                      <a:srgbClr val="F5F4EF"/>
                    </a:solidFill>
                  </a:tcPr>
                </a:tc>
                <a:extLst>
                  <a:ext uri="{0D108BD9-81ED-4DB2-BD59-A6C34878D82A}">
                    <a16:rowId xmlns:a16="http://schemas.microsoft.com/office/drawing/2014/main" val="10004"/>
                  </a:ext>
                </a:extLst>
              </a:tr>
              <a:tr h="500063">
                <a:tc>
                  <a:txBody>
                    <a:bodyPr/>
                    <a:lstStyle/>
                    <a:p>
                      <a:r>
                        <a:rPr sz="1875" b="0">
                          <a:solidFill>
                            <a:srgbClr val="102C36"/>
                          </a:solidFill>
                          <a:latin typeface="Arial"/>
                          <a:ea typeface="Arial"/>
                          <a:cs typeface="Arial"/>
                        </a:rPr>
                        <a:t>LightGBM</a:t>
                      </a:r>
                    </a:p>
                  </a:txBody>
                  <a:tcPr>
                    <a:solidFill>
                      <a:srgbClr val="F5F4EF"/>
                    </a:solidFill>
                  </a:tcPr>
                </a:tc>
                <a:tc>
                  <a:txBody>
                    <a:bodyPr/>
                    <a:lstStyle/>
                    <a:p>
                      <a:r>
                        <a:t>65.3 %</a:t>
                      </a:r>
                    </a:p>
                  </a:txBody>
                  <a:tcPr>
                    <a:solidFill>
                      <a:srgbClr val="F5F4EF"/>
                    </a:solidFill>
                  </a:tcPr>
                </a:tc>
                <a:extLst>
                  <a:ext uri="{0D108BD9-81ED-4DB2-BD59-A6C34878D82A}">
                    <a16:rowId xmlns:a16="http://schemas.microsoft.com/office/drawing/2014/main" val="10005"/>
                  </a:ext>
                </a:extLst>
              </a:tr>
            </a:tbl>
          </a:graphicData>
        </a:graphic>
      </p:graphicFrame>
      <p:sp>
        <p:nvSpPr>
          <p:cNvPr id="12" name="Rectangle 11">
            <a:extLst>
              <a:ext uri="{FF2B5EF4-FFF2-40B4-BE49-F238E27FC236}">
                <a16:creationId xmlns:a16="http://schemas.microsoft.com/office/drawing/2014/main" id="{53E3152F-9ACB-4845-AA41-2553BF79334F}"/>
              </a:ext>
            </a:extLst>
          </p:cNvPr>
          <p:cNvSpPr>
            <a:spLocks noGrp="1"/>
          </p:cNvSpPr>
          <p:nvPr/>
        </p:nvSpPr>
        <p:spPr>
          <a:xfrm>
            <a:off x="609600" y="5934075"/>
            <a:ext cx="10858500" cy="495300"/>
          </a:xfrm>
          <a:prstGeom prst="rect">
            <a:avLst/>
          </a:prstGeom>
          <a:noFill/>
          <a:ln w="0">
            <a:noFill/>
          </a:ln>
        </p:spPr>
        <p:txBody>
          <a:bodyPr>
            <a:noAutofit/>
          </a:bodyPr>
          <a:lstStyle/>
          <a:p>
            <a:pPr>
              <a:defRPr sz="1500" b="0">
                <a:solidFill>
                  <a:srgbClr val="547078"/>
                </a:solidFill>
                <a:latin typeface="Arial"/>
                <a:ea typeface="Arial"/>
                <a:cs typeface="Arial"/>
              </a:defRPr>
            </a:pPr>
            <a:r>
              <a:rPr sz="1500" b="0">
                <a:solidFill>
                  <a:srgbClr val="547078"/>
                </a:solidFill>
                <a:latin typeface="Arial"/>
                <a:ea typeface="Arial"/>
                <a:cs typeface="Arial"/>
              </a:rPr>
              <a:t>¹ Insurance: 434 damage cases. Severity: 284 train / 150 test. On the 434 damage cases: DeepSeek severity 68.7% vs a 79.5% data-ceiling.</a:t>
            </a:r>
          </a:p>
        </p:txBody>
      </p:sp>
    </p:spTree>
    <p:extLst>
      <p:ext uri="{BB962C8B-B14F-4D97-AF65-F5344CB8AC3E}">
        <p14:creationId xmlns:p14="http://schemas.microsoft.com/office/powerpoint/2010/main" val="2139342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C389F48-7629-4AD2-B4AD-5458322DA05D}"/>
              </a:ext>
            </a:extLst>
          </p:cNvPr>
          <p:cNvSpPr>
            <a:spLocks noGrp="1"/>
          </p:cNvSpPr>
          <p:nvPr/>
        </p:nvSpPr>
        <p:spPr>
          <a:xfrm>
            <a:off x="609600" y="409575"/>
            <a:ext cx="10953750" cy="714375"/>
          </a:xfrm>
          <a:prstGeom prst="rect">
            <a:avLst/>
          </a:prstGeom>
          <a:noFill/>
          <a:ln w="0">
            <a:noFill/>
          </a:ln>
        </p:spPr>
        <p:txBody>
          <a:bodyPr>
            <a:noAutofit/>
          </a:bodyPr>
          <a:lstStyle/>
          <a:p>
            <a:pPr>
              <a:defRPr sz="3225" b="1">
                <a:solidFill>
                  <a:srgbClr val="102C36"/>
                </a:solidFill>
                <a:latin typeface="Arial"/>
                <a:ea typeface="Arial"/>
                <a:cs typeface="Arial"/>
              </a:defRPr>
            </a:pPr>
            <a:r>
              <a:rPr sz="3225" b="1">
                <a:solidFill>
                  <a:srgbClr val="102C36"/>
                </a:solidFill>
                <a:latin typeface="Arial"/>
                <a:ea typeface="Arial"/>
                <a:cs typeface="Arial"/>
              </a:rPr>
              <a:t>Limits — said out loud</a:t>
            </a:r>
          </a:p>
        </p:txBody>
      </p:sp>
      <p:sp>
        <p:nvSpPr>
          <p:cNvPr id="2" name="Rectangle 1">
            <a:extLst>
              <a:ext uri="{FF2B5EF4-FFF2-40B4-BE49-F238E27FC236}">
                <a16:creationId xmlns:a16="http://schemas.microsoft.com/office/drawing/2014/main" id="{1F279D86-D8BF-4076-A107-1F1D8EDDFB29}"/>
              </a:ext>
            </a:extLst>
          </p:cNvPr>
          <p:cNvSpPr>
            <a:spLocks noGrp="1"/>
          </p:cNvSpPr>
          <p:nvPr/>
        </p:nvSpPr>
        <p:spPr>
          <a:xfrm>
            <a:off x="11144250" y="6324600"/>
            <a:ext cx="476250" cy="285750"/>
          </a:xfrm>
          <a:prstGeom prst="rect">
            <a:avLst/>
          </a:prstGeom>
          <a:noFill/>
          <a:ln w="0">
            <a:noFill/>
          </a:ln>
        </p:spPr>
        <p:txBody>
          <a:bodyPr>
            <a:noAutofit/>
          </a:bodyPr>
          <a:lstStyle/>
          <a:p>
            <a:pPr>
              <a:defRPr sz="1350" b="0">
                <a:solidFill>
                  <a:srgbClr val="547078"/>
                </a:solidFill>
                <a:latin typeface="Arial"/>
                <a:ea typeface="Arial"/>
                <a:cs typeface="Arial"/>
              </a:defRPr>
            </a:pPr>
            <a:r>
              <a:rPr sz="1350" b="0">
                <a:solidFill>
                  <a:srgbClr val="547078"/>
                </a:solidFill>
                <a:latin typeface="Arial"/>
                <a:ea typeface="Arial"/>
                <a:cs typeface="Arial"/>
              </a:rPr>
              <a:t>06</a:t>
            </a:r>
          </a:p>
        </p:txBody>
      </p:sp>
      <p:sp>
        <p:nvSpPr>
          <p:cNvPr id="3" name="Rectangle 2">
            <a:extLst>
              <a:ext uri="{FF2B5EF4-FFF2-40B4-BE49-F238E27FC236}">
                <a16:creationId xmlns:a16="http://schemas.microsoft.com/office/drawing/2014/main" id="{0E181C90-9565-4CBE-99B0-94615C2FE127}"/>
              </a:ext>
            </a:extLst>
          </p:cNvPr>
          <p:cNvSpPr>
            <a:spLocks noGrp="1"/>
          </p:cNvSpPr>
          <p:nvPr/>
        </p:nvSpPr>
        <p:spPr>
          <a:xfrm>
            <a:off x="609600" y="1466850"/>
            <a:ext cx="6286500" cy="447675"/>
          </a:xfrm>
          <a:prstGeom prst="rect">
            <a:avLst/>
          </a:prstGeom>
          <a:noFill/>
          <a:ln w="0">
            <a:noFill/>
          </a:ln>
        </p:spPr>
        <p:txBody>
          <a:bodyPr>
            <a:noAutofit/>
          </a:bodyPr>
          <a:lstStyle/>
          <a:p>
            <a:pPr>
              <a:defRPr sz="2250" b="1">
                <a:solidFill>
                  <a:srgbClr val="102C36"/>
                </a:solidFill>
                <a:latin typeface="Arial"/>
                <a:ea typeface="Arial"/>
                <a:cs typeface="Arial"/>
              </a:defRPr>
            </a:pPr>
            <a:r>
              <a:rPr sz="2250" b="1">
                <a:solidFill>
                  <a:srgbClr val="102C36"/>
                </a:solidFill>
                <a:latin typeface="Arial"/>
                <a:ea typeface="Arial"/>
                <a:cs typeface="Arial"/>
              </a:rPr>
              <a:t>The question the jury pressed on</a:t>
            </a:r>
          </a:p>
        </p:txBody>
      </p:sp>
      <p:sp>
        <p:nvSpPr>
          <p:cNvPr id="4" name="Rectangle 3">
            <a:extLst>
              <a:ext uri="{FF2B5EF4-FFF2-40B4-BE49-F238E27FC236}">
                <a16:creationId xmlns:a16="http://schemas.microsoft.com/office/drawing/2014/main" id="{F76A8715-957D-41E5-BAD0-0B3F1591C4E3}"/>
              </a:ext>
            </a:extLst>
          </p:cNvPr>
          <p:cNvSpPr>
            <a:spLocks noGrp="1"/>
          </p:cNvSpPr>
          <p:nvPr/>
        </p:nvSpPr>
        <p:spPr>
          <a:xfrm>
            <a:off x="609600" y="2114550"/>
            <a:ext cx="6667500" cy="952500"/>
          </a:xfrm>
          <a:prstGeom prst="rect">
            <a:avLst/>
          </a:prstGeom>
          <a:noFill/>
          <a:ln w="0">
            <a:noFill/>
          </a:ln>
        </p:spPr>
        <p:txBody>
          <a:bodyPr>
            <a:noAutofit/>
          </a:bodyPr>
          <a:lstStyle/>
          <a:p>
            <a:pPr>
              <a:defRPr sz="2025" b="0">
                <a:solidFill>
                  <a:srgbClr val="102C36"/>
                </a:solidFill>
                <a:latin typeface="Arial"/>
                <a:ea typeface="Arial"/>
                <a:cs typeface="Arial"/>
              </a:defRPr>
            </a:pPr>
            <a:r>
              <a:rPr sz="2025" b="0">
                <a:solidFill>
                  <a:srgbClr val="102C36"/>
                </a:solidFill>
                <a:latin typeface="Arial"/>
                <a:ea typeface="Arial"/>
                <a:cs typeface="Arial"/>
              </a:rPr>
              <a:t>"How do we know which parts to remove to repair another one?" Today that comes from a hand-reviewed adjacency table (bodywork only).</a:t>
            </a:r>
          </a:p>
          <a:p>
            <a:pPr>
              <a:defRPr sz="2025" b="0">
                <a:solidFill>
                  <a:srgbClr val="102C36"/>
                </a:solidFill>
                <a:latin typeface="Arial"/>
                <a:ea typeface="Arial"/>
                <a:cs typeface="Arial"/>
              </a:defRPr>
            </a:pPr>
            <a:endParaRPr sz="2025" b="0">
              <a:solidFill>
                <a:srgbClr val="102C36"/>
              </a:solidFill>
              <a:latin typeface="Arial"/>
              <a:ea typeface="Arial"/>
              <a:cs typeface="Arial"/>
            </a:endParaRPr>
          </a:p>
        </p:txBody>
      </p:sp>
      <p:sp>
        <p:nvSpPr>
          <p:cNvPr id="5" name="Rectangle 4">
            <a:extLst>
              <a:ext uri="{FF2B5EF4-FFF2-40B4-BE49-F238E27FC236}">
                <a16:creationId xmlns:a16="http://schemas.microsoft.com/office/drawing/2014/main" id="{B819C22A-19B2-4757-8D54-2B69F0CDC573}"/>
              </a:ext>
            </a:extLst>
          </p:cNvPr>
          <p:cNvSpPr>
            <a:spLocks noGrp="1"/>
          </p:cNvSpPr>
          <p:nvPr/>
        </p:nvSpPr>
        <p:spPr>
          <a:xfrm>
            <a:off x="609600" y="3381375"/>
            <a:ext cx="6667500" cy="857250"/>
          </a:xfrm>
          <a:prstGeom prst="rect">
            <a:avLst/>
          </a:prstGeom>
          <a:noFill/>
          <a:ln w="0">
            <a:noFill/>
          </a:ln>
        </p:spPr>
        <p:txBody>
          <a:bodyPr>
            <a:noAutofit/>
          </a:bodyPr>
          <a:lstStyle/>
          <a:p>
            <a:pPr>
              <a:defRPr sz="2025" b="0">
                <a:solidFill>
                  <a:srgbClr val="102C36"/>
                </a:solidFill>
                <a:latin typeface="Arial"/>
                <a:ea typeface="Arial"/>
                <a:cs typeface="Arial"/>
              </a:defRPr>
            </a:pPr>
            <a:r>
              <a:rPr sz="2025" b="0" dirty="0">
                <a:solidFill>
                  <a:srgbClr val="102C36"/>
                </a:solidFill>
                <a:latin typeface="Arial"/>
                <a:ea typeface="Arial"/>
                <a:cs typeface="Arial"/>
              </a:rPr>
              <a:t>The dataset has NO parts, operation or removal labels — so remove-and-install is expert-rule-based and unverified. Mechanical R&amp;I (brake pads → wheels) is out of scope.</a:t>
            </a:r>
          </a:p>
          <a:p>
            <a:pPr>
              <a:defRPr sz="2025" b="0">
                <a:solidFill>
                  <a:srgbClr val="102C36"/>
                </a:solidFill>
                <a:latin typeface="Arial"/>
                <a:ea typeface="Arial"/>
                <a:cs typeface="Arial"/>
              </a:defRPr>
            </a:pPr>
            <a:endParaRPr sz="2025" b="0" dirty="0">
              <a:solidFill>
                <a:srgbClr val="102C36"/>
              </a:solidFill>
              <a:latin typeface="Arial"/>
              <a:ea typeface="Arial"/>
              <a:cs typeface="Arial"/>
            </a:endParaRPr>
          </a:p>
        </p:txBody>
      </p:sp>
      <p:sp>
        <p:nvSpPr>
          <p:cNvPr id="6" name="Rectangle 5">
            <a:extLst>
              <a:ext uri="{FF2B5EF4-FFF2-40B4-BE49-F238E27FC236}">
                <a16:creationId xmlns:a16="http://schemas.microsoft.com/office/drawing/2014/main" id="{CD561742-7960-4149-933B-C9EE70756C2D}"/>
              </a:ext>
            </a:extLst>
          </p:cNvPr>
          <p:cNvSpPr>
            <a:spLocks noGrp="1"/>
          </p:cNvSpPr>
          <p:nvPr/>
        </p:nvSpPr>
        <p:spPr>
          <a:xfrm>
            <a:off x="609600" y="4733925"/>
            <a:ext cx="6667500" cy="895350"/>
          </a:xfrm>
          <a:prstGeom prst="rect">
            <a:avLst/>
          </a:prstGeom>
          <a:noFill/>
          <a:ln w="0">
            <a:noFill/>
          </a:ln>
        </p:spPr>
        <p:txBody>
          <a:bodyPr>
            <a:noAutofit/>
          </a:bodyPr>
          <a:lstStyle/>
          <a:p>
            <a:pPr>
              <a:defRPr sz="2025" b="0">
                <a:solidFill>
                  <a:srgbClr val="102C36"/>
                </a:solidFill>
                <a:latin typeface="Arial"/>
                <a:ea typeface="Arial"/>
                <a:cs typeface="Arial"/>
              </a:defRPr>
            </a:pPr>
            <a:r>
              <a:rPr sz="2025" b="0" dirty="0">
                <a:solidFill>
                  <a:srgbClr val="102C36"/>
                </a:solidFill>
                <a:latin typeface="Arial"/>
                <a:ea typeface="Arial"/>
                <a:cs typeface="Arial"/>
              </a:rPr>
              <a:t>Severity is a data limit: the identical sentence carries light, medium AND severe labels — a ~79.5% ceiling, not a model gap.</a:t>
            </a:r>
          </a:p>
          <a:p>
            <a:pPr>
              <a:defRPr sz="2025" b="0">
                <a:solidFill>
                  <a:srgbClr val="102C36"/>
                </a:solidFill>
                <a:latin typeface="Arial"/>
                <a:ea typeface="Arial"/>
                <a:cs typeface="Arial"/>
              </a:defRPr>
            </a:pPr>
            <a:endParaRPr sz="2025" b="0" dirty="0">
              <a:solidFill>
                <a:srgbClr val="102C36"/>
              </a:solidFill>
              <a:latin typeface="Arial"/>
              <a:ea typeface="Arial"/>
              <a:cs typeface="Arial"/>
            </a:endParaRPr>
          </a:p>
        </p:txBody>
      </p:sp>
      <p:sp>
        <p:nvSpPr>
          <p:cNvPr id="7" name="Rectangle 6">
            <a:extLst>
              <a:ext uri="{FF2B5EF4-FFF2-40B4-BE49-F238E27FC236}">
                <a16:creationId xmlns:a16="http://schemas.microsoft.com/office/drawing/2014/main" id="{05C8C0DA-366F-48DC-9AED-DBFE564313CB}"/>
              </a:ext>
            </a:extLst>
          </p:cNvPr>
          <p:cNvSpPr>
            <a:spLocks noGrp="1"/>
          </p:cNvSpPr>
          <p:nvPr/>
        </p:nvSpPr>
        <p:spPr>
          <a:xfrm>
            <a:off x="7962900" y="1466850"/>
            <a:ext cx="3333750" cy="447675"/>
          </a:xfrm>
          <a:prstGeom prst="rect">
            <a:avLst/>
          </a:prstGeom>
          <a:noFill/>
          <a:ln w="0">
            <a:noFill/>
          </a:ln>
        </p:spPr>
        <p:txBody>
          <a:bodyPr>
            <a:noAutofit/>
          </a:bodyPr>
          <a:lstStyle/>
          <a:p>
            <a:pPr>
              <a:defRPr sz="2250" b="1">
                <a:solidFill>
                  <a:srgbClr val="007F75"/>
                </a:solidFill>
                <a:latin typeface="Arial"/>
                <a:ea typeface="Arial"/>
                <a:cs typeface="Arial"/>
              </a:defRPr>
            </a:pPr>
            <a:r>
              <a:rPr sz="2250" b="1">
                <a:solidFill>
                  <a:srgbClr val="007F75"/>
                </a:solidFill>
                <a:latin typeface="Arial"/>
                <a:ea typeface="Arial"/>
                <a:cs typeface="Arial"/>
              </a:rPr>
              <a:t>Next</a:t>
            </a:r>
          </a:p>
        </p:txBody>
      </p:sp>
      <p:sp>
        <p:nvSpPr>
          <p:cNvPr id="8" name="Rectangle 7">
            <a:extLst>
              <a:ext uri="{FF2B5EF4-FFF2-40B4-BE49-F238E27FC236}">
                <a16:creationId xmlns:a16="http://schemas.microsoft.com/office/drawing/2014/main" id="{3B75BDFE-74AA-4D75-B56B-D4D3E2FBC8FF}"/>
              </a:ext>
            </a:extLst>
          </p:cNvPr>
          <p:cNvSpPr>
            <a:spLocks noGrp="1"/>
          </p:cNvSpPr>
          <p:nvPr/>
        </p:nvSpPr>
        <p:spPr>
          <a:xfrm>
            <a:off x="7962900" y="2219325"/>
            <a:ext cx="3333750" cy="876300"/>
          </a:xfrm>
          <a:prstGeom prst="rect">
            <a:avLst/>
          </a:prstGeom>
          <a:noFill/>
          <a:ln w="0">
            <a:noFill/>
          </a:ln>
        </p:spPr>
        <p:txBody>
          <a:bodyPr>
            <a:noAutofit/>
          </a:bodyPr>
          <a:lstStyle/>
          <a:p>
            <a:pPr>
              <a:defRPr sz="1875" b="0">
                <a:solidFill>
                  <a:srgbClr val="547078"/>
                </a:solidFill>
                <a:latin typeface="Arial"/>
                <a:ea typeface="Arial"/>
                <a:cs typeface="Arial"/>
              </a:defRPr>
            </a:pPr>
            <a:r>
              <a:rPr sz="1875" b="0">
                <a:solidFill>
                  <a:srgbClr val="547078"/>
                </a:solidFill>
                <a:latin typeface="Arial"/>
                <a:ea typeface="Arial"/>
                <a:cs typeface="Arial"/>
              </a:rPr>
              <a:t>Validate the adjacency</a:t>
            </a:r>
          </a:p>
          <a:p>
            <a:pPr>
              <a:defRPr sz="1875" b="0">
                <a:solidFill>
                  <a:srgbClr val="547078"/>
                </a:solidFill>
                <a:latin typeface="Arial"/>
                <a:ea typeface="Arial"/>
                <a:cs typeface="Arial"/>
              </a:defRPr>
            </a:pPr>
            <a:r>
              <a:rPr sz="1875" b="0">
                <a:solidFill>
                  <a:srgbClr val="547078"/>
                </a:solidFill>
                <a:latin typeface="Arial"/>
                <a:ea typeface="Arial"/>
                <a:cs typeface="Arial"/>
              </a:rPr>
              <a:t>rules with the workshop</a:t>
            </a:r>
          </a:p>
        </p:txBody>
      </p:sp>
      <p:sp>
        <p:nvSpPr>
          <p:cNvPr id="9" name="Rectangle 8">
            <a:extLst>
              <a:ext uri="{FF2B5EF4-FFF2-40B4-BE49-F238E27FC236}">
                <a16:creationId xmlns:a16="http://schemas.microsoft.com/office/drawing/2014/main" id="{083F0F77-EC28-4E74-B2DD-1DAC3E22F23D}"/>
              </a:ext>
            </a:extLst>
          </p:cNvPr>
          <p:cNvSpPr>
            <a:spLocks noGrp="1"/>
          </p:cNvSpPr>
          <p:nvPr/>
        </p:nvSpPr>
        <p:spPr>
          <a:xfrm>
            <a:off x="7962900" y="3457575"/>
            <a:ext cx="3333750" cy="876300"/>
          </a:xfrm>
          <a:prstGeom prst="rect">
            <a:avLst/>
          </a:prstGeom>
          <a:noFill/>
          <a:ln w="0">
            <a:noFill/>
          </a:ln>
        </p:spPr>
        <p:txBody>
          <a:bodyPr>
            <a:noAutofit/>
          </a:bodyPr>
          <a:lstStyle/>
          <a:p>
            <a:pPr>
              <a:defRPr sz="1875" b="0">
                <a:solidFill>
                  <a:srgbClr val="547078"/>
                </a:solidFill>
                <a:latin typeface="Arial"/>
                <a:ea typeface="Arial"/>
                <a:cs typeface="Arial"/>
              </a:defRPr>
            </a:pPr>
            <a:r>
              <a:rPr sz="1875" b="0">
                <a:solidFill>
                  <a:srgbClr val="547078"/>
                </a:solidFill>
                <a:latin typeface="Arial"/>
                <a:ea typeface="Arial"/>
                <a:cs typeface="Arial"/>
              </a:rPr>
              <a:t>Learn R&amp;I from real</a:t>
            </a:r>
          </a:p>
          <a:p>
            <a:pPr>
              <a:defRPr sz="1875" b="0">
                <a:solidFill>
                  <a:srgbClr val="547078"/>
                </a:solidFill>
                <a:latin typeface="Arial"/>
                <a:ea typeface="Arial"/>
                <a:cs typeface="Arial"/>
              </a:defRPr>
            </a:pPr>
            <a:r>
              <a:rPr sz="1875" b="0">
                <a:solidFill>
                  <a:srgbClr val="547078"/>
                </a:solidFill>
                <a:latin typeface="Arial"/>
                <a:ea typeface="Arial"/>
                <a:cs typeface="Arial"/>
              </a:rPr>
              <a:t>repair-order histories</a:t>
            </a:r>
          </a:p>
        </p:txBody>
      </p:sp>
      <p:sp>
        <p:nvSpPr>
          <p:cNvPr id="10" name="Rectangle 9">
            <a:extLst>
              <a:ext uri="{FF2B5EF4-FFF2-40B4-BE49-F238E27FC236}">
                <a16:creationId xmlns:a16="http://schemas.microsoft.com/office/drawing/2014/main" id="{E7E7DBCA-9497-4FB0-A559-61AD4249BD49}"/>
              </a:ext>
            </a:extLst>
          </p:cNvPr>
          <p:cNvSpPr>
            <a:spLocks noGrp="1"/>
          </p:cNvSpPr>
          <p:nvPr/>
        </p:nvSpPr>
        <p:spPr>
          <a:xfrm>
            <a:off x="7962900" y="4695825"/>
            <a:ext cx="3333750" cy="876300"/>
          </a:xfrm>
          <a:prstGeom prst="rect">
            <a:avLst/>
          </a:prstGeom>
          <a:noFill/>
          <a:ln w="0">
            <a:noFill/>
          </a:ln>
        </p:spPr>
        <p:txBody>
          <a:bodyPr>
            <a:noAutofit/>
          </a:bodyPr>
          <a:lstStyle/>
          <a:p>
            <a:pPr>
              <a:defRPr sz="1875" b="0">
                <a:solidFill>
                  <a:srgbClr val="547078"/>
                </a:solidFill>
                <a:latin typeface="Arial"/>
                <a:ea typeface="Arial"/>
                <a:cs typeface="Arial"/>
              </a:defRPr>
            </a:pPr>
            <a:r>
              <a:rPr sz="1875" b="0">
                <a:solidFill>
                  <a:srgbClr val="547078"/>
                </a:solidFill>
                <a:latin typeface="Arial"/>
                <a:ea typeface="Arial"/>
                <a:cs typeface="Arial"/>
              </a:rPr>
              <a:t>Test on real</a:t>
            </a:r>
          </a:p>
          <a:p>
            <a:pPr>
              <a:defRPr sz="1875" b="0">
                <a:solidFill>
                  <a:srgbClr val="547078"/>
                </a:solidFill>
                <a:latin typeface="Arial"/>
                <a:ea typeface="Arial"/>
                <a:cs typeface="Arial"/>
              </a:defRPr>
            </a:pPr>
            <a:r>
              <a:rPr sz="1875" b="0">
                <a:solidFill>
                  <a:srgbClr val="547078"/>
                </a:solidFill>
                <a:latin typeface="Arial"/>
                <a:ea typeface="Arial"/>
                <a:cs typeface="Arial"/>
              </a:rPr>
              <a:t>production notes</a:t>
            </a:r>
          </a:p>
        </p:txBody>
      </p:sp>
      <p:sp>
        <p:nvSpPr>
          <p:cNvPr id="11" name="Rectangle 10">
            <a:extLst>
              <a:ext uri="{FF2B5EF4-FFF2-40B4-BE49-F238E27FC236}">
                <a16:creationId xmlns:a16="http://schemas.microsoft.com/office/drawing/2014/main" id="{CD34A495-CE5A-4E7E-9DBF-ED860B8E05B7}"/>
              </a:ext>
            </a:extLst>
          </p:cNvPr>
          <p:cNvSpPr>
            <a:spLocks noGrp="1"/>
          </p:cNvSpPr>
          <p:nvPr/>
        </p:nvSpPr>
        <p:spPr>
          <a:xfrm>
            <a:off x="609600" y="6000750"/>
            <a:ext cx="10763250" cy="381000"/>
          </a:xfrm>
          <a:prstGeom prst="rect">
            <a:avLst/>
          </a:prstGeom>
          <a:noFill/>
          <a:ln w="0">
            <a:noFill/>
          </a:ln>
        </p:spPr>
        <p:txBody>
          <a:bodyPr>
            <a:noAutofit/>
          </a:bodyPr>
          <a:lstStyle/>
          <a:p>
            <a:pPr>
              <a:defRPr sz="1650" b="0">
                <a:solidFill>
                  <a:srgbClr val="007F75"/>
                </a:solidFill>
                <a:latin typeface="Arial"/>
                <a:ea typeface="Arial"/>
                <a:cs typeface="Arial"/>
              </a:defRPr>
            </a:pPr>
            <a:r>
              <a:rPr sz="1650" b="0">
                <a:solidFill>
                  <a:srgbClr val="007F75"/>
                </a:solidFill>
                <a:latin typeface="Arial"/>
                <a:ea typeface="Arial"/>
                <a:cs typeface="Arial"/>
              </a:rPr>
              <a:t>Synthetic corpus: a regex baseline looks strong on zones; only 2 unmapped terms in 1,000 cases, flagged never dropped.</a:t>
            </a:r>
          </a:p>
        </p:txBody>
      </p:sp>
    </p:spTree>
    <p:extLst>
      <p:ext uri="{BB962C8B-B14F-4D97-AF65-F5344CB8AC3E}">
        <p14:creationId xmlns:p14="http://schemas.microsoft.com/office/powerpoint/2010/main" val="142409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1690</Words>
  <Application>Microsoft Office PowerPoint</Application>
  <DocSecurity>0</DocSecurity>
  <PresentationFormat>Grand écran</PresentationFormat>
  <Paragraphs>117</Paragraphs>
  <Slides>6</Slides>
  <Notes>6</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6</vt:i4>
      </vt:variant>
    </vt:vector>
  </HeadingPairs>
  <TitlesOfParts>
    <vt:vector size="9" baseType="lpstr">
      <vt:lpstr>Arial</vt:lpstr>
      <vt:lpstr>Calibri</vt:lpstr>
      <vt:lpstr>ChatGPT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Mohammed bendaou</cp:lastModifiedBy>
  <cp:revision>1</cp:revision>
  <dcterms:created xsi:type="dcterms:W3CDTF">2026-09-18T15:11:40Z</dcterms:created>
  <dcterms:modified xsi:type="dcterms:W3CDTF">2026-09-18T18:21:35Z</dcterms:modified>
</cp:coreProperties>
</file>