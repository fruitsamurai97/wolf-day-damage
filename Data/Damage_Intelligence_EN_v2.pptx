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1.xml" ContentType="application/vnd.openxmlformats-officedocument.drawingml.char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5dd75a0298b44405" Type="http://schemas.openxmlformats.org/package/2006/relationships/metadata/core-properties" Target="docProps/core.xml"/><Relationship Id="Ra111f925e632452b" Type="http://schemas.openxmlformats.org/officeDocument/2006/relationships/officeDocument" Target="ppt/presentation.xml"/><Relationship Id="Rbb4953cef9194fd8"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15d4828066f4c4e"/>
  </p:sldMasterIdLst>
  <p:notesMasterIdLst>
    <p:notesMasterId xmlns:r="http://schemas.openxmlformats.org/officeDocument/2006/relationships" r:id="Ra4c3de909ef64d10"/>
  </p:notesMasterIdLst>
  <p:sldIdLst>
    <p:sldId xmlns:r="http://schemas.openxmlformats.org/officeDocument/2006/relationships" id="256" r:id="Rdb0144ecf6534137"/>
    <p:sldId xmlns:r="http://schemas.openxmlformats.org/officeDocument/2006/relationships" id="257" r:id="R0256ee8a6b3340e3"/>
    <p:sldId xmlns:r="http://schemas.openxmlformats.org/officeDocument/2006/relationships" id="258" r:id="R5819b93a127a4ef9"/>
    <p:sldId xmlns:r="http://schemas.openxmlformats.org/officeDocument/2006/relationships" id="259" r:id="R099c577d55334562"/>
    <p:sldId xmlns:r="http://schemas.openxmlformats.org/officeDocument/2006/relationships" id="260" r:id="R0b4f5f3c7bdd49fe"/>
    <p:sldId xmlns:r="http://schemas.openxmlformats.org/officeDocument/2006/relationships" id="261" r:id="R920367bc987f451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256ee8a6b3340e3" Type="http://schemas.openxmlformats.org/officeDocument/2006/relationships/slide" Target="slides/slide2.xml"/><Relationship Id="R099c577d55334562" Type="http://schemas.openxmlformats.org/officeDocument/2006/relationships/slide" Target="slides/slide4.xml"/><Relationship Id="R0b4f5f3c7bdd49fe" Type="http://schemas.openxmlformats.org/officeDocument/2006/relationships/slide" Target="slides/slide5.xml"/><Relationship Id="R5819b93a127a4ef9" Type="http://schemas.openxmlformats.org/officeDocument/2006/relationships/slide" Target="slides/slide3.xml"/><Relationship Id="R608b7e8c709743c4" Type="http://schemas.openxmlformats.org/officeDocument/2006/relationships/theme" Target="theme/theme1.xml"/><Relationship Id="R6b366cd69f9b409c" Type="http://schemas.openxmlformats.org/officeDocument/2006/relationships/presProps" Target="presProps.xml"/><Relationship Id="R920367bc987f451d" Type="http://schemas.openxmlformats.org/officeDocument/2006/relationships/slide" Target="slides/slide6.xml"/><Relationship Id="Ra4c3de909ef64d10" Type="http://schemas.openxmlformats.org/officeDocument/2006/relationships/notesMaster" Target="notesMasters/notesMaster1.xml"/><Relationship Id="Rbacb7912903c4f75" Type="http://schemas.openxmlformats.org/officeDocument/2006/relationships/tableStyles" Target="tableStyles.xml"/><Relationship Id="Rd15d4828066f4c4e" Type="http://schemas.openxmlformats.org/officeDocument/2006/relationships/slideMaster" Target="slideMasters/slideMaster1.xml"/><Relationship Id="Rdb0144ecf6534137"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a747fc3f1ca148b4"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be3d8a162d2b408d" Type="http://schemas.openxmlformats.org/officeDocument/2006/relationships/slide" Target="../slides/slide1.xml"/><Relationship Id="Rfa9af5fa882642d6"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b3d4e25b6ec434a" Type="http://schemas.openxmlformats.org/officeDocument/2006/relationships/notesMaster" Target="../notesMasters/notesMaster1.xml"/><Relationship Id="Rf1444b4d4ac64dcb"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0a6b82200e2d4b06" Type="http://schemas.openxmlformats.org/officeDocument/2006/relationships/slide" Target="../slides/slide3.xml"/><Relationship Id="R12eb38e4f1e1401e"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2dee3a1c7b1d472b" Type="http://schemas.openxmlformats.org/officeDocument/2006/relationships/slide" Target="../slides/slide4.xml"/><Relationship Id="R9e24f540e5e94fda"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701070641b2e42dc" Type="http://schemas.openxmlformats.org/officeDocument/2006/relationships/notesMaster" Target="../notesMasters/notesMaster1.xml"/><Relationship Id="Re95d80d9d1574bb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29e2703000cb470a" Type="http://schemas.openxmlformats.org/officeDocument/2006/relationships/notesMaster" Target="../notesMasters/notesMaster1.xml"/><Relationship Id="Rc5a28ae0e7af403b" Type="http://schemas.openxmlformats.org/officeDocument/2006/relationships/slide" Target="../slides/slide6.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pitch: "Before we dive in, here's the live link so you can follow along: wolf-day-damage.vercel.app/dashboard. I'll walk you through what we built, then we'll review the dashboard together — it's designed for the workshop mechanic."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50 secondes. L’IA remplit un schéma strict et doit conserver un extrait allemand justifiant chaque dommage. Le vocabulaire fermé permet de relier une pièce et son côté à la visualisation. Les statuts proviennent des données structurées. Une action explicite dans la note est prioritaire. Sinon, des règles proposent les opérations. La dépose et repose (R&amp;I) utilise une table de dépendances. Elle distingue une pièce endommagée d’une pièce voisine à démonter. Le cache par identifiant évite de refaire les appels déjà réussis. Les invalidités sont signalées, les appels utilisent des reprises avec délai croissant. La validation du format ne prouve pas l’exactitude du sens.</a:t>
            </a:r>
          </a:p>
          <a:p xmlns:a="http://schemas.openxmlformats.org/drawingml/2006/main">
            <a:r>
              <a:t/>
            </a:r>
          </a:p>
          <a:p xmlns:a="http://schemas.openxmlformats.org/drawingml/2006/main">
            <a:r>
              <a:t>Sources locales :</a:t>
            </a:r>
          </a:p>
          <a:p xmlns:a="http://schemas.openxmlformats.org/drawingml/2006/main">
            <a:r>
              <a:t>C:/Users/benda/Desktop/Hackathon/Work/pipeline/extract.py</a:t>
            </a:r>
          </a:p>
          <a:p xmlns:a="http://schemas.openxmlformats.org/drawingml/2006/main">
            <a:r>
              <a:t>C:/Users/benda/Desktop/Hackathon/Work/pipeline/schema.py</a:t>
            </a:r>
          </a:p>
          <a:p xmlns:a="http://schemas.openxmlformats.org/drawingml/2006/main">
            <a:r>
              <a:t>C:/Users/benda/Desktop/Hackathon/Work/pipeline/repair_logic.py</a:t>
            </a:r>
          </a:p>
          <a:p xmlns:a="http://schemas.openxmlformats.org/drawingml/2006/main">
            <a:r>
              <a:t>C:/Users/benda/Desktop/Hackathon/Work/pipeline/build_dataset.py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45 secondes. Montrer la phrase allemande avant les couleurs. La note précise que la réparation du pare-brise est impossible et demande un remplacement. Le pare-brise apparaît en orange, qui correspond ici à la gravité moyenne extraite. Le bleu désigne une garniture à déposer et reposer selon la règle métier, pas un second dommage. Cet exemple appartient au pilote de développement : il illustre le fonctionnement, pas une preuve de généralisation. Le prototype comporte aussi une vue 3D, mais la capture utilise la vue 2D, plus lisible pour expliquer le lien données / zones. Démo locale : http://localhost:8083/dashboard/cases/820002/.</a:t>
            </a:r>
          </a:p>
          <a:p xmlns:a="http://schemas.openxmlformats.org/drawingml/2006/main">
            <a:r>
              <a:t/>
            </a:r>
          </a:p>
          <a:p xmlns:a="http://schemas.openxmlformats.org/drawingml/2006/main">
            <a:r>
              <a:t>Sources locales :</a:t>
            </a:r>
          </a:p>
          <a:p xmlns:a="http://schemas.openxmlformats.org/drawingml/2006/main">
            <a:r>
              <a:t>C:/Users/benda/Desktop/Hackathon/Data/frontend/public/data/cases.json</a:t>
            </a:r>
          </a:p>
          <a:p xmlns:a="http://schemas.openxmlformats.org/drawingml/2006/main">
            <a:r>
              <a:t>C:/Users/benda/Desktop/Hackathon/Data/frontend/src/sections/damage/car-diagram.tsx</a:t>
            </a:r>
          </a:p>
          <a:p xmlns:a="http://schemas.openxmlformats.org/drawingml/2006/main">
            <a:r>
              <a:t>C:/Users/benda/Desktop/Hackathon/Work/pipeline/repair_logic.py</a:t>
            </a:r>
          </a:p>
          <a:p xmlns:a="http://schemas.openxmlformats.org/drawingml/2006/main">
            <a:r>
              <a:t>C:/Users/benda/Desktop/Hackathon/Work/pipeline/ml_common.py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40 secondes. Le corpus comprend 550 dossiers de service et 450 de dommages. Parmi ces derniers, 110 concernent le stationnement et 76 une manœuvre, soit 186/450 = 41,3 %. Une piste métier serait de regarder leur charge de carrosserie, mais nous ne mesurons pas ici un gain opérationnel. Les 668 dossiers présents dans la liste ouverte ont une ancienneté médiane de 150 jours au 18 septembre 2026. C’est une durée depuis la création, pas une durée de réparation, et certains statuts peuvent nécessiter une vérification. Les observations décrivent ce jeu synthétique, sans extrapolation au marché. Les libellés du graphique sont en français pour l’oral, les notes sources restent en allemand.</a:t>
            </a:r>
          </a:p>
          <a:p xmlns:a="http://schemas.openxmlformats.org/drawingml/2006/main">
            <a:r>
              <a:t/>
            </a:r>
          </a:p>
          <a:p xmlns:a="http://schemas.openxmlformats.org/drawingml/2006/main">
            <a:r>
              <a:t>Sources locales :</a:t>
            </a:r>
          </a:p>
          <a:p xmlns:a="http://schemas.openxmlformats.org/drawingml/2006/main">
            <a:r>
              <a:t>C:/Users/benda/Desktop/Hackathon/Data/frontend/public/data/aggregates.json</a:t>
            </a:r>
          </a:p>
          <a:p xmlns:a="http://schemas.openxmlformats.org/drawingml/2006/main">
            <a:r>
              <a:t>C:/Users/benda/Desktop/Hackathon/Work/pipeline/build_dataset.py</a:t>
            </a:r>
          </a:p>
          <a:p xmlns:a="http://schemas.openxmlformats.org/drawingml/2006/main">
            <a:r>
              <a:t>C:/Users/benda/Desktop/Hackathon/Dataset/DATASET.md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60 secondes. Deux protocoles apparaissent ici. À gauche, l’extraction DeepSeek est évaluée sur 977 dossiers exclus des 3 exemples du prompt et des 20 cas pilotes. Les zones donnent 751 vrais positifs, zéro faux positif et un faux négatif, soit un F1 de 99,93 %. Le type de cas atteint 100 %. L’assurance atteint 100 % sur les 434 cas de dommages de ce test. La gravité DeepSeek sur ces 434 cas vaut 68,7 %, à ne pas comparer directement au tableau de droite. À droite, chaque modèle utilise exactement les mêmes 150 identifiants réservés pour la gravité. Les modèles supervisés ont 284 exemples d’entraînement. Les comptes vérifiés sont XGBoost 123/150, GBERT 118/150, régression logistique 110/150, DeepSeek 109/150, LightGBM 98/150. Ces résultats décrivent un seul découpage du corpus synthétique. Les phrases récurrentes limitent leur portée. La baseline lexicale atteint également 100 % de F1 sur les zones de ce corpus. Les scores ne prouvent donc pas une supériorité universelle du LLM.</a:t>
            </a:r>
          </a:p>
          <a:p xmlns:a="http://schemas.openxmlformats.org/drawingml/2006/main">
            <a:r>
              <a:t/>
            </a:r>
          </a:p>
          <a:p xmlns:a="http://schemas.openxmlformats.org/drawingml/2006/main">
            <a:r>
              <a:t>Sources locales :</a:t>
            </a:r>
          </a:p>
          <a:p xmlns:a="http://schemas.openxmlformats.org/drawingml/2006/main">
            <a:r>
              <a:t>C:/Users/benda/Desktop/Hackathon/Work/pipeline/eval_report.json</a:t>
            </a:r>
          </a:p>
          <a:p xmlns:a="http://schemas.openxmlformats.org/drawingml/2006/main">
            <a:r>
              <a:t>C:/Users/benda/Desktop/Hackathon/Work/pipeline/ml_split.json</a:t>
            </a:r>
          </a:p>
          <a:p xmlns:a="http://schemas.openxmlformats.org/drawingml/2006/main">
            <a:r>
              <a:t>C:/Users/benda/Desktop/Hackathon/Work/pipeline/gbert_result.json</a:t>
            </a:r>
          </a:p>
          <a:p xmlns:a="http://schemas.openxmlformats.org/drawingml/2006/main">
            <a:r>
              <a:t>C:/Users/benda/Desktop/Hackathon/Data/frontend/public/data/model_comparison.json</a:t>
            </a:r>
          </a:p>
          <a:p xmlns:a="http://schemas.openxmlformats.org/drawingml/2006/main">
            <a:r>
              <a:t>C:/Users/benda/Desktop/Hackathon/Work/pipeline/train_cpu_models.py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 45 secondes. Être explicite sur les limites : le corpus est synthétique et réutilise des formulations. Les identifiants de test sont séparés, mais des formulations proches peuvent apparaître des deux côtés du découpage. Une validation par famille de formulation puis sur des notes réelles serait plus probante. Le rapport montre que la même phrase de bris de glace peut recevoir plusieurs gravités. Il estime un score de 79,5 % pour une correspondance par empreintes textuelles : cette estimation est propre à sa méthode et à son périmètre, pas une borne universelle pour le test des 150 dossiers. Nous ne l’affichons pas comme plafond face aux 82 % de XGBoost. Les citations verbatim et Pydantic permettent l’audit, mais ne garantissent pas l’exactitude sémantique. Les règles R&amp;I et de remplacement ne disposent pas de labels de vérité terrain dans ce jeu. Les champs vides sont volontaires : compléter les mesures de latence et coût réel ainsi que la validation externe quand elles seront disponibles. Aucun gain financier n’est revendiqué.</a:t>
            </a:r>
          </a:p>
          <a:p xmlns:a="http://schemas.openxmlformats.org/drawingml/2006/main">
            <a:r>
              <a:t/>
            </a:r>
          </a:p>
          <a:p xmlns:a="http://schemas.openxmlformats.org/drawingml/2006/main">
            <a:r>
              <a:t>Sources locales :</a:t>
            </a:r>
          </a:p>
          <a:p xmlns:a="http://schemas.openxmlformats.org/drawingml/2006/main">
            <a:r>
              <a:t>C:/Users/benda/Desktop/Hackathon/docs/jury-reliability-report.md</a:t>
            </a:r>
          </a:p>
          <a:p xmlns:a="http://schemas.openxmlformats.org/drawingml/2006/main">
            <a:r>
              <a:t>C:/Users/benda/Desktop/Hackathon/Work/pipeline/repair_logic.py</a:t>
            </a:r>
          </a:p>
          <a:p xmlns:a="http://schemas.openxmlformats.org/drawingml/2006/main">
            <a:r>
              <a:t>C:/Users/benda/Desktop/Hackathon/Dataset/DATASET.md</a:t>
            </a:r>
          </a:p>
          <a:p xmlns:a="http://schemas.openxmlformats.org/drawingml/2006/main">
            <a:r>
              <a:t>C:/Users/benda/Desktop/Hackathon/Work/pipeline/eval_report.json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b1f8f32a163c4e94"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8bcca461c649411c" Type="http://schemas.openxmlformats.org/officeDocument/2006/relationships/slideLayout" Target="../slideLayouts/slideLayout1.xml"/><Relationship Id="Ra90a9a57c60e4bf8"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ca461c64941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221c0913fcb465d" Type="http://schemas.openxmlformats.org/officeDocument/2006/relationships/slideLayout" Target="../slideLayouts/slideLayout1.xml"/><Relationship Id="Rc940c96b40b3491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d2f5fa3412634a50" Type="http://schemas.openxmlformats.org/officeDocument/2006/relationships/notesSlide" Target="../notesSlides/notesSlide2.xml"/><Relationship Id="Rff96a967275d4e6d"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d7dbcf6b207b429e" Type="http://schemas.openxmlformats.org/officeDocument/2006/relationships/slideLayout" Target="../slideLayouts/slideLayout1.xml"/><Relationship Id="Re107c58ff65241e9" Type="http://schemas.openxmlformats.org/officeDocument/2006/relationships/notesSlide" Target="../notesSlides/notesSlide3.xml"/><Relationship Id="Reefc1f0573744b84" Type="http://schemas.openxmlformats.org/officeDocument/2006/relationships/image" Target="../media/image.png"/></Relationships>
</file>

<file path=ppt/slides/_rels/slide4.xml.rels><?xml version='1.0' encoding='UTF-8' standalone='yes'?>
<Relationships xmlns="http://schemas.openxmlformats.org/package/2006/relationships"><Relationship Id="R131cd9348674452e" Type="http://schemas.openxmlformats.org/officeDocument/2006/relationships/notesSlide" Target="../notesSlides/notesSlide4.xml"/><Relationship Id="R43071a2e3eee42e6" Type="http://schemas.openxmlformats.org/officeDocument/2006/relationships/slideLayout" Target="../slideLayouts/slideLayout1.xml"/><Relationship Id="Rd9d7ee664a4f4304" Type="http://schemas.openxmlformats.org/officeDocument/2006/relationships/chart" Target="charts/chart1.xml"/></Relationships>
</file>

<file path=ppt/slides/_rels/slide5.xml.rels><?xml version='1.0' encoding='UTF-8' standalone='yes'?>
<Relationships xmlns="http://schemas.openxmlformats.org/package/2006/relationships"><Relationship Id="R24b54cd2f6464097" Type="http://schemas.openxmlformats.org/officeDocument/2006/relationships/slideLayout" Target="../slideLayouts/slideLayout1.xml"/><Relationship Id="R7e824697ea904e6c"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7b381885abb54b53" Type="http://schemas.openxmlformats.org/officeDocument/2006/relationships/slideLayout" Target="../slideLayouts/slideLayout1.xml"/><Relationship Id="Rcf57e265aebe4c97" Type="http://schemas.openxmlformats.org/officeDocument/2006/relationships/notesSlide" Target="../notesSlides/notesSlide6.xml"/></Relationships>
</file>

<file path=ppt/slides/charts/_rels/chart1.xml.rels><?xml version='1.0' encoding='UTF-8' standalone='yes'?>
<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strRef>
              <c:f>Sheet1!$B$1</c:f>
              <c:strCache>
                <c:ptCount val="1"/>
                <c:pt idx="0">
                  <c:v/>
                </c:pt>
              </c:strCache>
            </c:strRef>
          </c:tx>
          <c:spPr>
            <a:solidFill xmlns:a="http://schemas.openxmlformats.org/drawingml/2006/main">
              <a:srgbClr val="007F75"/>
            </a:solidFill>
          </c:spPr>
          <c:cat>
            <c:strRef>
              <c:f>Sheet1!$A$2:$A$8</c:f>
              <c:strCache>
                <c:ptCount val="7"/>
                <c:pt idx="0">
                  <c:v>Parking</c:v>
                </c:pt>
                <c:pt idx="1">
                  <c:v>Manoeuvring</c:v>
                </c:pt>
                <c:pt idx="2">
                  <c:v>Rear-end collision</c:v>
                </c:pt>
                <c:pt idx="3">
                  <c:v>Stone chip</c:v>
                </c:pt>
                <c:pt idx="4">
                  <c:v>Hail</c:v>
                </c:pt>
                <c:pt idx="5">
                  <c:v>Vandalism</c:v>
                </c:pt>
                <c:pt idx="6">
                  <c:v>Wildlife</c:v>
                </c:pt>
              </c:strCache>
            </c:strRef>
          </c:cat>
          <c:val>
            <c:numRef>
              <c:f>Sheet1!$B$2:$B$8</c:f>
              <c:numCache>
                <c:formatCode>General</c:formatCode>
                <c:ptCount val="7"/>
                <c:pt idx="0">
                  <c:v>110</c:v>
                </c:pt>
                <c:pt idx="1">
                  <c:v>76</c:v>
                </c:pt>
                <c:pt idx="2">
                  <c:v>62</c:v>
                </c:pt>
                <c:pt idx="3">
                  <c:v>55</c:v>
                </c:pt>
                <c:pt idx="4">
                  <c:v>55</c:v>
                </c:pt>
                <c:pt idx="5">
                  <c:v>48</c:v>
                </c:pt>
                <c:pt idx="6">
                  <c:v>44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02C36"/>
                  </a:solidFill>
                  <a:latin typeface="Arial"/>
                  <a:ea typeface="Arial"/>
                  <a:cs typeface="Arial"/>
                </a:defRPr>
              </a:pPr>
            </a:p>
          </c:txPr>
          <c:dLblPos val="outEnd"/>
          <c:showLegendKey val="0"/>
          <c:showVal val="1"/>
          <c:showCatName val="0"/>
          <c:showSerName val="0"/>
          <c:showPercent val="0"/>
          <c:showBubbleSize val="0"/>
          <c:showLeaderLines val="0"/>
        </c:dLbls>
        <c:gapWidth val="65"/>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02C36"/>
                </a:solidFill>
                <a:latin typeface="Arial"/>
                <a:ea typeface="Arial"/>
                <a:cs typeface="Arial"/>
              </a:defRPr>
            </a:pPr>
          </a:p>
        </c:txPr>
        <c:crossAx val="48672768"/>
      </c:catAx>
      <c:valAx>
        <c:axId val="48672768"/>
        <c:scaling>
          <c:orientation val="minMax"/>
          <c:max val="120"/>
          <c:min val="0"/>
        </c:scaling>
        <c:delete val="0"/>
        <c:axPos val="b"/>
        <c:majorGridlines>
          <c:spPr>
            <a:ln xmlns:a="http://schemas.openxmlformats.org/drawingml/2006/main" w="9525">
              <a:solidFill>
                <a:srgbClr val="DEE6E2"/>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47078"/>
                </a:solidFill>
                <a:latin typeface="Arial"/>
                <a:ea typeface="Arial"/>
                <a:cs typeface="Arial"/>
              </a:defRPr>
            </a:pPr>
          </a:p>
        </c:txPr>
        <c:crossAx val="48650112"/>
        <c:crossBetween val="between"/>
        <c:majorUnit val="40"/>
      </c:valAx>
      <c:spPr>
        <a:solidFill xmlns:a="http://schemas.openxmlformats.org/drawingml/2006/main">
          <a:srgbClr val="F5F4EF"/>
        </a:solidFill>
      </c:spPr>
    </c:plotArea>
    <c:plotVisOnly val="1"/>
  </c:chart>
  <c:spPr>
    <a:solidFill xmlns:a="http://schemas.openxmlformats.org/drawingml/2006/main">
      <a:srgbClr val="F5F4E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C36"/>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B672F4F-FC53-4090-86C4-98E4434BC7BD}"/>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800" b="1">
                <a:solidFill>
                  <a:srgbClr val="FFFFFF"/>
                </a:solidFill>
                <a:latin typeface="Arial"/>
                <a:ea typeface="Arial"/>
                <a:cs typeface="Arial"/>
              </a:defRPr>
            </a:pPr>
            <a:r>
              <a:rPr sz="4800" b="1">
                <a:solidFill>
                  <a:srgbClr val="FFFFFF"/>
                </a:solidFill>
                <a:latin typeface="Arial"/>
                <a:ea typeface="Arial"/>
                <a:cs typeface="Arial"/>
              </a:rPr>
              <a:t>Damage Intelligence</a:t>
            </a:r>
          </a:p>
        </p:txBody>
      </p:sp>
      <p:sp>
        <p:nvSpPr>
          <p:cNvPr id="2" name="">
            <a:extLst xmlns:a="http://schemas.openxmlformats.org/drawingml/2006/main">
              <a:ext uri="{FF2B5EF4-FFF2-40B4-BE49-F238E27FC236}">
                <a16:creationId xmlns:a16="http://schemas.microsoft.com/office/drawing/2014/main" id="{E90DD583-8423-4710-BBD5-3C5879F001DD}"/>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01</a:t>
            </a:r>
          </a:p>
        </p:txBody>
      </p:sp>
      <p:sp>
        <p:nvSpPr>
          <p:cNvPr id="3" name="">
            <a:extLst xmlns:a="http://schemas.openxmlformats.org/drawingml/2006/main">
              <a:ext uri="{FF2B5EF4-FFF2-40B4-BE49-F238E27FC236}">
                <a16:creationId xmlns:a16="http://schemas.microsoft.com/office/drawing/2014/main" id="{EC670042-1743-4526-83E4-614F385CA364}"/>
              </a:ext>
            </a:extLst>
          </p:cNvPr>
          <p:cNvSpPr>
            <a:spLocks xmlns:a="http://schemas.openxmlformats.org/drawingml/2006/main" noGrp="1"/>
          </p:cNvSpPr>
          <p:nvPr/>
        </p:nvSpPr>
        <p:spPr>
          <a:xfrm xmlns:a="http://schemas.openxmlformats.org/drawingml/2006/main">
            <a:off x="609600" y="1885950"/>
            <a:ext cx="10477500" cy="1485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Reading messy German workshop notes,</a:t>
            </a:r>
          </a:p>
          <a:p xmlns:a="http://schemas.openxmlformats.org/drawingml/2006/main">
            <a:pPr>
              <a:defRPr sz="3600" b="1">
                <a:solidFill>
                  <a:srgbClr val="FFFFFF"/>
                </a:solidFill>
                <a:latin typeface="Arial"/>
                <a:ea typeface="Arial"/>
                <a:cs typeface="Arial"/>
              </a:defRPr>
            </a:pPr>
            <a:r>
              <a:rPr sz="3600" b="1">
                <a:solidFill>
                  <a:srgbClr val="FFFFFF"/>
                </a:solidFill>
                <a:latin typeface="Arial"/>
                <a:ea typeface="Arial"/>
                <a:cs typeface="Arial"/>
              </a:rPr>
              <a:t>one case at a time</a:t>
            </a:r>
          </a:p>
        </p:txBody>
      </p:sp>
      <p:sp>
        <p:nvSpPr>
          <p:cNvPr id="4" name="">
            <a:extLst xmlns:a="http://schemas.openxmlformats.org/drawingml/2006/main">
              <a:ext uri="{FF2B5EF4-FFF2-40B4-BE49-F238E27FC236}">
                <a16:creationId xmlns:a16="http://schemas.microsoft.com/office/drawing/2014/main" id="{C7BEB761-EA07-4F19-8B4C-76BCE8485B99}"/>
              </a:ext>
            </a:extLst>
          </p:cNvPr>
          <p:cNvSpPr>
            <a:spLocks xmlns:a="http://schemas.openxmlformats.org/drawingml/2006/main" noGrp="1"/>
          </p:cNvSpPr>
          <p:nvPr/>
        </p:nvSpPr>
        <p:spPr>
          <a:xfrm xmlns:a="http://schemas.openxmlformats.org/drawingml/2006/main">
            <a:off x="609600" y="3705225"/>
            <a:ext cx="1000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B9D7D4"/>
                </a:solidFill>
                <a:latin typeface="Arial"/>
                <a:ea typeface="Arial"/>
                <a:cs typeface="Arial"/>
              </a:defRPr>
            </a:pPr>
            <a:r>
              <a:rPr sz="2325" b="0">
                <a:solidFill>
                  <a:srgbClr val="B9D7D4"/>
                </a:solidFill>
                <a:latin typeface="Arial"/>
                <a:ea typeface="Arial"/>
                <a:cs typeface="Arial"/>
              </a:rPr>
              <a:t>A visual damage sheet per vehicle,</a:t>
            </a:r>
          </a:p>
          <a:p xmlns:a="http://schemas.openxmlformats.org/drawingml/2006/main">
            <a:pPr>
              <a:defRPr sz="2325" b="0">
                <a:solidFill>
                  <a:srgbClr val="B9D7D4"/>
                </a:solidFill>
                <a:latin typeface="Arial"/>
                <a:ea typeface="Arial"/>
                <a:cs typeface="Arial"/>
              </a:defRPr>
            </a:pPr>
            <a:r>
              <a:rPr sz="2325" b="0">
                <a:solidFill>
                  <a:srgbClr val="B9D7D4"/>
                </a:solidFill>
                <a:latin typeface="Arial"/>
                <a:ea typeface="Arial"/>
                <a:cs typeface="Arial"/>
              </a:rPr>
              <a:t>and an operational read on 1,000 dealership cases</a:t>
            </a:r>
          </a:p>
        </p:txBody>
      </p:sp>
      <p:sp>
        <p:nvSpPr>
          <p:cNvPr id="5" name="">
            <a:extLst xmlns:a="http://schemas.openxmlformats.org/drawingml/2006/main">
              <a:ext uri="{FF2B5EF4-FFF2-40B4-BE49-F238E27FC236}">
                <a16:creationId xmlns:a16="http://schemas.microsoft.com/office/drawing/2014/main" id="{A559B5E8-9CB7-41EA-AFE7-B2B2EEE9E7E2}"/>
              </a:ext>
            </a:extLst>
          </p:cNvPr>
          <p:cNvSpPr>
            <a:spLocks xmlns:a="http://schemas.openxmlformats.org/drawingml/2006/main" noGrp="1"/>
          </p:cNvSpPr>
          <p:nvPr/>
        </p:nvSpPr>
        <p:spPr>
          <a:xfrm xmlns:a="http://schemas.openxmlformats.org/drawingml/2006/main">
            <a:off x="609600" y="52673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64D4BF"/>
                </a:solidFill>
                <a:latin typeface="Arial"/>
                <a:ea typeface="Arial"/>
                <a:cs typeface="Arial"/>
              </a:defRPr>
            </a:pPr>
            <a:r>
              <a:rPr sz="2550" b="1">
                <a:solidFill>
                  <a:srgbClr val="64D4BF"/>
                </a:solidFill>
                <a:latin typeface="Arial"/>
                <a:ea typeface="Arial"/>
                <a:cs typeface="Arial"/>
              </a:rPr>
              <a:t>1,000 synthetic cases · German kept in German</a:t>
            </a:r>
          </a:p>
        </p:txBody>
      </p:sp>
      <p:sp>
        <p:nvSpPr>
          <p:cNvPr id="6" name="">
            <a:extLst xmlns:a="http://schemas.openxmlformats.org/drawingml/2006/main">
              <a:ext uri="{FF2B5EF4-FFF2-40B4-BE49-F238E27FC236}">
                <a16:creationId xmlns:a16="http://schemas.microsoft.com/office/drawing/2014/main" id="{48B40988-B505-4F64-8226-EBD18CC71F5E}"/>
              </a:ext>
            </a:extLst>
          </p:cNvPr>
          <p:cNvSpPr>
            <a:spLocks xmlns:a="http://schemas.openxmlformats.org/drawingml/2006/main" noGrp="1"/>
          </p:cNvSpPr>
          <p:nvPr/>
        </p:nvSpPr>
        <p:spPr>
          <a:xfrm xmlns:a="http://schemas.openxmlformats.org/drawingml/2006/main">
            <a:off x="6096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B9D7D4"/>
                </a:solidFill>
                <a:latin typeface="Arial"/>
                <a:ea typeface="Arial"/>
                <a:cs typeface="Arial"/>
              </a:defRPr>
            </a:pPr>
            <a:r>
              <a:rPr sz="1650" b="0">
                <a:solidFill>
                  <a:srgbClr val="B9D7D4"/>
                </a:solidFill>
                <a:latin typeface="Arial"/>
                <a:ea typeface="Arial"/>
                <a:cs typeface="Arial"/>
              </a:rPr>
              <a:t>Wolf Day · DaiL · Track B</a:t>
            </a:r>
          </a:p>
        </p:txBody>
      </p:sp>
    </p:spTree>
    <p:extLst>
      <p:ext uri="{BB962C8B-B14F-4D97-AF65-F5344CB8AC3E}">
        <p14:creationId xmlns:p14="http://schemas.microsoft.com/office/powerpoint/2010/main" val="1414999751"/>
      </p:ext>
    </p:extLst>
  </p:cSld>
</p:sld>
</file>

<file path=ppt/slides/slide2.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BDACD64-46C6-49A3-A770-9769CE4D17FE}"/>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One extraction feeds both deliverables</a:t>
            </a:r>
          </a:p>
        </p:txBody>
      </p:sp>
      <p:sp>
        <p:nvSpPr>
          <p:cNvPr id="2" name="">
            <a:extLst xmlns:a="http://schemas.openxmlformats.org/drawingml/2006/main">
              <a:ext uri="{FF2B5EF4-FFF2-40B4-BE49-F238E27FC236}">
                <a16:creationId xmlns:a16="http://schemas.microsoft.com/office/drawing/2014/main" id="{3EA85EF9-7674-495A-ACED-C3C810E7EB3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FE3D03B-DF02-4B5C-A3F5-4CC846EE9AD8}"/>
              </a:ext>
            </a:extLst>
          </p:cNvPr>
          <p:cNvSpPr>
            <a:spLocks xmlns:a="http://schemas.openxmlformats.org/drawingml/2006/main" noGrp="1"/>
          </p:cNvSpPr>
          <p:nvPr/>
        </p:nvSpPr>
        <p:spPr>
          <a:xfrm xmlns:a="http://schemas.openxmlformats.org/drawingml/2006/main">
            <a:off x="609600" y="15240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8014000B-D2D6-4796-A1E6-1E618D136650}"/>
              </a:ext>
            </a:extLst>
          </p:cNvPr>
          <p:cNvSpPr>
            <a:spLocks xmlns:a="http://schemas.openxmlformats.org/drawingml/2006/main" noGrp="1"/>
          </p:cNvSpPr>
          <p:nvPr/>
        </p:nvSpPr>
        <p:spPr>
          <a:xfrm xmlns:a="http://schemas.openxmlformats.org/drawingml/2006/main">
            <a:off x="1466850" y="15240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German note</a:t>
            </a:r>
          </a:p>
        </p:txBody>
      </p:sp>
      <p:sp>
        <p:nvSpPr>
          <p:cNvPr id="5" name="">
            <a:extLst xmlns:a="http://schemas.openxmlformats.org/drawingml/2006/main">
              <a:ext uri="{FF2B5EF4-FFF2-40B4-BE49-F238E27FC236}">
                <a16:creationId xmlns:a16="http://schemas.microsoft.com/office/drawing/2014/main" id="{F586B2EF-AE83-4759-A5FD-D7F0B078C278}"/>
              </a:ext>
            </a:extLst>
          </p:cNvPr>
          <p:cNvSpPr>
            <a:spLocks xmlns:a="http://schemas.openxmlformats.org/drawingml/2006/main" noGrp="1"/>
          </p:cNvSpPr>
          <p:nvPr/>
        </p:nvSpPr>
        <p:spPr>
          <a:xfrm xmlns:a="http://schemas.openxmlformats.org/drawingml/2006/main">
            <a:off x="1466850" y="19812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DeepSeek reads one note and fills a strict form: parts, side, damage, severity — with a verbatim quote for each.</a:t>
            </a:r>
          </a:p>
        </p:txBody>
      </p:sp>
      <p:sp>
        <p:nvSpPr>
          <p:cNvPr id="6" name="">
            <a:extLst xmlns:a="http://schemas.openxmlformats.org/drawingml/2006/main">
              <a:ext uri="{FF2B5EF4-FFF2-40B4-BE49-F238E27FC236}">
                <a16:creationId xmlns:a16="http://schemas.microsoft.com/office/drawing/2014/main" id="{9D4244CA-27DC-40D6-8AFA-08C4F3B00560}"/>
              </a:ext>
            </a:extLst>
          </p:cNvPr>
          <p:cNvSpPr>
            <a:spLocks xmlns:a="http://schemas.openxmlformats.org/drawingml/2006/main" noGrp="1"/>
          </p:cNvSpPr>
          <p:nvPr/>
        </p:nvSpPr>
        <p:spPr>
          <a:xfrm xmlns:a="http://schemas.openxmlformats.org/drawingml/2006/main">
            <a:off x="609600" y="25717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FD7984A3-654D-4EEF-B0A6-A9F86F939C77}"/>
              </a:ext>
            </a:extLst>
          </p:cNvPr>
          <p:cNvSpPr>
            <a:spLocks xmlns:a="http://schemas.openxmlformats.org/drawingml/2006/main" noGrp="1"/>
          </p:cNvSpPr>
          <p:nvPr/>
        </p:nvSpPr>
        <p:spPr>
          <a:xfrm xmlns:a="http://schemas.openxmlformats.org/drawingml/2006/main">
            <a:off x="1466850" y="25717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Validated JSON</a:t>
            </a:r>
          </a:p>
        </p:txBody>
      </p:sp>
      <p:sp>
        <p:nvSpPr>
          <p:cNvPr id="8" name="">
            <a:extLst xmlns:a="http://schemas.openxmlformats.org/drawingml/2006/main">
              <a:ext uri="{FF2B5EF4-FFF2-40B4-BE49-F238E27FC236}">
                <a16:creationId xmlns:a16="http://schemas.microsoft.com/office/drawing/2014/main" id="{BA85B0F8-E75F-48ED-867C-D45A8B045F24}"/>
              </a:ext>
            </a:extLst>
          </p:cNvPr>
          <p:cNvSpPr>
            <a:spLocks xmlns:a="http://schemas.openxmlformats.org/drawingml/2006/main" noGrp="1"/>
          </p:cNvSpPr>
          <p:nvPr/>
        </p:nvSpPr>
        <p:spPr>
          <a:xfrm xmlns:a="http://schemas.openxmlformats.org/drawingml/2006/main">
            <a:off x="1466850" y="30289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A Pydantic schema forces a closed vocabulary. Unmapped terms are flagged, never dropped.</a:t>
            </a:r>
          </a:p>
        </p:txBody>
      </p:sp>
      <p:sp>
        <p:nvSpPr>
          <p:cNvPr id="9" name="">
            <a:extLst xmlns:a="http://schemas.openxmlformats.org/drawingml/2006/main">
              <a:ext uri="{FF2B5EF4-FFF2-40B4-BE49-F238E27FC236}">
                <a16:creationId xmlns:a16="http://schemas.microsoft.com/office/drawing/2014/main" id="{5F9CFACF-D445-4E2E-B7B1-B02A24E597D2}"/>
              </a:ext>
            </a:extLst>
          </p:cNvPr>
          <p:cNvSpPr>
            <a:spLocks xmlns:a="http://schemas.openxmlformats.org/drawingml/2006/main" noGrp="1"/>
          </p:cNvSpPr>
          <p:nvPr/>
        </p:nvSpPr>
        <p:spPr>
          <a:xfrm xmlns:a="http://schemas.openxmlformats.org/drawingml/2006/main">
            <a:off x="609600" y="361950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E97C1399-AA0E-44C0-85F5-49CD917E0E6F}"/>
              </a:ext>
            </a:extLst>
          </p:cNvPr>
          <p:cNvSpPr>
            <a:spLocks xmlns:a="http://schemas.openxmlformats.org/drawingml/2006/main" noGrp="1"/>
          </p:cNvSpPr>
          <p:nvPr/>
        </p:nvSpPr>
        <p:spPr>
          <a:xfrm xmlns:a="http://schemas.openxmlformats.org/drawingml/2006/main">
            <a:off x="1466850" y="361950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Repair rules</a:t>
            </a:r>
          </a:p>
        </p:txBody>
      </p:sp>
      <p:sp>
        <p:nvSpPr>
          <p:cNvPr id="11" name="">
            <a:extLst xmlns:a="http://schemas.openxmlformats.org/drawingml/2006/main">
              <a:ext uri="{FF2B5EF4-FFF2-40B4-BE49-F238E27FC236}">
                <a16:creationId xmlns:a16="http://schemas.microsoft.com/office/drawing/2014/main" id="{3ACE9503-9C91-4AE4-8F2E-EA959FB41D72}"/>
              </a:ext>
            </a:extLst>
          </p:cNvPr>
          <p:cNvSpPr>
            <a:spLocks xmlns:a="http://schemas.openxmlformats.org/drawingml/2006/main" noGrp="1"/>
          </p:cNvSpPr>
          <p:nvPr/>
        </p:nvSpPr>
        <p:spPr>
          <a:xfrm xmlns:a="http://schemas.openxmlformats.org/drawingml/2006/main">
            <a:off x="1466850" y="407670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Replace, repair and remove-and-install come from deterministic code — no LLM guessing.</a:t>
            </a:r>
          </a:p>
        </p:txBody>
      </p:sp>
      <p:sp>
        <p:nvSpPr>
          <p:cNvPr id="12" name="">
            <a:extLst xmlns:a="http://schemas.openxmlformats.org/drawingml/2006/main">
              <a:ext uri="{FF2B5EF4-FFF2-40B4-BE49-F238E27FC236}">
                <a16:creationId xmlns:a16="http://schemas.microsoft.com/office/drawing/2014/main" id="{14A9B9E9-62E4-4237-AC2C-EB440953CEEC}"/>
              </a:ext>
            </a:extLst>
          </p:cNvPr>
          <p:cNvSpPr>
            <a:spLocks xmlns:a="http://schemas.openxmlformats.org/drawingml/2006/main" noGrp="1"/>
          </p:cNvSpPr>
          <p:nvPr/>
        </p:nvSpPr>
        <p:spPr>
          <a:xfrm xmlns:a="http://schemas.openxmlformats.org/drawingml/2006/main">
            <a:off x="609600" y="4667250"/>
            <a:ext cx="666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007F75"/>
                </a:solidFill>
                <a:latin typeface="Arial"/>
                <a:ea typeface="Arial"/>
                <a:cs typeface="Arial"/>
              </a:defRPr>
            </a:pPr>
            <a:r>
              <a:rPr sz="2925" b="1">
                <a:solidFill>
                  <a:srgbClr val="007F75"/>
                </a:solidFill>
                <a:latin typeface="Arial"/>
                <a:ea typeface="Arial"/>
                <a:cs typeface="Arial"/>
              </a:rPr>
              <a:t>04</a:t>
            </a:r>
          </a:p>
        </p:txBody>
      </p:sp>
      <p:sp>
        <p:nvSpPr>
          <p:cNvPr id="13" name="">
            <a:extLst xmlns:a="http://schemas.openxmlformats.org/drawingml/2006/main">
              <a:ext uri="{FF2B5EF4-FFF2-40B4-BE49-F238E27FC236}">
                <a16:creationId xmlns:a16="http://schemas.microsoft.com/office/drawing/2014/main" id="{55C9C11F-4FE3-4733-AC8B-E6C178E5A9EE}"/>
              </a:ext>
            </a:extLst>
          </p:cNvPr>
          <p:cNvSpPr>
            <a:spLocks xmlns:a="http://schemas.openxmlformats.org/drawingml/2006/main" noGrp="1"/>
          </p:cNvSpPr>
          <p:nvPr/>
        </p:nvSpPr>
        <p:spPr>
          <a:xfrm xmlns:a="http://schemas.openxmlformats.org/drawingml/2006/main">
            <a:off x="1466850" y="4667250"/>
            <a:ext cx="428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Visualisation + analysis</a:t>
            </a:r>
          </a:p>
        </p:txBody>
      </p:sp>
      <p:sp>
        <p:nvSpPr>
          <p:cNvPr id="14" name="">
            <a:extLst xmlns:a="http://schemas.openxmlformats.org/drawingml/2006/main">
              <a:ext uri="{FF2B5EF4-FFF2-40B4-BE49-F238E27FC236}">
                <a16:creationId xmlns:a16="http://schemas.microsoft.com/office/drawing/2014/main" id="{B0697E6F-1CD9-41D3-AA7C-CD67BA9365FB}"/>
              </a:ext>
            </a:extLst>
          </p:cNvPr>
          <p:cNvSpPr>
            <a:spLocks xmlns:a="http://schemas.openxmlformats.org/drawingml/2006/main" noGrp="1"/>
          </p:cNvSpPr>
          <p:nvPr/>
        </p:nvSpPr>
        <p:spPr>
          <a:xfrm xmlns:a="http://schemas.openxmlformats.org/drawingml/2006/main">
            <a:off x="1466850" y="5124450"/>
            <a:ext cx="9620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The same record colours the vehicle sheet and powers the corpus statistics.</a:t>
            </a:r>
          </a:p>
        </p:txBody>
      </p:sp>
      <p:sp>
        <p:nvSpPr>
          <p:cNvPr id="15" name="">
            <a:extLst xmlns:a="http://schemas.openxmlformats.org/drawingml/2006/main">
              <a:ext uri="{FF2B5EF4-FFF2-40B4-BE49-F238E27FC236}">
                <a16:creationId xmlns:a16="http://schemas.microsoft.com/office/drawing/2014/main" id="{D9BE8FF7-76ED-4858-92BF-9A111C2B89FE}"/>
              </a:ext>
            </a:extLst>
          </p:cNvPr>
          <p:cNvSpPr>
            <a:spLocks xmlns:a="http://schemas.openxmlformats.org/drawingml/2006/main" noGrp="1"/>
          </p:cNvSpPr>
          <p:nvPr/>
        </p:nvSpPr>
        <p:spPr>
          <a:xfrm xmlns:a="http://schemas.openxmlformats.org/drawingml/2006/main">
            <a:off x="609600" y="600075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7F75"/>
                </a:solidFill>
                <a:latin typeface="Arial"/>
                <a:ea typeface="Arial"/>
                <a:cs typeface="Arial"/>
              </a:defRPr>
            </a:pPr>
            <a:r>
              <a:rPr sz="1650" b="0">
                <a:solidFill>
                  <a:srgbClr val="007F75"/>
                </a:solidFill>
                <a:latin typeface="Arial"/>
                <a:ea typeface="Arial"/>
                <a:cs typeface="Arial"/>
              </a:rPr>
              <a:t>Case status is already structured (213 workshop statuses). Batch is idempotent: per-case cache + retry.</a:t>
            </a:r>
          </a:p>
        </p:txBody>
      </p:sp>
    </p:spTree>
    <p:extLst>
      <p:ext uri="{BB962C8B-B14F-4D97-AF65-F5344CB8AC3E}">
        <p14:creationId xmlns:p14="http://schemas.microsoft.com/office/powerpoint/2010/main" val="2087904956"/>
      </p:ext>
    </p:extLst>
  </p:cSld>
</p:sld>
</file>

<file path=ppt/slides/slide3.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9343C8F-C72F-4E26-98A3-29E9CF0EEE4A}"/>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A damage, its proof, and its operations</a:t>
            </a:r>
          </a:p>
        </p:txBody>
      </p:sp>
      <p:sp>
        <p:nvSpPr>
          <p:cNvPr id="2" name="">
            <a:extLst xmlns:a="http://schemas.openxmlformats.org/drawingml/2006/main">
              <a:ext uri="{FF2B5EF4-FFF2-40B4-BE49-F238E27FC236}">
                <a16:creationId xmlns:a16="http://schemas.microsoft.com/office/drawing/2014/main" id="{9C7512A1-E156-4F74-A433-F181D6C45214}"/>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03</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eefc1f0573744b84"/>
          <a:stretch xmlns:a="http://schemas.openxmlformats.org/drawingml/2006/main"/>
        </p:blipFill>
        <p:spPr>
          <a:xfrm xmlns:a="http://schemas.openxmlformats.org/drawingml/2006/main">
            <a:off x="803659" y="1495425"/>
            <a:ext cx="3279006" cy="42672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F8B9516-A0A7-48AF-AA02-72325DBFF296}"/>
              </a:ext>
            </a:extLst>
          </p:cNvPr>
          <p:cNvSpPr>
            <a:spLocks xmlns:a="http://schemas.openxmlformats.org/drawingml/2006/main" noGrp="1"/>
          </p:cNvSpPr>
          <p:nvPr/>
        </p:nvSpPr>
        <p:spPr>
          <a:xfrm xmlns:a="http://schemas.openxmlformats.org/drawingml/2006/main">
            <a:off x="4752975" y="1438275"/>
            <a:ext cx="676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7078"/>
                </a:solidFill>
                <a:latin typeface="Arial"/>
                <a:ea typeface="Arial"/>
                <a:cs typeface="Arial"/>
              </a:defRPr>
            </a:pPr>
            <a:r>
              <a:rPr sz="1800" b="0">
                <a:solidFill>
                  <a:srgbClr val="547078"/>
                </a:solidFill>
                <a:latin typeface="Arial"/>
                <a:ea typeface="Arial"/>
                <a:cs typeface="Arial"/>
              </a:rPr>
              <a:t>Case 820002 · original note (kept in German)</a:t>
            </a:r>
          </a:p>
        </p:txBody>
      </p:sp>
      <p:sp>
        <p:nvSpPr>
          <p:cNvPr id="5" name="">
            <a:extLst xmlns:a="http://schemas.openxmlformats.org/drawingml/2006/main">
              <a:ext uri="{FF2B5EF4-FFF2-40B4-BE49-F238E27FC236}">
                <a16:creationId xmlns:a16="http://schemas.microsoft.com/office/drawing/2014/main" id="{A8E82463-8164-459A-A467-8190536EA681}"/>
              </a:ext>
            </a:extLst>
          </p:cNvPr>
          <p:cNvSpPr>
            <a:spLocks xmlns:a="http://schemas.openxmlformats.org/drawingml/2006/main" noGrp="1"/>
          </p:cNvSpPr>
          <p:nvPr/>
        </p:nvSpPr>
        <p:spPr>
          <a:xfrm xmlns:a="http://schemas.openxmlformats.org/drawingml/2006/main">
            <a:off x="4752975" y="1952625"/>
            <a:ext cx="6619875"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C36"/>
                </a:solidFill>
                <a:latin typeface="Arial"/>
                <a:ea typeface="Arial"/>
                <a:cs typeface="Arial"/>
              </a:defRPr>
            </a:pPr>
            <a:r>
              <a:rPr sz="2325" b="1">
                <a:solidFill>
                  <a:srgbClr val="102C36"/>
                </a:solidFill>
                <a:latin typeface="Arial"/>
                <a:ea typeface="Arial"/>
                <a:cs typeface="Arial"/>
              </a:rPr>
              <a:t>« Steinschlag Windschutzscheibe im Sichtfeld Fahrer, Reparatur nicht möglich, Austausch nötig. »</a:t>
            </a:r>
          </a:p>
        </p:txBody>
      </p:sp>
      <p:sp>
        <p:nvSpPr>
          <p:cNvPr id="6" name="">
            <a:extLst xmlns:a="http://schemas.openxmlformats.org/drawingml/2006/main">
              <a:ext uri="{FF2B5EF4-FFF2-40B4-BE49-F238E27FC236}">
                <a16:creationId xmlns:a16="http://schemas.microsoft.com/office/drawing/2014/main" id="{2D7890BD-BBDB-44A7-9228-E205246E8691}"/>
              </a:ext>
            </a:extLst>
          </p:cNvPr>
          <p:cNvSpPr>
            <a:spLocks xmlns:a="http://schemas.openxmlformats.org/drawingml/2006/main" noGrp="1"/>
          </p:cNvSpPr>
          <p:nvPr/>
        </p:nvSpPr>
        <p:spPr>
          <a:xfrm xmlns:a="http://schemas.openxmlformats.org/drawingml/2006/main">
            <a:off x="4752975" y="3714750"/>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D7562C"/>
                </a:solidFill>
                <a:latin typeface="Arial"/>
                <a:ea typeface="Arial"/>
                <a:cs typeface="Arial"/>
              </a:defRPr>
            </a:pPr>
            <a:r>
              <a:rPr sz="2250" b="1">
                <a:solidFill>
                  <a:srgbClr val="D7562C"/>
                </a:solidFill>
                <a:latin typeface="Arial"/>
                <a:ea typeface="Arial"/>
                <a:cs typeface="Arial"/>
              </a:rPr>
              <a:t>Windscreen: replace</a:t>
            </a:r>
          </a:p>
        </p:txBody>
      </p:sp>
      <p:sp>
        <p:nvSpPr>
          <p:cNvPr id="7" name="">
            <a:extLst xmlns:a="http://schemas.openxmlformats.org/drawingml/2006/main">
              <a:ext uri="{FF2B5EF4-FFF2-40B4-BE49-F238E27FC236}">
                <a16:creationId xmlns:a16="http://schemas.microsoft.com/office/drawing/2014/main" id="{7E7D4C20-20CD-4F28-8EE6-FE33C8EEEBD3}"/>
              </a:ext>
            </a:extLst>
          </p:cNvPr>
          <p:cNvSpPr>
            <a:spLocks xmlns:a="http://schemas.openxmlformats.org/drawingml/2006/main" noGrp="1"/>
          </p:cNvSpPr>
          <p:nvPr/>
        </p:nvSpPr>
        <p:spPr>
          <a:xfrm xmlns:a="http://schemas.openxmlformats.org/drawingml/2006/main">
            <a:off x="4752975" y="4181475"/>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Action explicitly stated in the note</a:t>
            </a:r>
          </a:p>
        </p:txBody>
      </p:sp>
      <p:sp>
        <p:nvSpPr>
          <p:cNvPr id="8" name="">
            <a:extLst xmlns:a="http://schemas.openxmlformats.org/drawingml/2006/main">
              <a:ext uri="{FF2B5EF4-FFF2-40B4-BE49-F238E27FC236}">
                <a16:creationId xmlns:a16="http://schemas.microsoft.com/office/drawing/2014/main" id="{EA8B30F0-31F1-46E0-AE5C-E3104BBCFA2D}"/>
              </a:ext>
            </a:extLst>
          </p:cNvPr>
          <p:cNvSpPr>
            <a:spLocks xmlns:a="http://schemas.openxmlformats.org/drawingml/2006/main" noGrp="1"/>
          </p:cNvSpPr>
          <p:nvPr/>
        </p:nvSpPr>
        <p:spPr>
          <a:xfrm xmlns:a="http://schemas.openxmlformats.org/drawingml/2006/main">
            <a:off x="4752975" y="4810125"/>
            <a:ext cx="666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5"/>
                </a:solidFill>
                <a:latin typeface="Arial"/>
                <a:ea typeface="Arial"/>
                <a:cs typeface="Arial"/>
              </a:defRPr>
            </a:pPr>
            <a:r>
              <a:rPr sz="2250" b="1">
                <a:solidFill>
                  <a:srgbClr val="007F75"/>
                </a:solidFill>
                <a:latin typeface="Arial"/>
                <a:ea typeface="Arial"/>
                <a:cs typeface="Arial"/>
              </a:rPr>
              <a:t>Trim / plate: remove-and-install</a:t>
            </a:r>
          </a:p>
        </p:txBody>
      </p:sp>
      <p:sp>
        <p:nvSpPr>
          <p:cNvPr id="9" name="">
            <a:extLst xmlns:a="http://schemas.openxmlformats.org/drawingml/2006/main">
              <a:ext uri="{FF2B5EF4-FFF2-40B4-BE49-F238E27FC236}">
                <a16:creationId xmlns:a16="http://schemas.microsoft.com/office/drawing/2014/main" id="{D4D9FFF9-F3B1-4C6B-B46F-9707F7DA2075}"/>
              </a:ext>
            </a:extLst>
          </p:cNvPr>
          <p:cNvSpPr>
            <a:spLocks xmlns:a="http://schemas.openxmlformats.org/drawingml/2006/main" noGrp="1"/>
          </p:cNvSpPr>
          <p:nvPr/>
        </p:nvSpPr>
        <p:spPr>
          <a:xfrm xmlns:a="http://schemas.openxmlformats.org/drawingml/2006/main">
            <a:off x="4752975" y="5276850"/>
            <a:ext cx="666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Derived from the adjacency table (not the note)</a:t>
            </a:r>
          </a:p>
        </p:txBody>
      </p:sp>
      <p:sp>
        <p:nvSpPr>
          <p:cNvPr id="10" name="">
            <a:extLst xmlns:a="http://schemas.openxmlformats.org/drawingml/2006/main">
              <a:ext uri="{FF2B5EF4-FFF2-40B4-BE49-F238E27FC236}">
                <a16:creationId xmlns:a16="http://schemas.microsoft.com/office/drawing/2014/main" id="{FF9E7BB0-FA91-4AED-9E53-92FB47A31E2D}"/>
              </a:ext>
            </a:extLst>
          </p:cNvPr>
          <p:cNvSpPr>
            <a:spLocks xmlns:a="http://schemas.openxmlformats.org/drawingml/2006/main" noGrp="1"/>
          </p:cNvSpPr>
          <p:nvPr/>
        </p:nvSpPr>
        <p:spPr>
          <a:xfrm xmlns:a="http://schemas.openxmlformats.org/drawingml/2006/main">
            <a:off x="609600" y="600075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078"/>
                </a:solidFill>
                <a:latin typeface="Arial"/>
                <a:ea typeface="Arial"/>
                <a:cs typeface="Arial"/>
              </a:defRPr>
            </a:pPr>
            <a:r>
              <a:rPr sz="1575" b="0">
                <a:solidFill>
                  <a:srgbClr val="547078"/>
                </a:solidFill>
                <a:latin typeface="Arial"/>
                <a:ea typeface="Arial"/>
                <a:cs typeface="Arial"/>
              </a:rPr>
              <a:t>Prototype capture. Colours separate damage from remove-and-install.</a:t>
            </a:r>
          </a:p>
        </p:txBody>
      </p:sp>
    </p:spTree>
    <p:extLst>
      <p:ext uri="{BB962C8B-B14F-4D97-AF65-F5344CB8AC3E}">
        <p14:creationId xmlns:p14="http://schemas.microsoft.com/office/powerpoint/2010/main" val="854725429"/>
      </p:ext>
    </p:extLst>
  </p:cSld>
</p:sld>
</file>

<file path=ppt/slides/slide4.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513CDD1D-DFF0-4CDA-B318-74930B76E136}"/>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What the corpus already shows</a:t>
            </a:r>
          </a:p>
        </p:txBody>
      </p:sp>
      <p:sp>
        <p:nvSpPr>
          <p:cNvPr id="2" name="">
            <a:extLst xmlns:a="http://schemas.openxmlformats.org/drawingml/2006/main">
              <a:ext uri="{FF2B5EF4-FFF2-40B4-BE49-F238E27FC236}">
                <a16:creationId xmlns:a16="http://schemas.microsoft.com/office/drawing/2014/main" id="{A85C8F2D-C6E1-4DC9-9E03-CFF45966A424}"/>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04</a:t>
            </a:r>
          </a:p>
        </p:txBody>
      </p:sp>
      <p:sp>
        <p:nvSpPr>
          <p:cNvPr id="3" name="">
            <a:extLst xmlns:a="http://schemas.openxmlformats.org/drawingml/2006/main">
              <a:ext uri="{FF2B5EF4-FFF2-40B4-BE49-F238E27FC236}">
                <a16:creationId xmlns:a16="http://schemas.microsoft.com/office/drawing/2014/main" id="{8AB64388-7E9E-4D82-BB03-4D42E09F0299}"/>
              </a:ext>
            </a:extLst>
          </p:cNvPr>
          <p:cNvSpPr>
            <a:spLocks xmlns:a="http://schemas.openxmlformats.org/drawingml/2006/main" noGrp="1"/>
          </p:cNvSpPr>
          <p:nvPr/>
        </p:nvSpPr>
        <p:spPr>
          <a:xfrm xmlns:a="http://schemas.openxmlformats.org/drawingml/2006/main">
            <a:off x="609600" y="1390650"/>
            <a:ext cx="671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02C36"/>
                </a:solidFill>
                <a:latin typeface="Arial"/>
                <a:ea typeface="Arial"/>
                <a:cs typeface="Arial"/>
              </a:defRPr>
            </a:pPr>
            <a:r>
              <a:rPr sz="1950" b="1">
                <a:solidFill>
                  <a:srgbClr val="102C36"/>
                </a:solidFill>
                <a:latin typeface="Arial"/>
                <a:ea typeface="Arial"/>
                <a:cs typeface="Arial"/>
              </a:rPr>
              <a:t>Damage kinds · 450 cases</a:t>
            </a:r>
          </a:p>
        </p:txBody>
      </p:sp>
      <p:graphicFrame>
        <p:nvGraphicFramePr>
          <p:cNvPr id="13" name="Chart"/>
          <p:cNvGraphicFramePr/>
          <p:nvPr/>
        </p:nvGraphicFramePr>
        <p:xfrm>
          <a:off xmlns:a="http://schemas.openxmlformats.org/drawingml/2006/main" x="552450" y="1990725"/>
          <a:ext xmlns:a="http://schemas.openxmlformats.org/drawingml/2006/main" cx="6858000" cy="3705225"/>
        </p:xfrm>
        <a:graphic xmlns:a="http://schemas.openxmlformats.org/drawingml/2006/main">
          <a:graphicData uri="http://schemas.openxmlformats.org/drawingml/2006/chart">
            <c:chart xmlns:r="http://schemas.openxmlformats.org/officeDocument/2006/relationships" xmlns:c="http://schemas.openxmlformats.org/drawingml/2006/chart" r:id="Rd9d7ee664a4f4304"/>
          </a:graphicData>
        </a:graphic>
      </p:graphicFrame>
      <p:sp>
        <p:nvSpPr>
          <p:cNvPr id="5" name="">
            <a:extLst xmlns:a="http://schemas.openxmlformats.org/drawingml/2006/main">
              <a:ext uri="{FF2B5EF4-FFF2-40B4-BE49-F238E27FC236}">
                <a16:creationId xmlns:a16="http://schemas.microsoft.com/office/drawing/2014/main" id="{EBEAD060-EE55-4496-B13D-FADDFCC87683}"/>
              </a:ext>
            </a:extLst>
          </p:cNvPr>
          <p:cNvSpPr>
            <a:spLocks xmlns:a="http://schemas.openxmlformats.org/drawingml/2006/main" noGrp="1"/>
          </p:cNvSpPr>
          <p:nvPr/>
        </p:nvSpPr>
        <p:spPr>
          <a:xfrm xmlns:a="http://schemas.openxmlformats.org/drawingml/2006/main">
            <a:off x="7924800" y="1952625"/>
            <a:ext cx="33337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007F75"/>
                </a:solidFill>
                <a:latin typeface="Arial"/>
                <a:ea typeface="Arial"/>
                <a:cs typeface="Arial"/>
              </a:defRPr>
            </a:pPr>
            <a:r>
              <a:rPr sz="4500" b="1">
                <a:solidFill>
                  <a:srgbClr val="007F75"/>
                </a:solidFill>
                <a:latin typeface="Arial"/>
                <a:ea typeface="Arial"/>
                <a:cs typeface="Arial"/>
              </a:rPr>
              <a:t>41.3%</a:t>
            </a:r>
          </a:p>
        </p:txBody>
      </p:sp>
      <p:sp>
        <p:nvSpPr>
          <p:cNvPr id="6" name="">
            <a:extLst xmlns:a="http://schemas.openxmlformats.org/drawingml/2006/main">
              <a:ext uri="{FF2B5EF4-FFF2-40B4-BE49-F238E27FC236}">
                <a16:creationId xmlns:a16="http://schemas.microsoft.com/office/drawing/2014/main" id="{F8993B5B-F894-4BB0-95EE-611233AB2433}"/>
              </a:ext>
            </a:extLst>
          </p:cNvPr>
          <p:cNvSpPr>
            <a:spLocks xmlns:a="http://schemas.openxmlformats.org/drawingml/2006/main" noGrp="1"/>
          </p:cNvSpPr>
          <p:nvPr/>
        </p:nvSpPr>
        <p:spPr>
          <a:xfrm xmlns:a="http://schemas.openxmlformats.org/drawingml/2006/main">
            <a:off x="7924800" y="2809875"/>
            <a:ext cx="340995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C36"/>
                </a:solidFill>
                <a:latin typeface="Arial"/>
                <a:ea typeface="Arial"/>
                <a:cs typeface="Arial"/>
              </a:defRPr>
            </a:pPr>
            <a:r>
              <a:rPr sz="1875" b="0">
                <a:solidFill>
                  <a:srgbClr val="102C36"/>
                </a:solidFill>
                <a:latin typeface="Arial"/>
                <a:ea typeface="Arial"/>
                <a:cs typeface="Arial"/>
              </a:rPr>
              <a:t>of damage is parking</a:t>
            </a:r>
          </a:p>
          <a:p xmlns:a="http://schemas.openxmlformats.org/drawingml/2006/main">
            <a:pPr>
              <a:defRPr sz="1875" b="0">
                <a:solidFill>
                  <a:srgbClr val="102C36"/>
                </a:solidFill>
                <a:latin typeface="Arial"/>
                <a:ea typeface="Arial"/>
                <a:cs typeface="Arial"/>
              </a:defRPr>
            </a:pPr>
            <a:r>
              <a:rPr sz="1875" b="0">
                <a:solidFill>
                  <a:srgbClr val="102C36"/>
                </a:solidFill>
                <a:latin typeface="Arial"/>
                <a:ea typeface="Arial"/>
                <a:cs typeface="Arial"/>
              </a:rPr>
              <a:t>or manoeuvring</a:t>
            </a:r>
          </a:p>
          <a:p xmlns:a="http://schemas.openxmlformats.org/drawingml/2006/main">
            <a:pPr>
              <a:defRPr sz="1875" b="0">
                <a:solidFill>
                  <a:srgbClr val="102C36"/>
                </a:solidFill>
                <a:latin typeface="Arial"/>
                <a:ea typeface="Arial"/>
                <a:cs typeface="Arial"/>
              </a:defRPr>
            </a:pPr>
            <a:r>
              <a:rPr sz="1875" b="0">
                <a:solidFill>
                  <a:srgbClr val="102C36"/>
                </a:solidFill>
                <a:latin typeface="Arial"/>
                <a:ea typeface="Arial"/>
                <a:cs typeface="Arial"/>
              </a:rPr>
              <a:t>(186 of 450 cases)</a:t>
            </a:r>
          </a:p>
        </p:txBody>
      </p:sp>
      <p:sp>
        <p:nvSpPr>
          <p:cNvPr id="7" name="">
            <a:extLst xmlns:a="http://schemas.openxmlformats.org/drawingml/2006/main">
              <a:ext uri="{FF2B5EF4-FFF2-40B4-BE49-F238E27FC236}">
                <a16:creationId xmlns:a16="http://schemas.microsoft.com/office/drawing/2014/main" id="{D456A6E0-94FF-46F8-9EF9-B1DD68D4F433}"/>
              </a:ext>
            </a:extLst>
          </p:cNvPr>
          <p:cNvSpPr>
            <a:spLocks xmlns:a="http://schemas.openxmlformats.org/drawingml/2006/main" noGrp="1"/>
          </p:cNvSpPr>
          <p:nvPr/>
        </p:nvSpPr>
        <p:spPr>
          <a:xfrm xmlns:a="http://schemas.openxmlformats.org/drawingml/2006/main">
            <a:off x="7924800" y="4333875"/>
            <a:ext cx="3524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02C36"/>
                </a:solidFill>
                <a:latin typeface="Arial"/>
                <a:ea typeface="Arial"/>
                <a:cs typeface="Arial"/>
              </a:defRPr>
            </a:pPr>
            <a:r>
              <a:rPr sz="2325" b="1">
                <a:solidFill>
                  <a:srgbClr val="102C36"/>
                </a:solidFill>
                <a:latin typeface="Arial"/>
                <a:ea typeface="Arial"/>
                <a:cs typeface="Arial"/>
              </a:rPr>
              <a:t>668 open cases</a:t>
            </a:r>
          </a:p>
        </p:txBody>
      </p:sp>
      <p:sp>
        <p:nvSpPr>
          <p:cNvPr id="8" name="">
            <a:extLst xmlns:a="http://schemas.openxmlformats.org/drawingml/2006/main">
              <a:ext uri="{FF2B5EF4-FFF2-40B4-BE49-F238E27FC236}">
                <a16:creationId xmlns:a16="http://schemas.microsoft.com/office/drawing/2014/main" id="{2AE3D056-AFD2-4B1F-A634-CA2CC5EDF2F2}"/>
              </a:ext>
            </a:extLst>
          </p:cNvPr>
          <p:cNvSpPr>
            <a:spLocks xmlns:a="http://schemas.openxmlformats.org/drawingml/2006/main" noGrp="1"/>
          </p:cNvSpPr>
          <p:nvPr/>
        </p:nvSpPr>
        <p:spPr>
          <a:xfrm xmlns:a="http://schemas.openxmlformats.org/drawingml/2006/main">
            <a:off x="7924800" y="4933950"/>
            <a:ext cx="34099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47078"/>
                </a:solidFill>
                <a:latin typeface="Arial"/>
                <a:ea typeface="Arial"/>
                <a:cs typeface="Arial"/>
              </a:defRPr>
            </a:pPr>
            <a:r>
              <a:rPr sz="1800" b="0">
                <a:solidFill>
                  <a:srgbClr val="547078"/>
                </a:solidFill>
                <a:latin typeface="Arial"/>
                <a:ea typeface="Arial"/>
                <a:cs typeface="Arial"/>
              </a:rPr>
              <a:t>Median age: 150 days</a:t>
            </a:r>
          </a:p>
          <a:p xmlns:a="http://schemas.openxmlformats.org/drawingml/2006/main">
            <a:pPr>
              <a:defRPr sz="1800" b="0">
                <a:solidFill>
                  <a:srgbClr val="547078"/>
                </a:solidFill>
                <a:latin typeface="Arial"/>
                <a:ea typeface="Arial"/>
                <a:cs typeface="Arial"/>
              </a:defRPr>
            </a:pPr>
            <a:r>
              <a:rPr sz="1800" b="0">
                <a:solidFill>
                  <a:srgbClr val="547078"/>
                </a:solidFill>
                <a:latin typeface="Arial"/>
                <a:ea typeface="Arial"/>
                <a:cs typeface="Arial"/>
              </a:rPr>
              <a:t>A queue to review with the shop</a:t>
            </a:r>
          </a:p>
        </p:txBody>
      </p:sp>
      <p:sp>
        <p:nvSpPr>
          <p:cNvPr id="9" name="">
            <a:extLst xmlns:a="http://schemas.openxmlformats.org/drawingml/2006/main">
              <a:ext uri="{FF2B5EF4-FFF2-40B4-BE49-F238E27FC236}">
                <a16:creationId xmlns:a16="http://schemas.microsoft.com/office/drawing/2014/main" id="{9D437113-C8BC-46D9-90CA-275F57FD0849}"/>
              </a:ext>
            </a:extLst>
          </p:cNvPr>
          <p:cNvSpPr>
            <a:spLocks xmlns:a="http://schemas.openxmlformats.org/drawingml/2006/main" noGrp="1"/>
          </p:cNvSpPr>
          <p:nvPr/>
        </p:nvSpPr>
        <p:spPr>
          <a:xfrm xmlns:a="http://schemas.openxmlformats.org/drawingml/2006/main">
            <a:off x="609600" y="60007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47078"/>
                </a:solidFill>
                <a:latin typeface="Arial"/>
                <a:ea typeface="Arial"/>
                <a:cs typeface="Arial"/>
              </a:defRPr>
            </a:pPr>
            <a:r>
              <a:rPr sz="1575" b="0">
                <a:solidFill>
                  <a:srgbClr val="547078"/>
                </a:solidFill>
                <a:latin typeface="Arial"/>
                <a:ea typeface="Arial"/>
                <a:cs typeface="Arial"/>
              </a:rPr>
              <a:t>Synthetic data. Age since creation is not a repair-time measure.</a:t>
            </a:r>
          </a:p>
        </p:txBody>
      </p:sp>
    </p:spTree>
    <p:extLst>
      <p:ext uri="{BB962C8B-B14F-4D97-AF65-F5344CB8AC3E}">
        <p14:creationId xmlns:p14="http://schemas.microsoft.com/office/powerpoint/2010/main" val="565877214"/>
      </p:ext>
    </p:extLst>
  </p:cSld>
</p:sld>
</file>

<file path=ppt/slides/slide5.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2919FD4F-95A4-4AD7-A89D-74BA38963ADC}"/>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Measured on held-out cases</a:t>
            </a:r>
          </a:p>
        </p:txBody>
      </p:sp>
      <p:sp>
        <p:nvSpPr>
          <p:cNvPr id="2" name="">
            <a:extLst xmlns:a="http://schemas.openxmlformats.org/drawingml/2006/main">
              <a:ext uri="{FF2B5EF4-FFF2-40B4-BE49-F238E27FC236}">
                <a16:creationId xmlns:a16="http://schemas.microsoft.com/office/drawing/2014/main" id="{EC40EA9D-5225-4F64-AE0C-40AE6DDC0D63}"/>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05</a:t>
            </a:r>
          </a:p>
        </p:txBody>
      </p:sp>
      <p:sp>
        <p:nvSpPr>
          <p:cNvPr id="3" name="">
            <a:extLst xmlns:a="http://schemas.openxmlformats.org/drawingml/2006/main">
              <a:ext uri="{FF2B5EF4-FFF2-40B4-BE49-F238E27FC236}">
                <a16:creationId xmlns:a16="http://schemas.microsoft.com/office/drawing/2014/main" id="{61FB158A-2BF9-4B8F-8C37-9F5CF4DD267B}"/>
              </a:ext>
            </a:extLst>
          </p:cNvPr>
          <p:cNvSpPr>
            <a:spLocks xmlns:a="http://schemas.openxmlformats.org/drawingml/2006/main" noGrp="1"/>
          </p:cNvSpPr>
          <p:nvPr/>
        </p:nvSpPr>
        <p:spPr>
          <a:xfrm xmlns:a="http://schemas.openxmlformats.org/drawingml/2006/main">
            <a:off x="609600" y="1428750"/>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02C36"/>
                </a:solidFill>
                <a:latin typeface="Arial"/>
                <a:ea typeface="Arial"/>
                <a:cs typeface="Arial"/>
              </a:defRPr>
            </a:pPr>
            <a:r>
              <a:rPr sz="2175" b="1">
                <a:solidFill>
                  <a:srgbClr val="102C36"/>
                </a:solidFill>
                <a:latin typeface="Arial"/>
                <a:ea typeface="Arial"/>
                <a:cs typeface="Arial"/>
              </a:rPr>
              <a:t>DeepSeek extraction</a:t>
            </a:r>
          </a:p>
        </p:txBody>
      </p:sp>
      <p:sp>
        <p:nvSpPr>
          <p:cNvPr id="4" name="">
            <a:extLst xmlns:a="http://schemas.openxmlformats.org/drawingml/2006/main">
              <a:ext uri="{FF2B5EF4-FFF2-40B4-BE49-F238E27FC236}">
                <a16:creationId xmlns:a16="http://schemas.microsoft.com/office/drawing/2014/main" id="{ED27CB0E-249E-4788-8C0C-14911A92CB50}"/>
              </a:ext>
            </a:extLst>
          </p:cNvPr>
          <p:cNvSpPr>
            <a:spLocks xmlns:a="http://schemas.openxmlformats.org/drawingml/2006/main" noGrp="1"/>
          </p:cNvSpPr>
          <p:nvPr/>
        </p:nvSpPr>
        <p:spPr>
          <a:xfrm xmlns:a="http://schemas.openxmlformats.org/drawingml/2006/main">
            <a:off x="609600" y="1924050"/>
            <a:ext cx="4953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977 cases, outside examples and pilot</a:t>
            </a:r>
          </a:p>
        </p:txBody>
      </p:sp>
      <p:sp>
        <p:nvSpPr>
          <p:cNvPr id="5" name="">
            <a:extLst xmlns:a="http://schemas.openxmlformats.org/drawingml/2006/main">
              <a:ext uri="{FF2B5EF4-FFF2-40B4-BE49-F238E27FC236}">
                <a16:creationId xmlns:a16="http://schemas.microsoft.com/office/drawing/2014/main" id="{45C1711F-AF88-48F5-A53C-43345F02B493}"/>
              </a:ext>
            </a:extLst>
          </p:cNvPr>
          <p:cNvSpPr>
            <a:spLocks xmlns:a="http://schemas.openxmlformats.org/drawingml/2006/main" noGrp="1"/>
          </p:cNvSpPr>
          <p:nvPr/>
        </p:nvSpPr>
        <p:spPr>
          <a:xfrm xmlns:a="http://schemas.openxmlformats.org/drawingml/2006/main">
            <a:off x="609600" y="2619375"/>
            <a:ext cx="2381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007F75"/>
                </a:solidFill>
                <a:latin typeface="Arial"/>
                <a:ea typeface="Arial"/>
                <a:cs typeface="Arial"/>
              </a:defRPr>
            </a:pPr>
            <a:r>
              <a:rPr sz="4275" b="1">
                <a:solidFill>
                  <a:srgbClr val="007F75"/>
                </a:solidFill>
                <a:latin typeface="Arial"/>
                <a:ea typeface="Arial"/>
                <a:cs typeface="Arial"/>
              </a:rPr>
              <a:t>99.9%</a:t>
            </a:r>
          </a:p>
        </p:txBody>
      </p:sp>
      <p:sp>
        <p:nvSpPr>
          <p:cNvPr id="6" name="">
            <a:extLst xmlns:a="http://schemas.openxmlformats.org/drawingml/2006/main">
              <a:ext uri="{FF2B5EF4-FFF2-40B4-BE49-F238E27FC236}">
                <a16:creationId xmlns:a16="http://schemas.microsoft.com/office/drawing/2014/main" id="{E8E3E4AB-9A30-41F9-9AF3-BAE400140A35}"/>
              </a:ext>
            </a:extLst>
          </p:cNvPr>
          <p:cNvSpPr>
            <a:spLocks xmlns:a="http://schemas.openxmlformats.org/drawingml/2006/main" noGrp="1"/>
          </p:cNvSpPr>
          <p:nvPr/>
        </p:nvSpPr>
        <p:spPr>
          <a:xfrm xmlns:a="http://schemas.openxmlformats.org/drawingml/2006/main">
            <a:off x="609600" y="3343275"/>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C36"/>
                </a:solidFill>
                <a:latin typeface="Arial"/>
                <a:ea typeface="Arial"/>
                <a:cs typeface="Arial"/>
              </a:defRPr>
            </a:pPr>
            <a:r>
              <a:rPr sz="1950" b="0">
                <a:solidFill>
                  <a:srgbClr val="102C36"/>
                </a:solidFill>
                <a:latin typeface="Arial"/>
                <a:ea typeface="Arial"/>
                <a:cs typeface="Arial"/>
              </a:rPr>
              <a:t>Damage-zone F1</a:t>
            </a:r>
          </a:p>
        </p:txBody>
      </p:sp>
      <p:sp>
        <p:nvSpPr>
          <p:cNvPr id="7" name="">
            <a:extLst xmlns:a="http://schemas.openxmlformats.org/drawingml/2006/main">
              <a:ext uri="{FF2B5EF4-FFF2-40B4-BE49-F238E27FC236}">
                <a16:creationId xmlns:a16="http://schemas.microsoft.com/office/drawing/2014/main" id="{CC76E1AC-89FF-497E-B3D5-6B266C2C3536}"/>
              </a:ext>
            </a:extLst>
          </p:cNvPr>
          <p:cNvSpPr>
            <a:spLocks xmlns:a="http://schemas.openxmlformats.org/drawingml/2006/main" noGrp="1"/>
          </p:cNvSpPr>
          <p:nvPr/>
        </p:nvSpPr>
        <p:spPr>
          <a:xfrm xmlns:a="http://schemas.openxmlformats.org/drawingml/2006/main">
            <a:off x="609600" y="4095750"/>
            <a:ext cx="238125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007F75"/>
                </a:solidFill>
                <a:latin typeface="Arial"/>
                <a:ea typeface="Arial"/>
                <a:cs typeface="Arial"/>
              </a:defRPr>
            </a:pPr>
            <a:r>
              <a:rPr sz="3975" b="1">
                <a:solidFill>
                  <a:srgbClr val="007F75"/>
                </a:solidFill>
                <a:latin typeface="Arial"/>
                <a:ea typeface="Arial"/>
                <a:cs typeface="Arial"/>
              </a:rPr>
              <a:t>100 %</a:t>
            </a:r>
          </a:p>
        </p:txBody>
      </p:sp>
      <p:sp>
        <p:nvSpPr>
          <p:cNvPr id="8" name="">
            <a:extLst xmlns:a="http://schemas.openxmlformats.org/drawingml/2006/main">
              <a:ext uri="{FF2B5EF4-FFF2-40B4-BE49-F238E27FC236}">
                <a16:creationId xmlns:a16="http://schemas.microsoft.com/office/drawing/2014/main" id="{42DE4D00-D6F0-42B5-A59A-291785F1DBE2}"/>
              </a:ext>
            </a:extLst>
          </p:cNvPr>
          <p:cNvSpPr>
            <a:spLocks xmlns:a="http://schemas.openxmlformats.org/drawingml/2006/main" noGrp="1"/>
          </p:cNvSpPr>
          <p:nvPr/>
        </p:nvSpPr>
        <p:spPr>
          <a:xfrm xmlns:a="http://schemas.openxmlformats.org/drawingml/2006/main">
            <a:off x="609600" y="4838700"/>
            <a:ext cx="4857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02C36"/>
                </a:solidFill>
                <a:latin typeface="Arial"/>
                <a:ea typeface="Arial"/>
                <a:cs typeface="Arial"/>
              </a:defRPr>
            </a:pPr>
            <a:r>
              <a:rPr sz="1950" b="0">
                <a:solidFill>
                  <a:srgbClr val="102C36"/>
                </a:solidFill>
                <a:latin typeface="Arial"/>
                <a:ea typeface="Arial"/>
                <a:cs typeface="Arial"/>
              </a:rPr>
              <a:t>Case kind + insurance</a:t>
            </a:r>
          </a:p>
          <a:p xmlns:a="http://schemas.openxmlformats.org/drawingml/2006/main">
            <a:pPr>
              <a:defRPr sz="1950" b="0">
                <a:solidFill>
                  <a:srgbClr val="102C36"/>
                </a:solidFill>
                <a:latin typeface="Arial"/>
                <a:ea typeface="Arial"/>
                <a:cs typeface="Arial"/>
              </a:defRPr>
            </a:pPr>
            <a:r>
              <a:rPr sz="1950" b="0">
                <a:solidFill>
                  <a:srgbClr val="102C36"/>
                </a:solidFill>
                <a:latin typeface="Arial"/>
                <a:ea typeface="Arial"/>
                <a:cs typeface="Arial"/>
              </a:rPr>
              <a:t>100% quotes verbatim · 0 cases lost</a:t>
            </a:r>
          </a:p>
        </p:txBody>
      </p:sp>
      <p:sp>
        <p:nvSpPr>
          <p:cNvPr id="9" name="">
            <a:extLst xmlns:a="http://schemas.openxmlformats.org/drawingml/2006/main">
              <a:ext uri="{FF2B5EF4-FFF2-40B4-BE49-F238E27FC236}">
                <a16:creationId xmlns:a16="http://schemas.microsoft.com/office/drawing/2014/main" id="{C0F99FCF-EDE9-4F21-A1CA-30393B17D845}"/>
              </a:ext>
            </a:extLst>
          </p:cNvPr>
          <p:cNvSpPr>
            <a:spLocks xmlns:a="http://schemas.openxmlformats.org/drawingml/2006/main" noGrp="1"/>
          </p:cNvSpPr>
          <p:nvPr/>
        </p:nvSpPr>
        <p:spPr>
          <a:xfrm xmlns:a="http://schemas.openxmlformats.org/drawingml/2006/main">
            <a:off x="5838825" y="1428750"/>
            <a:ext cx="581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02C36"/>
                </a:solidFill>
                <a:latin typeface="Arial"/>
                <a:ea typeface="Arial"/>
                <a:cs typeface="Arial"/>
              </a:defRPr>
            </a:pPr>
            <a:r>
              <a:rPr sz="2100" b="1">
                <a:solidFill>
                  <a:srgbClr val="102C36"/>
                </a:solidFill>
                <a:latin typeface="Arial"/>
                <a:ea typeface="Arial"/>
                <a:cs typeface="Arial"/>
              </a:rPr>
              <a:t>Severity: 5-model shootout on 150 cases</a:t>
            </a:r>
          </a:p>
        </p:txBody>
      </p:sp>
      <p:sp>
        <p:nvSpPr>
          <p:cNvPr id="10" name="">
            <a:extLst xmlns:a="http://schemas.openxmlformats.org/drawingml/2006/main">
              <a:ext uri="{FF2B5EF4-FFF2-40B4-BE49-F238E27FC236}">
                <a16:creationId xmlns:a16="http://schemas.microsoft.com/office/drawing/2014/main" id="{A3104A55-52D7-4274-8694-F124332AF5F2}"/>
              </a:ext>
            </a:extLst>
          </p:cNvPr>
          <p:cNvSpPr>
            <a:spLocks xmlns:a="http://schemas.openxmlformats.org/drawingml/2006/main" noGrp="1"/>
          </p:cNvSpPr>
          <p:nvPr/>
        </p:nvSpPr>
        <p:spPr>
          <a:xfrm xmlns:a="http://schemas.openxmlformats.org/drawingml/2006/main">
            <a:off x="5838825" y="1924050"/>
            <a:ext cx="5810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47078"/>
                </a:solidFill>
                <a:latin typeface="Arial"/>
                <a:ea typeface="Arial"/>
                <a:cs typeface="Arial"/>
              </a:defRPr>
            </a:pPr>
            <a:r>
              <a:rPr sz="1725" b="0">
                <a:solidFill>
                  <a:srgbClr val="547078"/>
                </a:solidFill>
                <a:latin typeface="Arial"/>
                <a:ea typeface="Arial"/>
                <a:cs typeface="Arial"/>
              </a:rPr>
              <a:t>Same test set for every model</a:t>
            </a:r>
          </a:p>
        </p:txBody>
      </p:sp>
      <p:graphicFrame>
        <p:nvGraphicFramePr>
          <p:cNvPr id="23" name=""/>
          <p:cNvGraphicFramePr/>
          <p:nvPr/>
        </p:nvGraphicFramePr>
        <p:xfrm>
          <a:off xmlns:a="http://schemas.openxmlformats.org/drawingml/2006/main" x="5829300" y="2466975"/>
          <a:ext xmlns:a="http://schemas.openxmlformats.org/drawingml/2006/main" cx="5715000" cy="3000375"/>
        </p:xfrm>
        <a:graphic xmlns:a="http://schemas.openxmlformats.org/drawingml/2006/main">
          <a:graphicData uri="http://schemas.openxmlformats.org/drawingml/2006/table">
            <a:tbl>
              <a:tblPr/>
              <a:tblGrid>
                <a:gridCol w="3952875"/>
                <a:gridCol w="1762125"/>
              </a:tblGrid>
              <a:tr h="500063">
                <a:tc>
                  <a:txBody>
                    <a:bodyPr/>
                    <a:lstStyle/>
                    <a:p>
                      <a:r>
                        <a:t>Model</a:t>
                      </a:r>
                    </a:p>
                  </a:txBody>
                  <a:tcPr marL="91440" marR="91440" marT="45720" marB="45720">
                    <a:solidFill>
                      <a:srgbClr val="102C36"/>
                    </a:solidFill>
                  </a:tcPr>
                </a:tc>
                <a:tc>
                  <a:txBody>
                    <a:bodyPr/>
                    <a:lstStyle/>
                    <a:p>
                      <a:r>
                        <a:t>Accuracy</a:t>
                      </a:r>
                    </a:p>
                  </a:txBody>
                  <a:tcPr marL="91440" marR="91440" marT="45720" marB="45720">
                    <a:solidFill>
                      <a:srgbClr val="102C36"/>
                    </a:solidFill>
                  </a:tcPr>
                </a:tc>
              </a:tr>
              <a:tr h="500063">
                <a:tc>
                  <a:txBody>
                    <a:bodyPr/>
                    <a:lstStyle/>
                    <a:p>
                      <a:r>
                        <a:rPr sz="1875" b="1">
                          <a:solidFill>
                            <a:srgbClr val="102C36"/>
                          </a:solidFill>
                          <a:latin typeface="Arial"/>
                          <a:ea typeface="Arial"/>
                          <a:cs typeface="Arial"/>
                        </a:rPr>
                        <a:t>XGBoost</a:t>
                      </a:r>
                    </a:p>
                  </a:txBody>
                  <a:tcPr marL="91440" marR="91440" marT="45720" marB="45720">
                    <a:solidFill>
                      <a:srgbClr val="DFEDE7"/>
                    </a:solidFill>
                  </a:tcPr>
                </a:tc>
                <a:tc>
                  <a:txBody>
                    <a:bodyPr/>
                    <a:lstStyle/>
                    <a:p>
                      <a:r>
                        <a:t>82.0 %</a:t>
                      </a:r>
                    </a:p>
                  </a:txBody>
                  <a:tcPr marL="91440" marR="91440" marT="45720" marB="45720">
                    <a:solidFill>
                      <a:srgbClr val="DFEDE7"/>
                    </a:solidFill>
                  </a:tcPr>
                </a:tc>
              </a:tr>
              <a:tr h="500063">
                <a:tc>
                  <a:txBody>
                    <a:bodyPr/>
                    <a:lstStyle/>
                    <a:p>
                      <a:r>
                        <a:t>gbert (fine-tuned)</a:t>
                      </a:r>
                    </a:p>
                  </a:txBody>
                  <a:tcPr marL="91440" marR="91440" marT="45720" marB="45720">
                    <a:solidFill>
                      <a:srgbClr val="F5F4EF"/>
                    </a:solidFill>
                  </a:tcPr>
                </a:tc>
                <a:tc>
                  <a:txBody>
                    <a:bodyPr/>
                    <a:lstStyle/>
                    <a:p>
                      <a:r>
                        <a:t>78.7 %</a:t>
                      </a:r>
                    </a:p>
                  </a:txBody>
                  <a:tcPr marL="91440" marR="91440" marT="45720" marB="45720">
                    <a:solidFill>
                      <a:srgbClr val="F5F4EF"/>
                    </a:solidFill>
                  </a:tcPr>
                </a:tc>
              </a:tr>
              <a:tr h="500063">
                <a:tc>
                  <a:txBody>
                    <a:bodyPr/>
                    <a:lstStyle/>
                    <a:p>
                      <a:r>
                        <a:t>Logistic Regression</a:t>
                      </a:r>
                    </a:p>
                  </a:txBody>
                  <a:tcPr marL="91440" marR="91440" marT="45720" marB="45720">
                    <a:solidFill>
                      <a:srgbClr val="F5F4EF"/>
                    </a:solidFill>
                  </a:tcPr>
                </a:tc>
                <a:tc>
                  <a:txBody>
                    <a:bodyPr/>
                    <a:lstStyle/>
                    <a:p>
                      <a:r>
                        <a:t>73.3 %</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DeepSeek</a:t>
                      </a:r>
                    </a:p>
                  </a:txBody>
                  <a:tcPr marL="91440" marR="91440" marT="45720" marB="45720">
                    <a:solidFill>
                      <a:srgbClr val="F5F4EF"/>
                    </a:solidFill>
                  </a:tcPr>
                </a:tc>
                <a:tc>
                  <a:txBody>
                    <a:bodyPr/>
                    <a:lstStyle/>
                    <a:p>
                      <a:r>
                        <a:t>72.7 %</a:t>
                      </a:r>
                    </a:p>
                  </a:txBody>
                  <a:tcPr marL="91440" marR="91440" marT="45720" marB="45720">
                    <a:solidFill>
                      <a:srgbClr val="F5F4EF"/>
                    </a:solidFill>
                  </a:tcPr>
                </a:tc>
              </a:tr>
              <a:tr h="500063">
                <a:tc>
                  <a:txBody>
                    <a:bodyPr/>
                    <a:lstStyle/>
                    <a:p>
                      <a:r>
                        <a:rPr sz="1875" b="0">
                          <a:solidFill>
                            <a:srgbClr val="102C36"/>
                          </a:solidFill>
                          <a:latin typeface="Arial"/>
                          <a:ea typeface="Arial"/>
                          <a:cs typeface="Arial"/>
                        </a:rPr>
                        <a:t>LightGBM</a:t>
                      </a:r>
                    </a:p>
                  </a:txBody>
                  <a:tcPr marL="91440" marR="91440" marT="45720" marB="45720">
                    <a:solidFill>
                      <a:srgbClr val="F5F4EF"/>
                    </a:solidFill>
                  </a:tcPr>
                </a:tc>
                <a:tc>
                  <a:txBody>
                    <a:bodyPr/>
                    <a:lstStyle/>
                    <a:p>
                      <a:r>
                        <a:t>65.3 %</a:t>
                      </a:r>
                    </a:p>
                  </a:txBody>
                  <a:tcPr marL="91440" marR="91440" marT="45720" marB="45720">
                    <a:solidFill>
                      <a:srgbClr val="F5F4EF"/>
                    </a:solidFill>
                  </a:tcPr>
                </a:tc>
              </a:tr>
            </a:tbl>
          </a:graphicData>
        </a:graphic>
      </p:graphicFrame>
      <p:sp>
        <p:nvSpPr>
          <p:cNvPr id="12" name="">
            <a:extLst xmlns:a="http://schemas.openxmlformats.org/drawingml/2006/main">
              <a:ext uri="{FF2B5EF4-FFF2-40B4-BE49-F238E27FC236}">
                <a16:creationId xmlns:a16="http://schemas.microsoft.com/office/drawing/2014/main" id="{53E3152F-9ACB-4845-AA41-2553BF79334F}"/>
              </a:ext>
            </a:extLst>
          </p:cNvPr>
          <p:cNvSpPr>
            <a:spLocks xmlns:a="http://schemas.openxmlformats.org/drawingml/2006/main" noGrp="1"/>
          </p:cNvSpPr>
          <p:nvPr/>
        </p:nvSpPr>
        <p:spPr>
          <a:xfrm xmlns:a="http://schemas.openxmlformats.org/drawingml/2006/main">
            <a:off x="609600" y="5934075"/>
            <a:ext cx="10858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47078"/>
                </a:solidFill>
                <a:latin typeface="Arial"/>
                <a:ea typeface="Arial"/>
                <a:cs typeface="Arial"/>
              </a:defRPr>
            </a:pPr>
            <a:r>
              <a:rPr sz="1500" b="0">
                <a:solidFill>
                  <a:srgbClr val="547078"/>
                </a:solidFill>
                <a:latin typeface="Arial"/>
                <a:ea typeface="Arial"/>
                <a:cs typeface="Arial"/>
              </a:rPr>
              <a:t>¹ Insurance: 434 damage cases. Severity: 284 train / 150 test. On the 434 damage cases: DeepSeek severity 68.7% vs a 79.5% data-ceiling.</a:t>
            </a:r>
          </a:p>
        </p:txBody>
      </p:sp>
    </p:spTree>
    <p:extLst>
      <p:ext uri="{BB962C8B-B14F-4D97-AF65-F5344CB8AC3E}">
        <p14:creationId xmlns:p14="http://schemas.microsoft.com/office/powerpoint/2010/main" val="2139342296"/>
      </p:ext>
    </p:extLst>
  </p:cSld>
</p:sld>
</file>

<file path=ppt/slides/slide6.xml><?xml version="1.0" encoding="utf-8"?>
<p:sld xmlns:p="http://schemas.openxmlformats.org/presentationml/2006/main">
  <p:cSld>
    <p:bg>
      <p:bgPr>
        <a:solidFill xmlns:a="http://schemas.openxmlformats.org/drawingml/2006/main">
          <a:srgbClr val="F5F4E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C389F48-7629-4AD2-B4AD-5458322DA05D}"/>
              </a:ext>
            </a:extLst>
          </p:cNvPr>
          <p:cNvSpPr>
            <a:spLocks xmlns:a="http://schemas.openxmlformats.org/drawingml/2006/main" noGrp="1"/>
          </p:cNvSpPr>
          <p:nvPr/>
        </p:nvSpPr>
        <p:spPr>
          <a:xfrm xmlns:a="http://schemas.openxmlformats.org/drawingml/2006/main">
            <a:off x="609600" y="409575"/>
            <a:ext cx="10953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02C36"/>
                </a:solidFill>
                <a:latin typeface="Arial"/>
                <a:ea typeface="Arial"/>
                <a:cs typeface="Arial"/>
              </a:defRPr>
            </a:pPr>
            <a:r>
              <a:rPr sz="3225" b="1">
                <a:solidFill>
                  <a:srgbClr val="102C36"/>
                </a:solidFill>
                <a:latin typeface="Arial"/>
                <a:ea typeface="Arial"/>
                <a:cs typeface="Arial"/>
              </a:rPr>
              <a:t>Limits — said out loud</a:t>
            </a:r>
          </a:p>
        </p:txBody>
      </p:sp>
      <p:sp>
        <p:nvSpPr>
          <p:cNvPr id="2" name="">
            <a:extLst xmlns:a="http://schemas.openxmlformats.org/drawingml/2006/main">
              <a:ext uri="{FF2B5EF4-FFF2-40B4-BE49-F238E27FC236}">
                <a16:creationId xmlns:a16="http://schemas.microsoft.com/office/drawing/2014/main" id="{1F279D86-D8BF-4076-A107-1F1D8EDDFB29}"/>
              </a:ext>
            </a:extLst>
          </p:cNvPr>
          <p:cNvSpPr>
            <a:spLocks xmlns:a="http://schemas.openxmlformats.org/drawingml/2006/main" noGrp="1"/>
          </p:cNvSpPr>
          <p:nvPr/>
        </p:nvSpPr>
        <p:spPr>
          <a:xfrm xmlns:a="http://schemas.openxmlformats.org/drawingml/2006/main">
            <a:off x="11144250" y="6324600"/>
            <a:ext cx="476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47078"/>
                </a:solidFill>
                <a:latin typeface="Arial"/>
                <a:ea typeface="Arial"/>
                <a:cs typeface="Arial"/>
              </a:defRPr>
            </a:pPr>
            <a:r>
              <a:rPr sz="1350" b="0">
                <a:solidFill>
                  <a:srgbClr val="547078"/>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0E181C90-9565-4CBE-99B0-94615C2FE127}"/>
              </a:ext>
            </a:extLst>
          </p:cNvPr>
          <p:cNvSpPr>
            <a:spLocks xmlns:a="http://schemas.openxmlformats.org/drawingml/2006/main" noGrp="1"/>
          </p:cNvSpPr>
          <p:nvPr/>
        </p:nvSpPr>
        <p:spPr>
          <a:xfrm xmlns:a="http://schemas.openxmlformats.org/drawingml/2006/main">
            <a:off x="609600" y="1466850"/>
            <a:ext cx="6286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02C36"/>
                </a:solidFill>
                <a:latin typeface="Arial"/>
                <a:ea typeface="Arial"/>
                <a:cs typeface="Arial"/>
              </a:defRPr>
            </a:pPr>
            <a:r>
              <a:rPr sz="2250" b="1">
                <a:solidFill>
                  <a:srgbClr val="102C36"/>
                </a:solidFill>
                <a:latin typeface="Arial"/>
                <a:ea typeface="Arial"/>
                <a:cs typeface="Arial"/>
              </a:rPr>
              <a:t>The question the jury pressed on</a:t>
            </a:r>
          </a:p>
        </p:txBody>
      </p:sp>
      <p:sp>
        <p:nvSpPr>
          <p:cNvPr id="4" name="">
            <a:extLst xmlns:a="http://schemas.openxmlformats.org/drawingml/2006/main">
              <a:ext uri="{FF2B5EF4-FFF2-40B4-BE49-F238E27FC236}">
                <a16:creationId xmlns:a16="http://schemas.microsoft.com/office/drawing/2014/main" id="{F76A8715-957D-41E5-BAD0-0B3F1591C4E3}"/>
              </a:ext>
            </a:extLst>
          </p:cNvPr>
          <p:cNvSpPr>
            <a:spLocks xmlns:a="http://schemas.openxmlformats.org/drawingml/2006/main" noGrp="1"/>
          </p:cNvSpPr>
          <p:nvPr/>
        </p:nvSpPr>
        <p:spPr>
          <a:xfrm xmlns:a="http://schemas.openxmlformats.org/drawingml/2006/main">
            <a:off x="609600" y="2114550"/>
            <a:ext cx="666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"How do we know which parts to remove to repair another one?" Today that comes from a hand-reviewed adjacency table (bodywork only).</a:t>
            </a:r>
          </a:p>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
            </a:r>
          </a:p>
        </p:txBody>
      </p:sp>
      <p:sp>
        <p:nvSpPr>
          <p:cNvPr id="5" name="">
            <a:extLst xmlns:a="http://schemas.openxmlformats.org/drawingml/2006/main">
              <a:ext uri="{FF2B5EF4-FFF2-40B4-BE49-F238E27FC236}">
                <a16:creationId xmlns:a16="http://schemas.microsoft.com/office/drawing/2014/main" id="{B819C22A-19B2-4757-8D54-2B69F0CDC573}"/>
              </a:ext>
            </a:extLst>
          </p:cNvPr>
          <p:cNvSpPr>
            <a:spLocks xmlns:a="http://schemas.openxmlformats.org/drawingml/2006/main" noGrp="1"/>
          </p:cNvSpPr>
          <p:nvPr/>
        </p:nvSpPr>
        <p:spPr>
          <a:xfrm xmlns:a="http://schemas.openxmlformats.org/drawingml/2006/main">
            <a:off x="609600" y="3381375"/>
            <a:ext cx="666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The dataset has NO parts, operation or removal labels — so remove-and-install is expert-rule-based and unverified. Mechanical R&amp;I (brake pads → wheels) is out of scope.</a:t>
            </a:r>
          </a:p>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
            </a:r>
          </a:p>
        </p:txBody>
      </p:sp>
      <p:sp>
        <p:nvSpPr>
          <p:cNvPr id="6" name="">
            <a:extLst xmlns:a="http://schemas.openxmlformats.org/drawingml/2006/main">
              <a:ext uri="{FF2B5EF4-FFF2-40B4-BE49-F238E27FC236}">
                <a16:creationId xmlns:a16="http://schemas.microsoft.com/office/drawing/2014/main" id="{CD561742-7960-4149-933B-C9EE70756C2D}"/>
              </a:ext>
            </a:extLst>
          </p:cNvPr>
          <p:cNvSpPr>
            <a:spLocks xmlns:a="http://schemas.openxmlformats.org/drawingml/2006/main" noGrp="1"/>
          </p:cNvSpPr>
          <p:nvPr/>
        </p:nvSpPr>
        <p:spPr>
          <a:xfrm xmlns:a="http://schemas.openxmlformats.org/drawingml/2006/main">
            <a:off x="609600" y="4505325"/>
            <a:ext cx="666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Severity is a data limit: the identical sentence carries light, medium AND severe labels — a ~79.5% ceiling, not a model gap.</a:t>
            </a:r>
          </a:p>
          <a:p xmlns:a="http://schemas.openxmlformats.org/drawingml/2006/main">
            <a:pPr>
              <a:defRPr sz="2025" b="0">
                <a:solidFill>
                  <a:srgbClr val="102C36"/>
                </a:solidFill>
                <a:latin typeface="Arial"/>
                <a:ea typeface="Arial"/>
                <a:cs typeface="Arial"/>
              </a:defRPr>
            </a:pPr>
            <a:r>
              <a:rPr sz="2025" b="0">
                <a:solidFill>
                  <a:srgbClr val="102C36"/>
                </a:solidFill>
                <a:latin typeface="Arial"/>
                <a:ea typeface="Arial"/>
                <a:cs typeface="Arial"/>
              </a:rPr>
              <a:t/>
            </a:r>
          </a:p>
        </p:txBody>
      </p:sp>
      <p:sp>
        <p:nvSpPr>
          <p:cNvPr id="7" name="">
            <a:extLst xmlns:a="http://schemas.openxmlformats.org/drawingml/2006/main">
              <a:ext uri="{FF2B5EF4-FFF2-40B4-BE49-F238E27FC236}">
                <a16:creationId xmlns:a16="http://schemas.microsoft.com/office/drawing/2014/main" id="{05C8C0DA-366F-48DC-9AED-DBFE564313CB}"/>
              </a:ext>
            </a:extLst>
          </p:cNvPr>
          <p:cNvSpPr>
            <a:spLocks xmlns:a="http://schemas.openxmlformats.org/drawingml/2006/main" noGrp="1"/>
          </p:cNvSpPr>
          <p:nvPr/>
        </p:nvSpPr>
        <p:spPr>
          <a:xfrm xmlns:a="http://schemas.openxmlformats.org/drawingml/2006/main">
            <a:off x="7962900" y="1466850"/>
            <a:ext cx="333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F75"/>
                </a:solidFill>
                <a:latin typeface="Arial"/>
                <a:ea typeface="Arial"/>
                <a:cs typeface="Arial"/>
              </a:defRPr>
            </a:pPr>
            <a:r>
              <a:rPr sz="2250" b="1">
                <a:solidFill>
                  <a:srgbClr val="007F75"/>
                </a:solidFill>
                <a:latin typeface="Arial"/>
                <a:ea typeface="Arial"/>
                <a:cs typeface="Arial"/>
              </a:rPr>
              <a:t>Next</a:t>
            </a:r>
          </a:p>
        </p:txBody>
      </p:sp>
      <p:sp>
        <p:nvSpPr>
          <p:cNvPr id="8" name="">
            <a:extLst xmlns:a="http://schemas.openxmlformats.org/drawingml/2006/main">
              <a:ext uri="{FF2B5EF4-FFF2-40B4-BE49-F238E27FC236}">
                <a16:creationId xmlns:a16="http://schemas.microsoft.com/office/drawing/2014/main" id="{3B75BDFE-74AA-4D75-B56B-D4D3E2FBC8FF}"/>
              </a:ext>
            </a:extLst>
          </p:cNvPr>
          <p:cNvSpPr>
            <a:spLocks xmlns:a="http://schemas.openxmlformats.org/drawingml/2006/main" noGrp="1"/>
          </p:cNvSpPr>
          <p:nvPr/>
        </p:nvSpPr>
        <p:spPr>
          <a:xfrm xmlns:a="http://schemas.openxmlformats.org/drawingml/2006/main">
            <a:off x="7962900" y="22193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Validate the adjacency</a:t>
            </a:r>
          </a:p>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rules with the workshop</a:t>
            </a:r>
          </a:p>
        </p:txBody>
      </p:sp>
      <p:sp>
        <p:nvSpPr>
          <p:cNvPr id="9" name="">
            <a:extLst xmlns:a="http://schemas.openxmlformats.org/drawingml/2006/main">
              <a:ext uri="{FF2B5EF4-FFF2-40B4-BE49-F238E27FC236}">
                <a16:creationId xmlns:a16="http://schemas.microsoft.com/office/drawing/2014/main" id="{083F0F77-EC28-4E74-B2DD-1DAC3E22F23D}"/>
              </a:ext>
            </a:extLst>
          </p:cNvPr>
          <p:cNvSpPr>
            <a:spLocks xmlns:a="http://schemas.openxmlformats.org/drawingml/2006/main" noGrp="1"/>
          </p:cNvSpPr>
          <p:nvPr/>
        </p:nvSpPr>
        <p:spPr>
          <a:xfrm xmlns:a="http://schemas.openxmlformats.org/drawingml/2006/main">
            <a:off x="7962900" y="345757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Learn R&amp;I from real</a:t>
            </a:r>
          </a:p>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repair-order histories</a:t>
            </a:r>
          </a:p>
        </p:txBody>
      </p:sp>
      <p:sp>
        <p:nvSpPr>
          <p:cNvPr id="10" name="">
            <a:extLst xmlns:a="http://schemas.openxmlformats.org/drawingml/2006/main">
              <a:ext uri="{FF2B5EF4-FFF2-40B4-BE49-F238E27FC236}">
                <a16:creationId xmlns:a16="http://schemas.microsoft.com/office/drawing/2014/main" id="{E7E7DBCA-9497-4FB0-A559-61AD4249BD49}"/>
              </a:ext>
            </a:extLst>
          </p:cNvPr>
          <p:cNvSpPr>
            <a:spLocks xmlns:a="http://schemas.openxmlformats.org/drawingml/2006/main" noGrp="1"/>
          </p:cNvSpPr>
          <p:nvPr/>
        </p:nvSpPr>
        <p:spPr>
          <a:xfrm xmlns:a="http://schemas.openxmlformats.org/drawingml/2006/main">
            <a:off x="7962900" y="46958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Test on real</a:t>
            </a:r>
          </a:p>
          <a:p xmlns:a="http://schemas.openxmlformats.org/drawingml/2006/main">
            <a:pPr>
              <a:defRPr sz="1875" b="0">
                <a:solidFill>
                  <a:srgbClr val="547078"/>
                </a:solidFill>
                <a:latin typeface="Arial"/>
                <a:ea typeface="Arial"/>
                <a:cs typeface="Arial"/>
              </a:defRPr>
            </a:pPr>
            <a:r>
              <a:rPr sz="1875" b="0">
                <a:solidFill>
                  <a:srgbClr val="547078"/>
                </a:solidFill>
                <a:latin typeface="Arial"/>
                <a:ea typeface="Arial"/>
                <a:cs typeface="Arial"/>
              </a:rPr>
              <a:t>production notes</a:t>
            </a:r>
          </a:p>
        </p:txBody>
      </p:sp>
      <p:sp>
        <p:nvSpPr>
          <p:cNvPr id="11" name="">
            <a:extLst xmlns:a="http://schemas.openxmlformats.org/drawingml/2006/main">
              <a:ext uri="{FF2B5EF4-FFF2-40B4-BE49-F238E27FC236}">
                <a16:creationId xmlns:a16="http://schemas.microsoft.com/office/drawing/2014/main" id="{CD34A495-CE5A-4E7E-9DBF-ED860B8E05B7}"/>
              </a:ext>
            </a:extLst>
          </p:cNvPr>
          <p:cNvSpPr>
            <a:spLocks xmlns:a="http://schemas.openxmlformats.org/drawingml/2006/main" noGrp="1"/>
          </p:cNvSpPr>
          <p:nvPr/>
        </p:nvSpPr>
        <p:spPr>
          <a:xfrm xmlns:a="http://schemas.openxmlformats.org/drawingml/2006/main">
            <a:off x="609600" y="60007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007F75"/>
                </a:solidFill>
                <a:latin typeface="Arial"/>
                <a:ea typeface="Arial"/>
                <a:cs typeface="Arial"/>
              </a:defRPr>
            </a:pPr>
            <a:r>
              <a:rPr sz="1650" b="0">
                <a:solidFill>
                  <a:srgbClr val="007F75"/>
                </a:solidFill>
                <a:latin typeface="Arial"/>
                <a:ea typeface="Arial"/>
                <a:cs typeface="Arial"/>
              </a:rPr>
              <a:t>Synthetic corpus: a regex baseline looks strong on zones; only 2 unmapped terms in 1,000 cases, flagged never dropped.</a:t>
            </a:r>
          </a:p>
        </p:txBody>
      </p:sp>
    </p:spTree>
    <p:extLst>
      <p:ext uri="{BB962C8B-B14F-4D97-AF65-F5344CB8AC3E}">
        <p14:creationId xmlns:p14="http://schemas.microsoft.com/office/powerpoint/2010/main" val="14240909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2026-09-18T15:11:40.2990000Z</dcterms:created>
  <dcterms:modified xsi:type="dcterms:W3CDTF">2026-09-18T15:11:40.2990000Z</dcterms:modified>
</coreProperties>
</file>