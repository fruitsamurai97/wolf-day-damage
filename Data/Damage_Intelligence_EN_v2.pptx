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63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007F75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102C36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Parking</c:v>
                </c:pt>
                <c:pt idx="1">
                  <c:v>Manoeuvring</c:v>
                </c:pt>
                <c:pt idx="2">
                  <c:v>Rear-end collision</c:v>
                </c:pt>
                <c:pt idx="3">
                  <c:v>Stone chip</c:v>
                </c:pt>
                <c:pt idx="4">
                  <c:v>Hail</c:v>
                </c:pt>
                <c:pt idx="5">
                  <c:v>Vandalism</c:v>
                </c:pt>
                <c:pt idx="6">
                  <c:v>Wildlife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110</c:v>
                </c:pt>
                <c:pt idx="1">
                  <c:v>76</c:v>
                </c:pt>
                <c:pt idx="2">
                  <c:v>62</c:v>
                </c:pt>
                <c:pt idx="3">
                  <c:v>55</c:v>
                </c:pt>
                <c:pt idx="4">
                  <c:v>55</c:v>
                </c:pt>
                <c:pt idx="5">
                  <c:v>48</c:v>
                </c:pt>
                <c:pt idx="6">
                  <c:v>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C88-4146-AD7C-B0408F29189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20"/>
          <c:min val="0"/>
        </c:scaling>
        <c:delete val="0"/>
        <c:axPos val="b"/>
        <c:majorGridlines>
          <c:spPr>
            <a:ln w="9525">
              <a:solidFill>
                <a:srgbClr val="DEE6E2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  <c:majorUnit val="40"/>
      </c:valAx>
      <c:spPr>
        <a:solidFill>
          <a:srgbClr val="F5F4EF"/>
        </a:solidFill>
      </c:spPr>
    </c:plotArea>
    <c:plotVisOnly val="1"/>
    <c:dispBlanksAs val="zero"/>
    <c:showDLblsOverMax val="1"/>
  </c:chart>
  <c:spPr>
    <a:solidFill>
      <a:srgbClr val="F5F4EF"/>
    </a:solidFill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Prefer the product to the pipeline? Follow along on the live dashboard.</a:t>
            </a:r>
          </a:p>
          <a:p>
            <a:r>
              <a:t>- We built this for a German car dealership group.</a:t>
            </a:r>
          </a:p>
          <a:p>
            <a:r>
              <a:t>- I'll walk you through what we built, then we review the dashboard together — it's made for the workshop mechanic.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hard part isn't drawing a car — it's turning messy free-text German into reliable structure.</a:t>
            </a:r>
          </a:p>
          <a:p>
            <a:r>
              <a:t>- One extraction feeds both deliverables.</a:t>
            </a:r>
          </a:p>
          <a:p>
            <a:r>
              <a:t>- The AI only reads the note into a strict schema, keeping a German quote for each damage.</a:t>
            </a:r>
          </a:p>
          <a:p>
            <a:r>
              <a:t>- Deterministic rules, not the AI, decide the operations and the remove-and-install parts.</a:t>
            </a:r>
          </a:p>
          <a:p>
            <a:r>
              <a:t>- Idempotent: per-case cache, retry on failure. Passing validation isn't proof of meaning — that's why we score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German sentence first, then the colours.</a:t>
            </a:r>
          </a:p>
          <a:p>
            <a:r>
              <a:t>- Case 820002: the note says the windscreen can't be repaired and needs replacing → orange (medium severity).</a:t>
            </a:r>
          </a:p>
          <a:p>
            <a:r>
              <a:t>- Blue = a trim piece to remove and reinstall, from the rule — not a second damage.</a:t>
            </a:r>
          </a:p>
          <a:p>
            <a:r>
              <a:t>- Every coloured region traces back to an exact German quote.</a:t>
            </a:r>
          </a:p>
          <a:p>
            <a:r>
              <a:t>- 2D here for clarity; there's also a 3D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550 service cases, 450 damage.</a:t>
            </a:r>
          </a:p>
          <a:p>
            <a:r>
              <a:t>- 41.3% of damage is parking or manoeuvring — high volume, low severity.</a:t>
            </a:r>
          </a:p>
          <a:p>
            <a:r>
              <a:t>- 668 cases still open, median 150 days — a queue to review with the shop.</a:t>
            </a:r>
          </a:p>
          <a:p>
            <a:r>
              <a:t>- Synthetic data: it describes this set, not the market. The notes stay German.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things measured here.</a:t>
            </a:r>
          </a:p>
          <a:p>
            <a:r>
              <a:t>- Extraction on 977 unseen cases: zones F1 99.9%, case kind 100%, insurance 100% — every quote verbatim, nothing lost.</a:t>
            </a:r>
          </a:p>
          <a:p>
            <a:r>
              <a:t>- Severity is the hard field: DeepSeek 68.7% on the 434 damage cases.</a:t>
            </a:r>
          </a:p>
          <a:p>
            <a:r>
              <a:t>- Right: the 5-model shootout on the same 150 cases. Careful — a regex ties on zones; the LLM's real value is insurance and severity.</a:t>
            </a:r>
          </a:p>
          <a:p>
            <a:r>
              <a:t>- The trained models win on synthetic data by memorizing the phrasings; they'd drop on real notes. We keep DeepSeek.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upfront about the limits.</a:t>
            </a:r>
          </a:p>
          <a:p>
            <a:r>
              <a:t>- Synthetic corpus reuses phrasings — a regex baseline looks strong on the zones.</a:t>
            </a:r>
          </a:p>
          <a:p>
            <a:r>
              <a:t>- Severity has a data ceiling: the same sentence carries light, medium and severe labels.</a:t>
            </a:r>
          </a:p>
          <a:p>
            <a:r>
              <a:t>- The key one: how do we know which parts to remove to repair another? From a hand-reviewed adjacency table — the dataset has no parts or removal labels, so it's expert rules, not measured. Mechanical R&amp;I (brakes → wheels) is out of scope.</a:t>
            </a:r>
          </a:p>
          <a:p>
            <a:r>
              <a:t>- Next: validate on real production notes, and learn the R&amp;I table from repair-order histories.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C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B672F4F-FC53-4090-86C4-98E4434BC7BD}"/>
              </a:ext>
            </a:extLst>
          </p:cNvPr>
          <p:cNvSpPr>
            <a:spLocks noGrp="1"/>
          </p:cNvSpPr>
          <p:nvPr/>
        </p:nvSpPr>
        <p:spPr>
          <a:xfrm>
            <a:off x="2867025" y="61913"/>
            <a:ext cx="109537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Damage Intelligence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0DD583-8423-4710-BBD5-3C5879F001DD}"/>
              </a:ext>
            </a:extLst>
          </p:cNvPr>
          <p:cNvSpPr>
            <a:spLocks noGrp="1"/>
          </p:cNvSpPr>
          <p:nvPr/>
        </p:nvSpPr>
        <p:spPr>
          <a:xfrm>
            <a:off x="11144250" y="63246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670042-1743-4526-83E4-614F385CA364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5857875" cy="1485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Prefer the product to the pipeline? </a:t>
            </a:r>
          </a:p>
          <a:p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Follow along on the live dashboard.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BEB761-EA07-4F19-8B4C-76BCE8485B99}"/>
              </a:ext>
            </a:extLst>
          </p:cNvPr>
          <p:cNvSpPr>
            <a:spLocks noGrp="1"/>
          </p:cNvSpPr>
          <p:nvPr/>
        </p:nvSpPr>
        <p:spPr>
          <a:xfrm>
            <a:off x="1123950" y="3667126"/>
            <a:ext cx="5362575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buNone/>
              <a:defRPr sz="2325" b="0">
                <a:solidFill>
                  <a:srgbClr val="B9D7D4"/>
                </a:solidFill>
                <a:latin typeface="Arial"/>
                <a:ea typeface="Arial"/>
                <a:cs typeface="Arial"/>
              </a:defRPr>
            </a:pPr>
            <a:r>
              <a:rPr lang="en-US" sz="2325" b="0" dirty="0">
                <a:solidFill>
                  <a:srgbClr val="B9D7D4"/>
                </a:solidFill>
                <a:latin typeface="Arial"/>
                <a:ea typeface="Arial"/>
                <a:cs typeface="Arial"/>
              </a:rPr>
              <a:t>Mechanics write messy German notes; our app turns them into a clear per-car dashboard damage, severity, who pays, parts to replace.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59B5E8-9CB7-41EA-AFE7-B2B2EEE9E7E2}"/>
              </a:ext>
            </a:extLst>
          </p:cNvPr>
          <p:cNvSpPr>
            <a:spLocks noGrp="1"/>
          </p:cNvSpPr>
          <p:nvPr/>
        </p:nvSpPr>
        <p:spPr>
          <a:xfrm>
            <a:off x="552450" y="5753100"/>
            <a:ext cx="857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1">
                <a:solidFill>
                  <a:srgbClr val="64D4BF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64D4BF"/>
                </a:solidFill>
                <a:latin typeface="Arial"/>
                <a:ea typeface="Arial"/>
                <a:cs typeface="Arial"/>
              </a:rPr>
              <a:t>1,000 synthetic cases · German kept in German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9A1DE2D-ECFD-4694-BD6D-316D7186F7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962" y="1123950"/>
            <a:ext cx="3862388" cy="386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999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BDACD64-46C6-49A3-A770-9769CE4D17FE}"/>
              </a:ext>
            </a:extLst>
          </p:cNvPr>
          <p:cNvSpPr>
            <a:spLocks noGrp="1"/>
          </p:cNvSpPr>
          <p:nvPr/>
        </p:nvSpPr>
        <p:spPr>
          <a:xfrm>
            <a:off x="609600" y="409575"/>
            <a:ext cx="109537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22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One extraction feeds both deliverables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A85EF9-7674-495A-ACED-C3C810E7EB39}"/>
              </a:ext>
            </a:extLst>
          </p:cNvPr>
          <p:cNvSpPr>
            <a:spLocks noGrp="1"/>
          </p:cNvSpPr>
          <p:nvPr/>
        </p:nvSpPr>
        <p:spPr>
          <a:xfrm>
            <a:off x="11144250" y="63246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E3D03B-DF02-4B5C-A3F5-4CC846EE9AD8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6667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25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14000B-D2D6-4796-A1E6-1E618D136650}"/>
              </a:ext>
            </a:extLst>
          </p:cNvPr>
          <p:cNvSpPr>
            <a:spLocks noGrp="1"/>
          </p:cNvSpPr>
          <p:nvPr/>
        </p:nvSpPr>
        <p:spPr>
          <a:xfrm>
            <a:off x="1466850" y="152400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German note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86B2EF-AE83-4759-A5FD-D7F0B078C278}"/>
              </a:ext>
            </a:extLst>
          </p:cNvPr>
          <p:cNvSpPr>
            <a:spLocks noGrp="1"/>
          </p:cNvSpPr>
          <p:nvPr/>
        </p:nvSpPr>
        <p:spPr>
          <a:xfrm>
            <a:off x="1466850" y="1981200"/>
            <a:ext cx="9620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DeepSeek reads one note and fills a strict form: parts, side, damage, severity — with a verbatim quote for each.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4244CA-27DC-40D6-8AFA-08C4F3B00560}"/>
              </a:ext>
            </a:extLst>
          </p:cNvPr>
          <p:cNvSpPr>
            <a:spLocks noGrp="1"/>
          </p:cNvSpPr>
          <p:nvPr/>
        </p:nvSpPr>
        <p:spPr>
          <a:xfrm>
            <a:off x="609600" y="2571750"/>
            <a:ext cx="6667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25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7984A3-654D-4EEF-B0A6-A9F86F939C77}"/>
              </a:ext>
            </a:extLst>
          </p:cNvPr>
          <p:cNvSpPr>
            <a:spLocks noGrp="1"/>
          </p:cNvSpPr>
          <p:nvPr/>
        </p:nvSpPr>
        <p:spPr>
          <a:xfrm>
            <a:off x="1466850" y="257175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Validated JSON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85B0F8-E75F-48ED-867C-D45A8B045F24}"/>
              </a:ext>
            </a:extLst>
          </p:cNvPr>
          <p:cNvSpPr>
            <a:spLocks noGrp="1"/>
          </p:cNvSpPr>
          <p:nvPr/>
        </p:nvSpPr>
        <p:spPr>
          <a:xfrm>
            <a:off x="1466850" y="3028950"/>
            <a:ext cx="9620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A Pydantic schema forces a closed vocabulary. Unmapped terms are flagged, never dropped.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9CFACF-D445-4E2E-B7B1-B02A24E597D2}"/>
              </a:ext>
            </a:extLst>
          </p:cNvPr>
          <p:cNvSpPr>
            <a:spLocks noGrp="1"/>
          </p:cNvSpPr>
          <p:nvPr/>
        </p:nvSpPr>
        <p:spPr>
          <a:xfrm>
            <a:off x="609600" y="3619500"/>
            <a:ext cx="6667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25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7C1399-AA0E-44C0-85F5-49CD917E0E6F}"/>
              </a:ext>
            </a:extLst>
          </p:cNvPr>
          <p:cNvSpPr>
            <a:spLocks noGrp="1"/>
          </p:cNvSpPr>
          <p:nvPr/>
        </p:nvSpPr>
        <p:spPr>
          <a:xfrm>
            <a:off x="1466850" y="361950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Repair rules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CE9503-9C91-4AE4-8F2E-EA959FB41D72}"/>
              </a:ext>
            </a:extLst>
          </p:cNvPr>
          <p:cNvSpPr>
            <a:spLocks noGrp="1"/>
          </p:cNvSpPr>
          <p:nvPr/>
        </p:nvSpPr>
        <p:spPr>
          <a:xfrm>
            <a:off x="1466850" y="4076700"/>
            <a:ext cx="9620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Replace, repair and remove-and-install come from deterministic code — no LLM guessing.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A9B9E9-62E4-4237-AC2C-EB440953CEEC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6667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25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C9C11F-4FE3-4733-AC8B-E6C178E5A9EE}"/>
              </a:ext>
            </a:extLst>
          </p:cNvPr>
          <p:cNvSpPr>
            <a:spLocks noGrp="1"/>
          </p:cNvSpPr>
          <p:nvPr/>
        </p:nvSpPr>
        <p:spPr>
          <a:xfrm>
            <a:off x="1466850" y="466725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Visualisation + analysis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697E6F-1CD9-41D3-AA7C-CD67BA9365FB}"/>
              </a:ext>
            </a:extLst>
          </p:cNvPr>
          <p:cNvSpPr>
            <a:spLocks noGrp="1"/>
          </p:cNvSpPr>
          <p:nvPr/>
        </p:nvSpPr>
        <p:spPr>
          <a:xfrm>
            <a:off x="1466850" y="5124450"/>
            <a:ext cx="9620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The same record colours the vehicle sheet and powers the corpus statistics.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BE8FF7-76ED-4858-92BF-9A111C2B89FE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7F75"/>
                </a:solidFill>
                <a:latin typeface="Arial"/>
                <a:ea typeface="Arial"/>
                <a:cs typeface="Arial"/>
              </a:rPr>
              <a:t>Case status is already structured (213 workshop statuses). Batch is idempotent: per-case cache + retry.</a:t>
            </a:r>
          </a:p>
        </p:txBody>
      </p:sp>
    </p:spTree>
    <p:extLst>
      <p:ext uri="{BB962C8B-B14F-4D97-AF65-F5344CB8AC3E}">
        <p14:creationId xmlns:p14="http://schemas.microsoft.com/office/powerpoint/2010/main" val="2087904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9343C8F-C72F-4E26-98A3-29E9CF0EEE4A}"/>
              </a:ext>
            </a:extLst>
          </p:cNvPr>
          <p:cNvSpPr>
            <a:spLocks noGrp="1"/>
          </p:cNvSpPr>
          <p:nvPr/>
        </p:nvSpPr>
        <p:spPr>
          <a:xfrm>
            <a:off x="609600" y="409575"/>
            <a:ext cx="109537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22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A damage, its proof, and its operations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7512A1-E156-4F74-A433-F181D6C45214}"/>
              </a:ext>
            </a:extLst>
          </p:cNvPr>
          <p:cNvSpPr>
            <a:spLocks noGrp="1"/>
          </p:cNvSpPr>
          <p:nvPr/>
        </p:nvSpPr>
        <p:spPr>
          <a:xfrm>
            <a:off x="11144250" y="63246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3659" y="1495425"/>
            <a:ext cx="3279006" cy="42672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F8B9516-A0A7-48AF-AA02-72325DBFF296}"/>
              </a:ext>
            </a:extLst>
          </p:cNvPr>
          <p:cNvSpPr>
            <a:spLocks noGrp="1"/>
          </p:cNvSpPr>
          <p:nvPr/>
        </p:nvSpPr>
        <p:spPr>
          <a:xfrm>
            <a:off x="4752975" y="1438275"/>
            <a:ext cx="6762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Case 820002 · original note (kept in German)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E82463-8164-459A-A467-8190536EA681}"/>
              </a:ext>
            </a:extLst>
          </p:cNvPr>
          <p:cNvSpPr>
            <a:spLocks noGrp="1"/>
          </p:cNvSpPr>
          <p:nvPr/>
        </p:nvSpPr>
        <p:spPr>
          <a:xfrm>
            <a:off x="4752975" y="1952625"/>
            <a:ext cx="6619875" cy="1409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« Steinschlag Windschutzscheibe im Sichtfeld Fahrer, Reparatur nicht möglich, Austausch nötig. »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7890BD-BBDB-44A7-9228-E205246E8691}"/>
              </a:ext>
            </a:extLst>
          </p:cNvPr>
          <p:cNvSpPr>
            <a:spLocks noGrp="1"/>
          </p:cNvSpPr>
          <p:nvPr/>
        </p:nvSpPr>
        <p:spPr>
          <a:xfrm>
            <a:off x="4752975" y="3714750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7562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7562C"/>
                </a:solidFill>
                <a:latin typeface="Arial"/>
                <a:ea typeface="Arial"/>
                <a:cs typeface="Arial"/>
              </a:rPr>
              <a:t>Windscreen: replace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7D4C20-20CD-4F28-8EE6-FE33C8EEEBD3}"/>
              </a:ext>
            </a:extLst>
          </p:cNvPr>
          <p:cNvSpPr>
            <a:spLocks noGrp="1"/>
          </p:cNvSpPr>
          <p:nvPr/>
        </p:nvSpPr>
        <p:spPr>
          <a:xfrm>
            <a:off x="4752975" y="41814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Action explicitly stated in the note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8B30F0-31F1-46E0-AE5C-E3104BBCFA2D}"/>
              </a:ext>
            </a:extLst>
          </p:cNvPr>
          <p:cNvSpPr>
            <a:spLocks noGrp="1"/>
          </p:cNvSpPr>
          <p:nvPr/>
        </p:nvSpPr>
        <p:spPr>
          <a:xfrm>
            <a:off x="4752975" y="4810125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Trim / plate: remove-and-install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D9FFF9-F3B1-4C6B-B46F-9707F7DA2075}"/>
              </a:ext>
            </a:extLst>
          </p:cNvPr>
          <p:cNvSpPr>
            <a:spLocks noGrp="1"/>
          </p:cNvSpPr>
          <p:nvPr/>
        </p:nvSpPr>
        <p:spPr>
          <a:xfrm>
            <a:off x="4752975" y="5276850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Derived from the adjacency table (not the note)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9E7BB0-FA91-4AED-9E53-92FB47A31E2D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76325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Prototype capture. Colours separate damage from remove-and-install.</a:t>
            </a:r>
          </a:p>
        </p:txBody>
      </p:sp>
    </p:spTree>
    <p:extLst>
      <p:ext uri="{BB962C8B-B14F-4D97-AF65-F5344CB8AC3E}">
        <p14:creationId xmlns:p14="http://schemas.microsoft.com/office/powerpoint/2010/main" val="854725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13CDD1D-DFF0-4CDA-B318-74930B76E136}"/>
              </a:ext>
            </a:extLst>
          </p:cNvPr>
          <p:cNvSpPr>
            <a:spLocks noGrp="1"/>
          </p:cNvSpPr>
          <p:nvPr/>
        </p:nvSpPr>
        <p:spPr>
          <a:xfrm>
            <a:off x="609600" y="409575"/>
            <a:ext cx="109537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22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What the corpus already shows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5C8F2D-C6E1-4DC9-9E03-CFF45966A424}"/>
              </a:ext>
            </a:extLst>
          </p:cNvPr>
          <p:cNvSpPr>
            <a:spLocks noGrp="1"/>
          </p:cNvSpPr>
          <p:nvPr/>
        </p:nvSpPr>
        <p:spPr>
          <a:xfrm>
            <a:off x="11144250" y="63246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B64388-7E9E-4D82-BB03-4D42E09F0299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6715125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Damage kinds · 450 cases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="552450" y="1990725"/>
          <a:ext cx="6858000" cy="3705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EBEAD060-EE55-4496-B13D-FADDFCC87683}"/>
              </a:ext>
            </a:extLst>
          </p:cNvPr>
          <p:cNvSpPr>
            <a:spLocks noGrp="1"/>
          </p:cNvSpPr>
          <p:nvPr/>
        </p:nvSpPr>
        <p:spPr>
          <a:xfrm>
            <a:off x="7924800" y="1952625"/>
            <a:ext cx="333375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500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41.3%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993B5B-F894-4BB0-95EE-611233AB2433}"/>
              </a:ext>
            </a:extLst>
          </p:cNvPr>
          <p:cNvSpPr>
            <a:spLocks noGrp="1"/>
          </p:cNvSpPr>
          <p:nvPr/>
        </p:nvSpPr>
        <p:spPr>
          <a:xfrm>
            <a:off x="7924800" y="2809875"/>
            <a:ext cx="3409950" cy="1085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C36"/>
                </a:solidFill>
                <a:latin typeface="Arial"/>
                <a:ea typeface="Arial"/>
                <a:cs typeface="Arial"/>
              </a:rPr>
              <a:t>of damage is parking</a:t>
            </a:r>
          </a:p>
          <a:p>
            <a:pPr>
              <a:defRPr sz="187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C36"/>
                </a:solidFill>
                <a:latin typeface="Arial"/>
                <a:ea typeface="Arial"/>
                <a:cs typeface="Arial"/>
              </a:rPr>
              <a:t>or manoeuvring</a:t>
            </a:r>
          </a:p>
          <a:p>
            <a:pPr>
              <a:defRPr sz="187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C36"/>
                </a:solidFill>
                <a:latin typeface="Arial"/>
                <a:ea typeface="Arial"/>
                <a:cs typeface="Arial"/>
              </a:rPr>
              <a:t>(186 of 450 cases)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56A6E0-94FF-46F8-9EF9-B1DD68D4F433}"/>
              </a:ext>
            </a:extLst>
          </p:cNvPr>
          <p:cNvSpPr>
            <a:spLocks noGrp="1"/>
          </p:cNvSpPr>
          <p:nvPr/>
        </p:nvSpPr>
        <p:spPr>
          <a:xfrm>
            <a:off x="7924800" y="4333875"/>
            <a:ext cx="35242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668 open cases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E3D056-AFD2-4B1F-A634-CA2CC5EDF2F2}"/>
              </a:ext>
            </a:extLst>
          </p:cNvPr>
          <p:cNvSpPr>
            <a:spLocks noGrp="1"/>
          </p:cNvSpPr>
          <p:nvPr/>
        </p:nvSpPr>
        <p:spPr>
          <a:xfrm>
            <a:off x="7924800" y="4933950"/>
            <a:ext cx="34099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Median age: 150 days</a:t>
            </a:r>
          </a:p>
          <a:p>
            <a:pPr>
              <a:defRPr sz="180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A queue to review with the shop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437113-C8BC-46D9-90CA-275F57FD0849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8108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Synthetic data. Age since creation is not a repair-time measure.</a:t>
            </a:r>
          </a:p>
        </p:txBody>
      </p:sp>
    </p:spTree>
    <p:extLst>
      <p:ext uri="{BB962C8B-B14F-4D97-AF65-F5344CB8AC3E}">
        <p14:creationId xmlns:p14="http://schemas.microsoft.com/office/powerpoint/2010/main" val="565877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919FD4F-95A4-4AD7-A89D-74BA38963ADC}"/>
              </a:ext>
            </a:extLst>
          </p:cNvPr>
          <p:cNvSpPr>
            <a:spLocks noGrp="1"/>
          </p:cNvSpPr>
          <p:nvPr/>
        </p:nvSpPr>
        <p:spPr>
          <a:xfrm>
            <a:off x="609600" y="409575"/>
            <a:ext cx="109537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22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Measured on held-out cases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40EA9D-5225-4F64-AE0C-40AE6DDC0D63}"/>
              </a:ext>
            </a:extLst>
          </p:cNvPr>
          <p:cNvSpPr>
            <a:spLocks noGrp="1"/>
          </p:cNvSpPr>
          <p:nvPr/>
        </p:nvSpPr>
        <p:spPr>
          <a:xfrm>
            <a:off x="11144250" y="63246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FB158A-2BF9-4B8F-8C37-9F5CF4DD267B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4953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DeepSeek extraction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27CB0E-249E-4788-8C0C-14911A92CB50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49530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977 cases, outside examples and pilot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1711F-AF88-48F5-A53C-43345F02B493}"/>
              </a:ext>
            </a:extLst>
          </p:cNvPr>
          <p:cNvSpPr>
            <a:spLocks noGrp="1"/>
          </p:cNvSpPr>
          <p:nvPr/>
        </p:nvSpPr>
        <p:spPr>
          <a:xfrm>
            <a:off x="609600" y="2619375"/>
            <a:ext cx="2381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275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99.9%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E3E4AB-9A30-41F9-9AF3-BAE400140A35}"/>
              </a:ext>
            </a:extLst>
          </p:cNvPr>
          <p:cNvSpPr>
            <a:spLocks noGrp="1"/>
          </p:cNvSpPr>
          <p:nvPr/>
        </p:nvSpPr>
        <p:spPr>
          <a:xfrm>
            <a:off x="609600" y="3343275"/>
            <a:ext cx="48577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C36"/>
                </a:solidFill>
                <a:latin typeface="Arial"/>
                <a:ea typeface="Arial"/>
                <a:cs typeface="Arial"/>
              </a:rPr>
              <a:t>Damage-zone F1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76E1AC-89FF-497E-B3D5-6B266C2C3536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2381250" cy="6953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975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100 %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DE4D00-D6F0-42B5-A59A-291785F1DBE2}"/>
              </a:ext>
            </a:extLst>
          </p:cNvPr>
          <p:cNvSpPr>
            <a:spLocks noGrp="1"/>
          </p:cNvSpPr>
          <p:nvPr/>
        </p:nvSpPr>
        <p:spPr>
          <a:xfrm>
            <a:off x="609600" y="4838700"/>
            <a:ext cx="4857750" cy="7334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C36"/>
                </a:solidFill>
                <a:latin typeface="Arial"/>
                <a:ea typeface="Arial"/>
                <a:cs typeface="Arial"/>
              </a:rPr>
              <a:t>Case kind + insurance</a:t>
            </a:r>
          </a:p>
          <a:p>
            <a:pPr>
              <a:defRPr sz="1950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C36"/>
                </a:solidFill>
                <a:latin typeface="Arial"/>
                <a:ea typeface="Arial"/>
                <a:cs typeface="Arial"/>
              </a:rPr>
              <a:t>100% quotes verbatim · 0 cases lost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F99FCF-EDE9-4F21-A1CA-30393B17D845}"/>
              </a:ext>
            </a:extLst>
          </p:cNvPr>
          <p:cNvSpPr>
            <a:spLocks noGrp="1"/>
          </p:cNvSpPr>
          <p:nvPr/>
        </p:nvSpPr>
        <p:spPr>
          <a:xfrm>
            <a:off x="5838825" y="1428750"/>
            <a:ext cx="58102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Severity: 5-model shootout on 150 cases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104A55-52D7-4274-8694-F124332AF5F2}"/>
              </a:ext>
            </a:extLst>
          </p:cNvPr>
          <p:cNvSpPr>
            <a:spLocks noGrp="1"/>
          </p:cNvSpPr>
          <p:nvPr/>
        </p:nvSpPr>
        <p:spPr>
          <a:xfrm>
            <a:off x="5838825" y="1924050"/>
            <a:ext cx="581025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Same test set for every model</a:t>
            </a:r>
          </a:p>
        </p:txBody>
      </p:sp>
      <p:graphicFrame>
        <p:nvGraphicFramePr>
          <p:cNvPr id="23" name="Tableau 22"/>
          <p:cNvGraphicFramePr/>
          <p:nvPr/>
        </p:nvGraphicFramePr>
        <p:xfrm>
          <a:off x="5829300" y="2466975"/>
          <a:ext cx="5715000" cy="3000378"/>
        </p:xfrm>
        <a:graphic>
          <a:graphicData uri="http://schemas.openxmlformats.org/drawingml/2006/table">
            <a:tbl>
              <a:tblPr/>
              <a:tblGrid>
                <a:gridCol w="39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063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>
                    <a:solidFill>
                      <a:srgbClr val="102C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>
                    <a:solidFill>
                      <a:srgbClr val="102C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C36"/>
                          </a:solidFill>
                          <a:latin typeface="Arial"/>
                          <a:ea typeface="Arial"/>
                          <a:cs typeface="Arial"/>
                        </a:rPr>
                        <a:t>XGBoost</a:t>
                      </a:r>
                    </a:p>
                  </a:txBody>
                  <a:tcPr>
                    <a:solidFill>
                      <a:srgbClr val="DF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82.0 %</a:t>
                      </a:r>
                    </a:p>
                  </a:txBody>
                  <a:tcPr>
                    <a:solidFill>
                      <a:srgbClr val="DF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t>gbert (fine-tuned)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78.7 %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73.3 %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2C36"/>
                          </a:solidFill>
                          <a:latin typeface="Arial"/>
                          <a:ea typeface="Arial"/>
                          <a:cs typeface="Arial"/>
                        </a:rPr>
                        <a:t>DeepSeek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72.7 %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2C36"/>
                          </a:solidFill>
                          <a:latin typeface="Arial"/>
                          <a:ea typeface="Arial"/>
                          <a:cs typeface="Arial"/>
                        </a:rPr>
                        <a:t>LightGBM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65.3 %</a:t>
                      </a:r>
                    </a:p>
                  </a:txBody>
                  <a:tcPr>
                    <a:solidFill>
                      <a:srgbClr val="F5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53E3152F-9ACB-4845-AA41-2553BF79334F}"/>
              </a:ext>
            </a:extLst>
          </p:cNvPr>
          <p:cNvSpPr>
            <a:spLocks noGrp="1"/>
          </p:cNvSpPr>
          <p:nvPr/>
        </p:nvSpPr>
        <p:spPr>
          <a:xfrm>
            <a:off x="609600" y="59340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¹ Insurance: 434 damage cases. Severity: 284 train / 150 test. On the 434 damage cases: DeepSeek severity 68.7% vs a 79.5% data-ceiling.</a:t>
            </a:r>
          </a:p>
        </p:txBody>
      </p:sp>
    </p:spTree>
    <p:extLst>
      <p:ext uri="{BB962C8B-B14F-4D97-AF65-F5344CB8AC3E}">
        <p14:creationId xmlns:p14="http://schemas.microsoft.com/office/powerpoint/2010/main" val="2139342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C389F48-7629-4AD2-B4AD-5458322DA05D}"/>
              </a:ext>
            </a:extLst>
          </p:cNvPr>
          <p:cNvSpPr>
            <a:spLocks noGrp="1"/>
          </p:cNvSpPr>
          <p:nvPr/>
        </p:nvSpPr>
        <p:spPr>
          <a:xfrm>
            <a:off x="609600" y="409575"/>
            <a:ext cx="109537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225" b="1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2C36"/>
                </a:solidFill>
                <a:latin typeface="Arial"/>
                <a:ea typeface="Arial"/>
                <a:cs typeface="Arial"/>
              </a:rPr>
              <a:t>Limits — said out loud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9D86-D8BF-4076-A107-1F1D8EDDFB29}"/>
              </a:ext>
            </a:extLst>
          </p:cNvPr>
          <p:cNvSpPr>
            <a:spLocks noGrp="1"/>
          </p:cNvSpPr>
          <p:nvPr/>
        </p:nvSpPr>
        <p:spPr>
          <a:xfrm>
            <a:off x="11144250" y="63246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6A8715-957D-41E5-BAD0-0B3F1591C4E3}"/>
              </a:ext>
            </a:extLst>
          </p:cNvPr>
          <p:cNvSpPr>
            <a:spLocks noGrp="1"/>
          </p:cNvSpPr>
          <p:nvPr/>
        </p:nvSpPr>
        <p:spPr>
          <a:xfrm>
            <a:off x="609600" y="2114550"/>
            <a:ext cx="6667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C36"/>
                </a:solidFill>
                <a:latin typeface="Arial"/>
                <a:ea typeface="Arial"/>
                <a:cs typeface="Arial"/>
              </a:rPr>
              <a:t>"How do we know which parts to remove to repair another one?" Today that comes from a hand-reviewed adjacency table (bodywork only).</a:t>
            </a:r>
          </a:p>
          <a:p>
            <a:pPr>
              <a:defRPr sz="202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endParaRPr sz="2025" b="0">
              <a:solidFill>
                <a:srgbClr val="102C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19C22A-19B2-4757-8D54-2B69F0CDC573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6667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102C36"/>
                </a:solidFill>
                <a:latin typeface="Arial"/>
                <a:ea typeface="Arial"/>
                <a:cs typeface="Arial"/>
              </a:rPr>
              <a:t>The dataset has NO parts, operation or removal labels — so remove-and-install is expert-rule-based and unverified. Mechanical R&amp;I (brake pads → wheels) is out of scope.</a:t>
            </a:r>
          </a:p>
          <a:p>
            <a:pPr>
              <a:defRPr sz="202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endParaRPr sz="2025" b="0" dirty="0">
              <a:solidFill>
                <a:srgbClr val="102C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561742-7960-4149-933B-C9EE70756C2D}"/>
              </a:ext>
            </a:extLst>
          </p:cNvPr>
          <p:cNvSpPr>
            <a:spLocks noGrp="1"/>
          </p:cNvSpPr>
          <p:nvPr/>
        </p:nvSpPr>
        <p:spPr>
          <a:xfrm>
            <a:off x="609600" y="4733925"/>
            <a:ext cx="666750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102C36"/>
                </a:solidFill>
                <a:latin typeface="Arial"/>
                <a:ea typeface="Arial"/>
                <a:cs typeface="Arial"/>
              </a:rPr>
              <a:t>Severity is a data limit: the identical sentence carries light, medium AND severe labels — a ~79.5% ceiling, not a model gap.</a:t>
            </a:r>
          </a:p>
          <a:p>
            <a:pPr>
              <a:defRPr sz="2025" b="0">
                <a:solidFill>
                  <a:srgbClr val="102C36"/>
                </a:solidFill>
                <a:latin typeface="Arial"/>
                <a:ea typeface="Arial"/>
                <a:cs typeface="Arial"/>
              </a:defRPr>
            </a:pPr>
            <a:endParaRPr sz="2025" b="0" dirty="0">
              <a:solidFill>
                <a:srgbClr val="102C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C8C0DA-366F-48DC-9AED-DBFE564313CB}"/>
              </a:ext>
            </a:extLst>
          </p:cNvPr>
          <p:cNvSpPr>
            <a:spLocks noGrp="1"/>
          </p:cNvSpPr>
          <p:nvPr/>
        </p:nvSpPr>
        <p:spPr>
          <a:xfrm>
            <a:off x="7962900" y="1466850"/>
            <a:ext cx="333375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75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75BDFE-74AA-4D75-B56B-D4D3E2FBC8FF}"/>
              </a:ext>
            </a:extLst>
          </p:cNvPr>
          <p:cNvSpPr>
            <a:spLocks noGrp="1"/>
          </p:cNvSpPr>
          <p:nvPr/>
        </p:nvSpPr>
        <p:spPr>
          <a:xfrm>
            <a:off x="7962900" y="2219325"/>
            <a:ext cx="3333750" cy="876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Validate the adjacency</a:t>
            </a:r>
          </a:p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rules with the workshop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F0F77-EC28-4E74-B2DD-1DAC3E22F23D}"/>
              </a:ext>
            </a:extLst>
          </p:cNvPr>
          <p:cNvSpPr>
            <a:spLocks noGrp="1"/>
          </p:cNvSpPr>
          <p:nvPr/>
        </p:nvSpPr>
        <p:spPr>
          <a:xfrm>
            <a:off x="7962900" y="3457575"/>
            <a:ext cx="3333750" cy="876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Learn R&amp;I from real</a:t>
            </a:r>
          </a:p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repair-order histories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E7DBCA-9497-4FB0-A559-61AD4249BD49}"/>
              </a:ext>
            </a:extLst>
          </p:cNvPr>
          <p:cNvSpPr>
            <a:spLocks noGrp="1"/>
          </p:cNvSpPr>
          <p:nvPr/>
        </p:nvSpPr>
        <p:spPr>
          <a:xfrm>
            <a:off x="7962900" y="4695825"/>
            <a:ext cx="3333750" cy="876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Test on real</a:t>
            </a:r>
          </a:p>
          <a:p>
            <a:pPr>
              <a:defRPr sz="1875" b="0">
                <a:solidFill>
                  <a:srgbClr val="5470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7078"/>
                </a:solidFill>
                <a:latin typeface="Arial"/>
                <a:ea typeface="Arial"/>
                <a:cs typeface="Arial"/>
              </a:rPr>
              <a:t>production notes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34A495-CE5A-4E7E-9DBF-ED860B8E05B7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007F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7F75"/>
                </a:solidFill>
                <a:latin typeface="Arial"/>
                <a:ea typeface="Arial"/>
                <a:cs typeface="Arial"/>
              </a:rPr>
              <a:t>Synthetic corpus: a regex baseline looks strong on zones; only 2 unmapped terms in 1,000 cases, flagged never dropped.</a:t>
            </a:r>
          </a:p>
        </p:txBody>
      </p:sp>
    </p:spTree>
    <p:extLst>
      <p:ext uri="{BB962C8B-B14F-4D97-AF65-F5344CB8AC3E}">
        <p14:creationId xmlns:p14="http://schemas.microsoft.com/office/powerpoint/2010/main" val="14240909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1424</Words>
  <Application>Microsoft Office PowerPoint</Application>
  <DocSecurity>0</DocSecurity>
  <PresentationFormat>Grand écran</PresentationFormat>
  <Paragraphs>114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ChatGPT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Mohammed bendaou</cp:lastModifiedBy>
  <cp:revision>2</cp:revision>
  <dcterms:created xsi:type="dcterms:W3CDTF">2026-09-18T15:11:40Z</dcterms:created>
  <dcterms:modified xsi:type="dcterms:W3CDTF">2026-09-18T19:02:51Z</dcterms:modified>
</cp:coreProperties>
</file>