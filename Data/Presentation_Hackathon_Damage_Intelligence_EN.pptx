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010" autoAdjust="0"/>
  </p:normalViewPr>
  <p:slideViewPr>
    <p:cSldViewPr snapToGrid="0">
      <p:cViewPr varScale="1">
        <p:scale>
          <a:sx n="61" d="100"/>
          <a:sy n="61" d="100"/>
        </p:scale>
        <p:origin x="1493"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bar"/>
        <c:grouping val="clustered"/>
        <c:varyColors val="0"/>
        <c:ser>
          <c:idx val="0"/>
          <c:order val="0"/>
          <c:tx>
            <c:v>Operations</c:v>
          </c:tx>
          <c:spPr>
            <a:solidFill>
              <a:srgbClr val="007F75"/>
            </a:solidFill>
          </c:spPr>
          <c:invertIfNegative val="1"/>
          <c:dLbls>
            <c:spPr>
              <a:noFill/>
              <a:ln>
                <a:noFill/>
              </a:ln>
              <a:effectLst/>
            </c:spPr>
            <c:txPr>
              <a:bodyPr anchorCtr="1"/>
              <a:lstStyle/>
              <a:p>
                <a:pPr>
                  <a:defRPr sz="1650">
                    <a:solidFill>
                      <a:srgbClr val="102C36"/>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Replacements</c:v>
                </c:pt>
                <c:pt idx="1">
                  <c:v>Remove and install</c:v>
                </c:pt>
              </c:strCache>
            </c:strRef>
          </c:cat>
          <c:val>
            <c:numRef>
              <c:f>'Chart Data'!$B$2:$B$3</c:f>
              <c:numCache>
                <c:formatCode>0</c:formatCode>
                <c:ptCount val="2"/>
                <c:pt idx="0">
                  <c:v>216</c:v>
                </c:pt>
                <c:pt idx="1">
                  <c:v>389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39C-4A3F-AB34-AF52916524ED}"/>
            </c:ext>
          </c:extLst>
        </c:ser>
        <c:dLbls>
          <c:dLblPos val="outEnd"/>
          <c:showLegendKey val="0"/>
          <c:showVal val="1"/>
          <c:showCatName val="0"/>
          <c:showSerName val="0"/>
          <c:showPercent val="0"/>
          <c:showBubbleSize val="0"/>
        </c:dLbls>
        <c:gapWidth val="65"/>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sz="1650">
                <a:solidFill>
                  <a:srgbClr val="102C3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450"/>
          <c:min val="0"/>
        </c:scaling>
        <c:delete val="0"/>
        <c:axPos val="b"/>
        <c:majorGridlines>
          <c:spPr>
            <a:ln w="9525">
              <a:solidFill>
                <a:srgbClr val="DEE6E2"/>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350">
                <a:solidFill>
                  <a:srgbClr val="547078"/>
                </a:solidFill>
                <a:latin typeface="Arial"/>
                <a:ea typeface="Arial"/>
                <a:cs typeface="Arial"/>
              </a:defRPr>
            </a:pPr>
            <a:endParaRPr lang="en-US"/>
          </a:p>
        </c:txPr>
        <c:crossAx val="48650112"/>
        <c:crosses val="autoZero"/>
        <c:crossBetween val="between"/>
        <c:majorUnit val="150"/>
      </c:valAx>
      <c:spPr>
        <a:solidFill>
          <a:srgbClr val="F5F4EF"/>
        </a:solidFill>
      </c:spPr>
    </c:plotArea>
    <c:plotVisOnly val="1"/>
    <c:dispBlanksAs val="zero"/>
    <c:showDLblsOverMax val="1"/>
  </c:chart>
  <c:spPr>
    <a:solidFill>
      <a:srgbClr val="F5F4E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Before we dive in, here's the live link to the dashboard so you can follow along: wolf-day-</a:t>
            </a:r>
            <a:r>
              <a:rPr dirty="0" err="1"/>
              <a:t>damage.vercel.app</a:t>
            </a:r>
            <a:r>
              <a:rPr dirty="0"/>
              <a:t>/dashboard. I'll walk you through what we built, then we'll review the dashboard together — it's designed for the workshop mechanic.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 start with 1,000 synthetic German workshop cases: 550 service cases and 450 damage cases. The damage information is locked inside messy, free-text German notes. Extracting it reliably is the challenge.</a:t>
            </a:r>
          </a:p>
          <a:p>
            <a:endParaRPr dirty="0"/>
          </a:p>
          <a:p>
            <a:r>
              <a:rPr dirty="0"/>
              <a:t>One extraction feeds both deliverables. A German note goes to </a:t>
            </a:r>
            <a:r>
              <a:rPr dirty="0" err="1"/>
              <a:t>DeepSeek</a:t>
            </a:r>
            <a:r>
              <a:rPr dirty="0"/>
              <a:t>, which fills a strict </a:t>
            </a:r>
            <a:r>
              <a:rPr dirty="0" err="1"/>
              <a:t>Pydantic</a:t>
            </a:r>
            <a:r>
              <a:rPr dirty="0"/>
              <a:t> form with a closed vocabulary and explicit part-plus-side fields. Deterministic repair rules then produce the vehicle sheet and corpus analytics. The LLM only reads; deterministic code decides. German stays German.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case 820002. We retain the original German note and highlight the exact sentence that justifies the damage: “Steinschlag Windschutzscheibe im Sichtfeld Fahrer, Reparatur nicht möglich, Austausch nötig.”</a:t>
            </a:r>
          </a:p>
          <a:p>
            <a:endParaRPr/>
          </a:p>
          <a:p>
            <a:r>
              <a:t>The windscreen must be replaced because replacement is stated in the note. The trim/plate is marked for remove-and-install by the adjacency rule. Every coloured region traces back to the verbatim German quote, directly for the damage or through the deterministic adjacency rule for R&amp;I. A blue R&amp;I region does not mean a second damage.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These are measured results on 977 held-out cases. Damage-zone F1 is 99.9%. Case kind and insurance accuracy are each 100%. Evidence quotes are verbatim in 100% of cases, and no cases are lost. Unmapped terms are flagged, never dropped.</a:t>
            </a:r>
          </a:p>
          <a:p>
            <a:endParaRPr dirty="0"/>
          </a:p>
          <a:p>
            <a:r>
              <a:rPr dirty="0"/>
              <a:t>The full 1,000-case corpus runs in about 11 minutes, with per-case caching and back-off. A regex baseline ties on zones because the synthetic corpus has a closed vocabulary. However, that baseline scores 0% on severity and 76% on insurance.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Severity is never written explicitly; it must be inferred from the wording. On the same 977 held-out cases, DeepSeek reaches 68.7%, compared with the reported 79.5% data ceiling: about 86% of the extractable signal. That ceiling comes from a majority-label lookup over damage-wording fingerprints. It describes this analysis of the data, not a universal bound for every model or test split.</a:t>
            </a:r>
          </a:p>
          <a:p>
            <a:endParaRPr/>
          </a:p>
          <a:p>
            <a:r>
              <a:t>The generator partly decorrelates severity from the text. The identical sentence appears labelled light, medium and severe in different cases. This creates a data limit.</a:t>
            </a:r>
          </a:p>
          <a:p>
            <a:endParaRPr/>
          </a:p>
          <a:p>
            <a:r>
              <a:t>We also benchmarked models on a common 150-case severity test: LightGBM 65.3%, DeepSeek 72.7%, LogReg 73.3%, gbert — a fine-tuned German BERT on GPU — 78.7%, and XGBoost 82.0%. Do not compare the XGBoost result on this test directly with the ceiling on the other evaluation scope.</a:t>
            </a:r>
          </a:p>
          <a:p>
            <a:endParaRPr/>
          </a:p>
          <a:p>
            <a:r>
              <a:t>The approximately 17-point spread between the two boosting models raises an overfitting concern: models may memorise the synthetic phrase library rather than learn severity. The highest synthetic score is therefore not, by itself, evidence of better real-world generalisation. This spread alone does not prove overfitting. The product ships DeepSeek severity; generalisation to real production notes is the next validation, not an established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actionable observations from our extraction of the 450 damage cases. Parking or manoeuvring accounts for 41.3%, or 186 out of 450: low-severity, high-volume bodywork to review with the dealership.</a:t>
            </a:r>
          </a:p>
          <a:p>
            <a:endParaRPr/>
          </a:p>
          <a:p>
            <a:r>
              <a:t>Across the corpus, 668 cases are still open, with a median age of 150 days. This is a queue to review with the shop. Age since creation is not the same as repair duration.</a:t>
            </a:r>
          </a:p>
          <a:p>
            <a:endParaRPr/>
          </a:p>
          <a:p>
            <a:r>
              <a:t>There are 216 replacements, which trigger 389 remove-and-install operations. This is potentially billable work that is invisible in the raw note. The R&amp;I count is generated by our expert rules and has not been verified against operation ground truth.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this explicitly: “How do we know which parts to remove in order to repair another one?”</a:t>
            </a:r>
          </a:p>
          <a:p>
            <a:endParaRPr/>
          </a:p>
          <a:p>
            <a:r>
              <a:t>Today, the answer comes from a hand-reviewed adjacency table for bodywork only. It does not come from the data. The dataset contains no parts, removal or operation labels at all. Ground truth covers zones, severity, kind, insurance and stage only. The remove-and-install logic is therefore expert-rule-based and unverified against ground truth. Mechanical R&amp;I — for example, removing wheels to work on brake pads — is out of scope.</a:t>
            </a:r>
          </a:p>
          <a:p>
            <a:endParaRPr/>
          </a:p>
          <a:p>
            <a:r>
              <a:t>The next step is to validate these adjacency rules with the workshop and, ideally, learn them from real repair-order histories.</a:t>
            </a:r>
          </a:p>
          <a:p>
            <a:endParaRPr/>
          </a:p>
          <a:p>
            <a:r>
              <a:t>Other limits: this is a synthetic corpus built from a phrase library, which makes regex look artificially strong. The severity ceiling is a data limitation. There are only 2 unmapped terms in the whole corpus: they are flagged, never dropped.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dashboard is live and public: https://wolf-day-damage.vercel.app/dashboard. It includes the dashboard, the 2D/3D per-vehicle sheet and the Model Lab.</a:t>
            </a:r>
          </a:p>
          <a:p>
            <a:endParaRPr/>
          </a:p>
          <a:p>
            <a:r>
              <a:t>Next: validate extraction on real production notes, add live technician extraction, and learn the remove-and-install table from repair histories. Let’s review the dashboard together, from the workshop mechanic’s perspective.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olf-day-damage.vercel.app/dashboa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wolf-day-damage.vercel.app/dashboard"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C36"/>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0DD583-8423-4710-BBD5-3C5879F001DD}"/>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00</a:t>
            </a:r>
          </a:p>
        </p:txBody>
      </p:sp>
      <p:sp>
        <p:nvSpPr>
          <p:cNvPr id="3" name="Rectangle 2">
            <a:extLst>
              <a:ext uri="{FF2B5EF4-FFF2-40B4-BE49-F238E27FC236}">
                <a16:creationId xmlns:a16="http://schemas.microsoft.com/office/drawing/2014/main" id="{EC670042-1743-4526-83E4-614F385CA364}"/>
              </a:ext>
            </a:extLst>
          </p:cNvPr>
          <p:cNvSpPr>
            <a:spLocks noGrp="1"/>
          </p:cNvSpPr>
          <p:nvPr/>
        </p:nvSpPr>
        <p:spPr>
          <a:xfrm>
            <a:off x="851770" y="833436"/>
            <a:ext cx="4676385" cy="1485900"/>
          </a:xfrm>
          <a:prstGeom prst="rect">
            <a:avLst/>
          </a:prstGeom>
          <a:noFill/>
          <a:ln w="0">
            <a:noFill/>
          </a:ln>
        </p:spPr>
        <p:txBody>
          <a:bodyPr>
            <a:noAutofit/>
          </a:bodyPr>
          <a:lstStyle/>
          <a:p>
            <a:pPr>
              <a:buNone/>
              <a:defRPr sz="3600" b="1">
                <a:solidFill>
                  <a:srgbClr val="FFFFFF"/>
                </a:solidFill>
                <a:latin typeface="Arial"/>
                <a:ea typeface="Arial"/>
                <a:cs typeface="Arial"/>
              </a:defRPr>
            </a:pPr>
            <a:r>
              <a:rPr lang="en-US" sz="3600" b="1" dirty="0">
                <a:solidFill>
                  <a:srgbClr val="FFFFFF"/>
                </a:solidFill>
                <a:latin typeface="Arial"/>
                <a:ea typeface="Arial"/>
                <a:cs typeface="Arial"/>
              </a:rPr>
              <a:t>Prefer the product to the pipeline? </a:t>
            </a:r>
          </a:p>
          <a:p>
            <a:pPr>
              <a:buNone/>
              <a:defRPr sz="3600" b="1">
                <a:solidFill>
                  <a:srgbClr val="FFFFFF"/>
                </a:solidFill>
                <a:latin typeface="Arial"/>
                <a:ea typeface="Arial"/>
                <a:cs typeface="Arial"/>
              </a:defRPr>
            </a:pPr>
            <a:r>
              <a:rPr lang="en-US" sz="3600" b="1" dirty="0">
                <a:solidFill>
                  <a:srgbClr val="FFFFFF"/>
                </a:solidFill>
                <a:latin typeface="Arial"/>
                <a:ea typeface="Arial"/>
                <a:cs typeface="Arial"/>
              </a:rPr>
              <a:t>Follow along on the live dashboard.</a:t>
            </a:r>
          </a:p>
        </p:txBody>
      </p:sp>
      <p:sp>
        <p:nvSpPr>
          <p:cNvPr id="4" name="Rectangle 3">
            <a:extLst>
              <a:ext uri="{FF2B5EF4-FFF2-40B4-BE49-F238E27FC236}">
                <a16:creationId xmlns:a16="http://schemas.microsoft.com/office/drawing/2014/main" id="{C7BEB761-EA07-4F19-8B4C-76BCE8485B99}"/>
              </a:ext>
            </a:extLst>
          </p:cNvPr>
          <p:cNvSpPr>
            <a:spLocks noGrp="1"/>
          </p:cNvSpPr>
          <p:nvPr/>
        </p:nvSpPr>
        <p:spPr>
          <a:xfrm>
            <a:off x="609601" y="3557587"/>
            <a:ext cx="5052164" cy="952500"/>
          </a:xfrm>
          <a:prstGeom prst="rect">
            <a:avLst/>
          </a:prstGeom>
          <a:noFill/>
          <a:ln w="0">
            <a:noFill/>
          </a:ln>
        </p:spPr>
        <p:txBody>
          <a:bodyPr>
            <a:noAutofit/>
          </a:bodyPr>
          <a:lstStyle/>
          <a:p>
            <a:pPr algn="ctr">
              <a:buNone/>
              <a:defRPr sz="2325" b="0">
                <a:solidFill>
                  <a:srgbClr val="B9D7D4"/>
                </a:solidFill>
                <a:latin typeface="Arial"/>
                <a:ea typeface="Arial"/>
                <a:cs typeface="Arial"/>
              </a:defRPr>
            </a:pPr>
            <a:r>
              <a:rPr lang="en-US" sz="2325" b="0" dirty="0">
                <a:solidFill>
                  <a:srgbClr val="B9D7D4"/>
                </a:solidFill>
                <a:latin typeface="Arial"/>
                <a:ea typeface="Arial"/>
                <a:cs typeface="Arial"/>
              </a:rPr>
              <a:t>Mechanics write messy German notes; our app turns them into a clear per-car dashboard damage, severity, who pays, parts to replace.</a:t>
            </a:r>
            <a:endParaRPr sz="2325" b="0" dirty="0">
              <a:solidFill>
                <a:srgbClr val="B9D7D4"/>
              </a:solidFill>
              <a:latin typeface="Arial"/>
              <a:ea typeface="Arial"/>
              <a:cs typeface="Arial"/>
            </a:endParaRPr>
          </a:p>
        </p:txBody>
      </p:sp>
      <p:sp>
        <p:nvSpPr>
          <p:cNvPr id="5" name="Rectangle 4">
            <a:extLst>
              <a:ext uri="{FF2B5EF4-FFF2-40B4-BE49-F238E27FC236}">
                <a16:creationId xmlns:a16="http://schemas.microsoft.com/office/drawing/2014/main" id="{A559B5E8-9CB7-41EA-AFE7-B2B2EEE9E7E2}"/>
              </a:ext>
            </a:extLst>
          </p:cNvPr>
          <p:cNvSpPr>
            <a:spLocks noGrp="1"/>
          </p:cNvSpPr>
          <p:nvPr/>
        </p:nvSpPr>
        <p:spPr>
          <a:xfrm>
            <a:off x="321501" y="5748338"/>
            <a:ext cx="8572500" cy="457200"/>
          </a:xfrm>
          <a:prstGeom prst="rect">
            <a:avLst/>
          </a:prstGeom>
          <a:noFill/>
          <a:ln w="0">
            <a:noFill/>
          </a:ln>
        </p:spPr>
        <p:txBody>
          <a:bodyPr>
            <a:noAutofit/>
          </a:bodyPr>
          <a:lstStyle/>
          <a:p>
            <a:pPr>
              <a:buNone/>
              <a:defRPr sz="2550" b="1">
                <a:solidFill>
                  <a:srgbClr val="64D4BF"/>
                </a:solidFill>
                <a:latin typeface="Arial"/>
                <a:ea typeface="Arial"/>
                <a:cs typeface="Arial"/>
              </a:defRPr>
            </a:pPr>
            <a:r>
              <a:rPr sz="2550" b="1" dirty="0">
                <a:solidFill>
                  <a:srgbClr val="64D4BF"/>
                </a:solidFill>
                <a:latin typeface="Arial"/>
                <a:ea typeface="Arial"/>
                <a:cs typeface="Arial"/>
                <a:hlinkClick r:id="rId3"/>
              </a:rPr>
              <a:t>wolf-day-</a:t>
            </a:r>
            <a:r>
              <a:rPr sz="2550" b="1" dirty="0" err="1">
                <a:solidFill>
                  <a:srgbClr val="64D4BF"/>
                </a:solidFill>
                <a:latin typeface="Arial"/>
                <a:ea typeface="Arial"/>
                <a:cs typeface="Arial"/>
                <a:hlinkClick r:id="rId3"/>
              </a:rPr>
              <a:t>damage.vercel.app</a:t>
            </a:r>
            <a:r>
              <a:rPr sz="2550" b="1" dirty="0">
                <a:solidFill>
                  <a:srgbClr val="64D4BF"/>
                </a:solidFill>
                <a:latin typeface="Arial"/>
                <a:ea typeface="Arial"/>
                <a:cs typeface="Arial"/>
                <a:hlinkClick r:id="rId3"/>
              </a:rPr>
              <a:t>/dashboard</a:t>
            </a:r>
          </a:p>
        </p:txBody>
      </p:sp>
      <p:pic>
        <p:nvPicPr>
          <p:cNvPr id="9" name="Image 8">
            <a:extLst>
              <a:ext uri="{FF2B5EF4-FFF2-40B4-BE49-F238E27FC236}">
                <a16:creationId xmlns:a16="http://schemas.microsoft.com/office/drawing/2014/main" id="{C870A611-56BB-4C85-998A-9CAC46D983A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09359" y="428952"/>
            <a:ext cx="5206652" cy="5206652"/>
          </a:xfrm>
          <a:prstGeom prst="rect">
            <a:avLst/>
          </a:prstGeom>
        </p:spPr>
      </p:pic>
    </p:spTree>
    <p:extLst>
      <p:ext uri="{BB962C8B-B14F-4D97-AF65-F5344CB8AC3E}">
        <p14:creationId xmlns:p14="http://schemas.microsoft.com/office/powerpoint/2010/main" val="1414999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7BDACD64-46C6-49A3-A770-9769CE4D17FE}"/>
              </a:ext>
            </a:extLst>
          </p:cNvPr>
          <p:cNvSpPr>
            <a:spLocks noGrp="1"/>
          </p:cNvSpPr>
          <p:nvPr/>
        </p:nvSpPr>
        <p:spPr>
          <a:xfrm>
            <a:off x="609600" y="409575"/>
            <a:ext cx="10953750" cy="714375"/>
          </a:xfrm>
          <a:prstGeom prst="rect">
            <a:avLst/>
          </a:prstGeom>
          <a:noFill/>
          <a:ln w="0">
            <a:noFill/>
          </a:ln>
        </p:spPr>
        <p:txBody>
          <a:bodyPr>
            <a:noAutofit/>
          </a:bodyPr>
          <a:lstStyle/>
          <a:p>
            <a:pPr>
              <a:buNone/>
              <a:defRPr sz="3225" b="1">
                <a:solidFill>
                  <a:srgbClr val="102C36"/>
                </a:solidFill>
                <a:latin typeface="Arial"/>
                <a:ea typeface="Arial"/>
                <a:cs typeface="Arial"/>
              </a:defRPr>
            </a:pPr>
            <a:r>
              <a:rPr sz="3225" b="1">
                <a:solidFill>
                  <a:srgbClr val="102C36"/>
                </a:solidFill>
                <a:latin typeface="Arial"/>
                <a:ea typeface="Arial"/>
                <a:cs typeface="Arial"/>
              </a:rPr>
              <a:t>The problem and one shared pipeline</a:t>
            </a:r>
          </a:p>
        </p:txBody>
      </p:sp>
      <p:sp>
        <p:nvSpPr>
          <p:cNvPr id="2" name="Rectangle 1">
            <a:extLst>
              <a:ext uri="{FF2B5EF4-FFF2-40B4-BE49-F238E27FC236}">
                <a16:creationId xmlns:a16="http://schemas.microsoft.com/office/drawing/2014/main" id="{3EA85EF9-7674-495A-ACED-C3C810E7EB39}"/>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01</a:t>
            </a:r>
          </a:p>
        </p:txBody>
      </p:sp>
      <p:sp>
        <p:nvSpPr>
          <p:cNvPr id="3" name="Rectangle 2">
            <a:extLst>
              <a:ext uri="{FF2B5EF4-FFF2-40B4-BE49-F238E27FC236}">
                <a16:creationId xmlns:a16="http://schemas.microsoft.com/office/drawing/2014/main" id="{AFE3D03B-DF02-4B5C-A3F5-4CC846EE9AD8}"/>
              </a:ext>
            </a:extLst>
          </p:cNvPr>
          <p:cNvSpPr>
            <a:spLocks noGrp="1"/>
          </p:cNvSpPr>
          <p:nvPr/>
        </p:nvSpPr>
        <p:spPr>
          <a:xfrm>
            <a:off x="609600" y="152400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01</a:t>
            </a:r>
          </a:p>
        </p:txBody>
      </p:sp>
      <p:sp>
        <p:nvSpPr>
          <p:cNvPr id="4" name="Rectangle 3">
            <a:extLst>
              <a:ext uri="{FF2B5EF4-FFF2-40B4-BE49-F238E27FC236}">
                <a16:creationId xmlns:a16="http://schemas.microsoft.com/office/drawing/2014/main" id="{8014000B-D2D6-4796-A1E6-1E618D136650}"/>
              </a:ext>
            </a:extLst>
          </p:cNvPr>
          <p:cNvSpPr>
            <a:spLocks noGrp="1"/>
          </p:cNvSpPr>
          <p:nvPr/>
        </p:nvSpPr>
        <p:spPr>
          <a:xfrm>
            <a:off x="1466850" y="152400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German workshop notes</a:t>
            </a:r>
          </a:p>
        </p:txBody>
      </p:sp>
      <p:sp>
        <p:nvSpPr>
          <p:cNvPr id="5" name="Rectangle 4">
            <a:extLst>
              <a:ext uri="{FF2B5EF4-FFF2-40B4-BE49-F238E27FC236}">
                <a16:creationId xmlns:a16="http://schemas.microsoft.com/office/drawing/2014/main" id="{F586B2EF-AE83-4759-A5FD-D7F0B078C278}"/>
              </a:ext>
            </a:extLst>
          </p:cNvPr>
          <p:cNvSpPr>
            <a:spLocks noGrp="1"/>
          </p:cNvSpPr>
          <p:nvPr/>
        </p:nvSpPr>
        <p:spPr>
          <a:xfrm>
            <a:off x="1466850" y="198120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1,000 synthetic cases: 550 service / 450 damage. Reliable extraction is the challenge.</a:t>
            </a:r>
          </a:p>
        </p:txBody>
      </p:sp>
      <p:sp>
        <p:nvSpPr>
          <p:cNvPr id="6" name="Rectangle 5">
            <a:extLst>
              <a:ext uri="{FF2B5EF4-FFF2-40B4-BE49-F238E27FC236}">
                <a16:creationId xmlns:a16="http://schemas.microsoft.com/office/drawing/2014/main" id="{9D4244CA-27DC-40D6-8AFA-08C4F3B00560}"/>
              </a:ext>
            </a:extLst>
          </p:cNvPr>
          <p:cNvSpPr>
            <a:spLocks noGrp="1"/>
          </p:cNvSpPr>
          <p:nvPr/>
        </p:nvSpPr>
        <p:spPr>
          <a:xfrm>
            <a:off x="609600" y="257175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02</a:t>
            </a:r>
          </a:p>
        </p:txBody>
      </p:sp>
      <p:sp>
        <p:nvSpPr>
          <p:cNvPr id="7" name="Rectangle 6">
            <a:extLst>
              <a:ext uri="{FF2B5EF4-FFF2-40B4-BE49-F238E27FC236}">
                <a16:creationId xmlns:a16="http://schemas.microsoft.com/office/drawing/2014/main" id="{FD7984A3-654D-4EEF-B0A6-A9F86F939C77}"/>
              </a:ext>
            </a:extLst>
          </p:cNvPr>
          <p:cNvSpPr>
            <a:spLocks noGrp="1"/>
          </p:cNvSpPr>
          <p:nvPr/>
        </p:nvSpPr>
        <p:spPr>
          <a:xfrm>
            <a:off x="1466850" y="257175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DeepSeek fills a strict form</a:t>
            </a:r>
          </a:p>
        </p:txBody>
      </p:sp>
      <p:sp>
        <p:nvSpPr>
          <p:cNvPr id="8" name="Rectangle 7">
            <a:extLst>
              <a:ext uri="{FF2B5EF4-FFF2-40B4-BE49-F238E27FC236}">
                <a16:creationId xmlns:a16="http://schemas.microsoft.com/office/drawing/2014/main" id="{BA85B0F8-E75F-48ED-867C-D45A8B045F24}"/>
              </a:ext>
            </a:extLst>
          </p:cNvPr>
          <p:cNvSpPr>
            <a:spLocks noGrp="1"/>
          </p:cNvSpPr>
          <p:nvPr/>
        </p:nvSpPr>
        <p:spPr>
          <a:xfrm>
            <a:off x="1466850" y="302895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Pydantic validation · closed vocabulary · part + side. German stays German.</a:t>
            </a:r>
          </a:p>
        </p:txBody>
      </p:sp>
      <p:sp>
        <p:nvSpPr>
          <p:cNvPr id="9" name="Rectangle 8">
            <a:extLst>
              <a:ext uri="{FF2B5EF4-FFF2-40B4-BE49-F238E27FC236}">
                <a16:creationId xmlns:a16="http://schemas.microsoft.com/office/drawing/2014/main" id="{5F9CFACF-D445-4E2E-B7B1-B02A24E597D2}"/>
              </a:ext>
            </a:extLst>
          </p:cNvPr>
          <p:cNvSpPr>
            <a:spLocks noGrp="1"/>
          </p:cNvSpPr>
          <p:nvPr/>
        </p:nvSpPr>
        <p:spPr>
          <a:xfrm>
            <a:off x="609600" y="361950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03</a:t>
            </a:r>
          </a:p>
        </p:txBody>
      </p:sp>
      <p:sp>
        <p:nvSpPr>
          <p:cNvPr id="10" name="Rectangle 9">
            <a:extLst>
              <a:ext uri="{FF2B5EF4-FFF2-40B4-BE49-F238E27FC236}">
                <a16:creationId xmlns:a16="http://schemas.microsoft.com/office/drawing/2014/main" id="{E97C1399-AA0E-44C0-85F5-49CD917E0E6F}"/>
              </a:ext>
            </a:extLst>
          </p:cNvPr>
          <p:cNvSpPr>
            <a:spLocks noGrp="1"/>
          </p:cNvSpPr>
          <p:nvPr/>
        </p:nvSpPr>
        <p:spPr>
          <a:xfrm>
            <a:off x="1466850" y="361950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Deterministic repair rules</a:t>
            </a:r>
          </a:p>
        </p:txBody>
      </p:sp>
      <p:sp>
        <p:nvSpPr>
          <p:cNvPr id="11" name="Rectangle 10">
            <a:extLst>
              <a:ext uri="{FF2B5EF4-FFF2-40B4-BE49-F238E27FC236}">
                <a16:creationId xmlns:a16="http://schemas.microsoft.com/office/drawing/2014/main" id="{3ACE9503-9C91-4AE4-8F2E-EA959FB41D72}"/>
              </a:ext>
            </a:extLst>
          </p:cNvPr>
          <p:cNvSpPr>
            <a:spLocks noGrp="1"/>
          </p:cNvSpPr>
          <p:nvPr/>
        </p:nvSpPr>
        <p:spPr>
          <a:xfrm>
            <a:off x="1466850" y="407670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The LLM only reads; code decides the repair and remove-and-install operations.</a:t>
            </a:r>
          </a:p>
        </p:txBody>
      </p:sp>
      <p:sp>
        <p:nvSpPr>
          <p:cNvPr id="12" name="Rectangle 11">
            <a:extLst>
              <a:ext uri="{FF2B5EF4-FFF2-40B4-BE49-F238E27FC236}">
                <a16:creationId xmlns:a16="http://schemas.microsoft.com/office/drawing/2014/main" id="{14A9B9E9-62E4-4237-AC2C-EB440953CEEC}"/>
              </a:ext>
            </a:extLst>
          </p:cNvPr>
          <p:cNvSpPr>
            <a:spLocks noGrp="1"/>
          </p:cNvSpPr>
          <p:nvPr/>
        </p:nvSpPr>
        <p:spPr>
          <a:xfrm>
            <a:off x="609600" y="466725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04</a:t>
            </a:r>
          </a:p>
        </p:txBody>
      </p:sp>
      <p:sp>
        <p:nvSpPr>
          <p:cNvPr id="13" name="Rectangle 12">
            <a:extLst>
              <a:ext uri="{FF2B5EF4-FFF2-40B4-BE49-F238E27FC236}">
                <a16:creationId xmlns:a16="http://schemas.microsoft.com/office/drawing/2014/main" id="{55C9C11F-4FE3-4733-AC8B-E6C178E5A9EE}"/>
              </a:ext>
            </a:extLst>
          </p:cNvPr>
          <p:cNvSpPr>
            <a:spLocks noGrp="1"/>
          </p:cNvSpPr>
          <p:nvPr/>
        </p:nvSpPr>
        <p:spPr>
          <a:xfrm>
            <a:off x="1466850" y="466725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One extraction, two outputs</a:t>
            </a:r>
          </a:p>
        </p:txBody>
      </p:sp>
      <p:sp>
        <p:nvSpPr>
          <p:cNvPr id="14" name="Rectangle 13">
            <a:extLst>
              <a:ext uri="{FF2B5EF4-FFF2-40B4-BE49-F238E27FC236}">
                <a16:creationId xmlns:a16="http://schemas.microsoft.com/office/drawing/2014/main" id="{B0697E6F-1CD9-41D3-AA7C-CD67BA9365FB}"/>
              </a:ext>
            </a:extLst>
          </p:cNvPr>
          <p:cNvSpPr>
            <a:spLocks noGrp="1"/>
          </p:cNvSpPr>
          <p:nvPr/>
        </p:nvSpPr>
        <p:spPr>
          <a:xfrm>
            <a:off x="1466850" y="512445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The same structured result feeds a vehicle sheet and corpus analytics.</a:t>
            </a:r>
          </a:p>
        </p:txBody>
      </p:sp>
      <p:sp>
        <p:nvSpPr>
          <p:cNvPr id="15" name="Rectangle 14">
            <a:extLst>
              <a:ext uri="{FF2B5EF4-FFF2-40B4-BE49-F238E27FC236}">
                <a16:creationId xmlns:a16="http://schemas.microsoft.com/office/drawing/2014/main" id="{D9BE8FF7-76ED-4858-92BF-9A111C2B89FE}"/>
              </a:ext>
            </a:extLst>
          </p:cNvPr>
          <p:cNvSpPr>
            <a:spLocks noGrp="1"/>
          </p:cNvSpPr>
          <p:nvPr/>
        </p:nvSpPr>
        <p:spPr>
          <a:xfrm>
            <a:off x="609600" y="6000750"/>
            <a:ext cx="10668000" cy="342900"/>
          </a:xfrm>
          <a:prstGeom prst="rect">
            <a:avLst/>
          </a:prstGeom>
          <a:noFill/>
          <a:ln w="0">
            <a:noFill/>
          </a:ln>
        </p:spPr>
        <p:txBody>
          <a:bodyPr>
            <a:noAutofit/>
          </a:bodyPr>
          <a:lstStyle/>
          <a:p>
            <a:pPr>
              <a:buNone/>
              <a:defRPr sz="1650" b="0">
                <a:solidFill>
                  <a:srgbClr val="007F75"/>
                </a:solidFill>
                <a:latin typeface="Arial"/>
                <a:ea typeface="Arial"/>
                <a:cs typeface="Arial"/>
              </a:defRPr>
            </a:pPr>
            <a:r>
              <a:rPr sz="1650" b="0">
                <a:solidFill>
                  <a:srgbClr val="007F75"/>
                </a:solidFill>
                <a:latin typeface="Arial"/>
                <a:ea typeface="Arial"/>
                <a:cs typeface="Arial"/>
              </a:rPr>
              <a:t>Damage information is locked inside messy, free-text German notes.</a:t>
            </a:r>
          </a:p>
        </p:txBody>
      </p:sp>
    </p:spTree>
    <p:extLst>
      <p:ext uri="{BB962C8B-B14F-4D97-AF65-F5344CB8AC3E}">
        <p14:creationId xmlns:p14="http://schemas.microsoft.com/office/powerpoint/2010/main" val="20879049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343C8F-C72F-4E26-98A3-29E9CF0EEE4A}"/>
              </a:ext>
            </a:extLst>
          </p:cNvPr>
          <p:cNvSpPr>
            <a:spLocks noGrp="1"/>
          </p:cNvSpPr>
          <p:nvPr/>
        </p:nvSpPr>
        <p:spPr>
          <a:xfrm>
            <a:off x="609600" y="409575"/>
            <a:ext cx="10953750" cy="714375"/>
          </a:xfrm>
          <a:prstGeom prst="rect">
            <a:avLst/>
          </a:prstGeom>
          <a:noFill/>
          <a:ln w="0">
            <a:noFill/>
          </a:ln>
        </p:spPr>
        <p:txBody>
          <a:bodyPr>
            <a:noAutofit/>
          </a:bodyPr>
          <a:lstStyle/>
          <a:p>
            <a:pPr>
              <a:buNone/>
              <a:defRPr sz="3225" b="1">
                <a:solidFill>
                  <a:srgbClr val="102C36"/>
                </a:solidFill>
                <a:latin typeface="Arial"/>
                <a:ea typeface="Arial"/>
                <a:cs typeface="Arial"/>
              </a:defRPr>
            </a:pPr>
            <a:r>
              <a:rPr sz="3225" b="1">
                <a:solidFill>
                  <a:srgbClr val="102C36"/>
                </a:solidFill>
                <a:latin typeface="Arial"/>
                <a:ea typeface="Arial"/>
                <a:cs typeface="Arial"/>
              </a:rPr>
              <a:t>One case, its proof and its operations</a:t>
            </a:r>
          </a:p>
        </p:txBody>
      </p:sp>
      <p:sp>
        <p:nvSpPr>
          <p:cNvPr id="2" name="Rectangle 1">
            <a:extLst>
              <a:ext uri="{FF2B5EF4-FFF2-40B4-BE49-F238E27FC236}">
                <a16:creationId xmlns:a16="http://schemas.microsoft.com/office/drawing/2014/main" id="{9C7512A1-E156-4F74-A433-F181D6C45214}"/>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02</a:t>
            </a:r>
          </a:p>
        </p:txBody>
      </p:sp>
      <p:pic>
        <p:nvPicPr>
          <p:cNvPr id="15" name="Image 14"/>
          <p:cNvPicPr>
            <a:picLocks noChangeAspect="1"/>
          </p:cNvPicPr>
          <p:nvPr/>
        </p:nvPicPr>
        <p:blipFill>
          <a:blip r:embed="rId3"/>
          <a:stretch/>
        </p:blipFill>
        <p:spPr>
          <a:xfrm>
            <a:off x="803659" y="1495425"/>
            <a:ext cx="3279006" cy="4267200"/>
          </a:xfrm>
          <a:prstGeom prst="rect">
            <a:avLst/>
          </a:prstGeom>
        </p:spPr>
      </p:pic>
      <p:sp>
        <p:nvSpPr>
          <p:cNvPr id="4" name="Rectangle 3">
            <a:extLst>
              <a:ext uri="{FF2B5EF4-FFF2-40B4-BE49-F238E27FC236}">
                <a16:creationId xmlns:a16="http://schemas.microsoft.com/office/drawing/2014/main" id="{7F8B9516-A0A7-48AF-AA02-72325DBFF296}"/>
              </a:ext>
            </a:extLst>
          </p:cNvPr>
          <p:cNvSpPr>
            <a:spLocks noGrp="1"/>
          </p:cNvSpPr>
          <p:nvPr/>
        </p:nvSpPr>
        <p:spPr>
          <a:xfrm>
            <a:off x="4752975" y="1438275"/>
            <a:ext cx="6762750" cy="381000"/>
          </a:xfrm>
          <a:prstGeom prst="rect">
            <a:avLst/>
          </a:prstGeom>
          <a:noFill/>
          <a:ln w="0">
            <a:noFill/>
          </a:ln>
        </p:spPr>
        <p:txBody>
          <a:bodyPr>
            <a:noAutofit/>
          </a:bodyPr>
          <a:lstStyle/>
          <a:p>
            <a:pPr>
              <a:buNone/>
              <a:defRPr sz="1800" b="0">
                <a:solidFill>
                  <a:srgbClr val="547078"/>
                </a:solidFill>
                <a:latin typeface="Arial"/>
                <a:ea typeface="Arial"/>
                <a:cs typeface="Arial"/>
              </a:defRPr>
            </a:pPr>
            <a:r>
              <a:rPr sz="1800" b="0">
                <a:solidFill>
                  <a:srgbClr val="547078"/>
                </a:solidFill>
                <a:latin typeface="Arial"/>
                <a:ea typeface="Arial"/>
                <a:cs typeface="Arial"/>
              </a:rPr>
              <a:t>Case 820002 · Original German evidence</a:t>
            </a:r>
          </a:p>
        </p:txBody>
      </p:sp>
      <p:sp>
        <p:nvSpPr>
          <p:cNvPr id="5" name="Rectangle 4">
            <a:extLst>
              <a:ext uri="{FF2B5EF4-FFF2-40B4-BE49-F238E27FC236}">
                <a16:creationId xmlns:a16="http://schemas.microsoft.com/office/drawing/2014/main" id="{A8E82463-8164-459A-A467-8190536EA681}"/>
              </a:ext>
            </a:extLst>
          </p:cNvPr>
          <p:cNvSpPr>
            <a:spLocks noGrp="1"/>
          </p:cNvSpPr>
          <p:nvPr/>
        </p:nvSpPr>
        <p:spPr>
          <a:xfrm>
            <a:off x="4752975" y="1952625"/>
            <a:ext cx="6619875" cy="1409700"/>
          </a:xfrm>
          <a:prstGeom prst="rect">
            <a:avLst/>
          </a:prstGeom>
          <a:noFill/>
          <a:ln w="0">
            <a:noFill/>
          </a:ln>
        </p:spPr>
        <p:txBody>
          <a:bodyPr>
            <a:noAutofit/>
          </a:bodyPr>
          <a:lstStyle/>
          <a:p>
            <a:pPr>
              <a:buNone/>
              <a:defRPr sz="2325" b="1">
                <a:solidFill>
                  <a:srgbClr val="102C36"/>
                </a:solidFill>
                <a:latin typeface="Arial"/>
                <a:ea typeface="Arial"/>
                <a:cs typeface="Arial"/>
              </a:defRPr>
            </a:pPr>
            <a:r>
              <a:rPr sz="2325" b="1">
                <a:solidFill>
                  <a:srgbClr val="102C36"/>
                </a:solidFill>
                <a:latin typeface="Arial"/>
                <a:ea typeface="Arial"/>
                <a:cs typeface="Arial"/>
              </a:rPr>
              <a:t>“Steinschlag Windschutzscheibe im Sichtfeld Fahrer, Reparatur nicht möglich, Austausch nötig.”</a:t>
            </a:r>
          </a:p>
        </p:txBody>
      </p:sp>
      <p:sp>
        <p:nvSpPr>
          <p:cNvPr id="6" name="Rectangle 5">
            <a:extLst>
              <a:ext uri="{FF2B5EF4-FFF2-40B4-BE49-F238E27FC236}">
                <a16:creationId xmlns:a16="http://schemas.microsoft.com/office/drawing/2014/main" id="{2D7890BD-BBDB-44A7-9228-E205246E8691}"/>
              </a:ext>
            </a:extLst>
          </p:cNvPr>
          <p:cNvSpPr>
            <a:spLocks noGrp="1"/>
          </p:cNvSpPr>
          <p:nvPr/>
        </p:nvSpPr>
        <p:spPr>
          <a:xfrm>
            <a:off x="4752975" y="3714750"/>
            <a:ext cx="6667500" cy="438150"/>
          </a:xfrm>
          <a:prstGeom prst="rect">
            <a:avLst/>
          </a:prstGeom>
          <a:noFill/>
          <a:ln w="0">
            <a:noFill/>
          </a:ln>
        </p:spPr>
        <p:txBody>
          <a:bodyPr>
            <a:noAutofit/>
          </a:bodyPr>
          <a:lstStyle/>
          <a:p>
            <a:pPr>
              <a:buNone/>
              <a:defRPr sz="2250" b="1">
                <a:solidFill>
                  <a:srgbClr val="D7562C"/>
                </a:solidFill>
                <a:latin typeface="Arial"/>
                <a:ea typeface="Arial"/>
                <a:cs typeface="Arial"/>
              </a:defRPr>
            </a:pPr>
            <a:r>
              <a:rPr sz="2250" b="1">
                <a:solidFill>
                  <a:srgbClr val="D7562C"/>
                </a:solidFill>
                <a:latin typeface="Arial"/>
                <a:ea typeface="Arial"/>
                <a:cs typeface="Arial"/>
              </a:rPr>
              <a:t>Windscreen → Replace</a:t>
            </a:r>
          </a:p>
        </p:txBody>
      </p:sp>
      <p:sp>
        <p:nvSpPr>
          <p:cNvPr id="7" name="Rectangle 6">
            <a:extLst>
              <a:ext uri="{FF2B5EF4-FFF2-40B4-BE49-F238E27FC236}">
                <a16:creationId xmlns:a16="http://schemas.microsoft.com/office/drawing/2014/main" id="{7E7D4C20-20CD-4F28-8EE6-FE33C8EEEBD3}"/>
              </a:ext>
            </a:extLst>
          </p:cNvPr>
          <p:cNvSpPr>
            <a:spLocks noGrp="1"/>
          </p:cNvSpPr>
          <p:nvPr/>
        </p:nvSpPr>
        <p:spPr>
          <a:xfrm>
            <a:off x="4752975" y="4181475"/>
            <a:ext cx="6667500" cy="400050"/>
          </a:xfrm>
          <a:prstGeom prst="rect">
            <a:avLst/>
          </a:prstGeom>
          <a:noFill/>
          <a:ln w="0">
            <a:noFill/>
          </a:ln>
        </p:spPr>
        <p:txBody>
          <a:bodyPr>
            <a:noAutofit/>
          </a:bodyPr>
          <a:lstStyle/>
          <a:p>
            <a:pPr>
              <a:buNone/>
              <a:defRPr sz="1725" b="0">
                <a:solidFill>
                  <a:srgbClr val="547078"/>
                </a:solidFill>
                <a:latin typeface="Arial"/>
                <a:ea typeface="Arial"/>
                <a:cs typeface="Arial"/>
              </a:defRPr>
            </a:pPr>
            <a:r>
              <a:rPr sz="1725" b="0">
                <a:solidFill>
                  <a:srgbClr val="547078"/>
                </a:solidFill>
                <a:latin typeface="Arial"/>
                <a:ea typeface="Arial"/>
                <a:cs typeface="Arial"/>
              </a:rPr>
              <a:t>Stated explicitly in the note</a:t>
            </a:r>
          </a:p>
        </p:txBody>
      </p:sp>
      <p:sp>
        <p:nvSpPr>
          <p:cNvPr id="8" name="Rectangle 7">
            <a:extLst>
              <a:ext uri="{FF2B5EF4-FFF2-40B4-BE49-F238E27FC236}">
                <a16:creationId xmlns:a16="http://schemas.microsoft.com/office/drawing/2014/main" id="{EA8B30F0-31F1-46E0-AE5C-E3104BBCFA2D}"/>
              </a:ext>
            </a:extLst>
          </p:cNvPr>
          <p:cNvSpPr>
            <a:spLocks noGrp="1"/>
          </p:cNvSpPr>
          <p:nvPr/>
        </p:nvSpPr>
        <p:spPr>
          <a:xfrm>
            <a:off x="4752975" y="4810125"/>
            <a:ext cx="6667500" cy="438150"/>
          </a:xfrm>
          <a:prstGeom prst="rect">
            <a:avLst/>
          </a:prstGeom>
          <a:noFill/>
          <a:ln w="0">
            <a:noFill/>
          </a:ln>
        </p:spPr>
        <p:txBody>
          <a:bodyPr>
            <a:noAutofit/>
          </a:bodyPr>
          <a:lstStyle/>
          <a:p>
            <a:pPr>
              <a:buNone/>
              <a:defRPr sz="2250" b="1">
                <a:solidFill>
                  <a:srgbClr val="007F75"/>
                </a:solidFill>
                <a:latin typeface="Arial"/>
                <a:ea typeface="Arial"/>
                <a:cs typeface="Arial"/>
              </a:defRPr>
            </a:pPr>
            <a:r>
              <a:rPr sz="2250" b="1">
                <a:solidFill>
                  <a:srgbClr val="007F75"/>
                </a:solidFill>
                <a:latin typeface="Arial"/>
                <a:ea typeface="Arial"/>
                <a:cs typeface="Arial"/>
              </a:rPr>
              <a:t>Trim / plate → Remove and install</a:t>
            </a:r>
          </a:p>
        </p:txBody>
      </p:sp>
      <p:sp>
        <p:nvSpPr>
          <p:cNvPr id="9" name="Rectangle 8">
            <a:extLst>
              <a:ext uri="{FF2B5EF4-FFF2-40B4-BE49-F238E27FC236}">
                <a16:creationId xmlns:a16="http://schemas.microsoft.com/office/drawing/2014/main" id="{D4D9FFF9-F3B1-4C6B-B46F-9707F7DA2075}"/>
              </a:ext>
            </a:extLst>
          </p:cNvPr>
          <p:cNvSpPr>
            <a:spLocks noGrp="1"/>
          </p:cNvSpPr>
          <p:nvPr/>
        </p:nvSpPr>
        <p:spPr>
          <a:xfrm>
            <a:off x="4752975" y="5276850"/>
            <a:ext cx="6667500" cy="400050"/>
          </a:xfrm>
          <a:prstGeom prst="rect">
            <a:avLst/>
          </a:prstGeom>
          <a:noFill/>
          <a:ln w="0">
            <a:noFill/>
          </a:ln>
        </p:spPr>
        <p:txBody>
          <a:bodyPr>
            <a:noAutofit/>
          </a:bodyPr>
          <a:lstStyle/>
          <a:p>
            <a:pPr>
              <a:buNone/>
              <a:defRPr sz="1725" b="0">
                <a:solidFill>
                  <a:srgbClr val="547078"/>
                </a:solidFill>
                <a:latin typeface="Arial"/>
                <a:ea typeface="Arial"/>
                <a:cs typeface="Arial"/>
              </a:defRPr>
            </a:pPr>
            <a:r>
              <a:rPr sz="1725" b="0">
                <a:solidFill>
                  <a:srgbClr val="547078"/>
                </a:solidFill>
                <a:latin typeface="Arial"/>
                <a:ea typeface="Arial"/>
                <a:cs typeface="Arial"/>
              </a:rPr>
              <a:t>Deterministic adjacency rule</a:t>
            </a:r>
          </a:p>
        </p:txBody>
      </p:sp>
      <p:sp>
        <p:nvSpPr>
          <p:cNvPr id="10" name="Rectangle 9">
            <a:extLst>
              <a:ext uri="{FF2B5EF4-FFF2-40B4-BE49-F238E27FC236}">
                <a16:creationId xmlns:a16="http://schemas.microsoft.com/office/drawing/2014/main" id="{FF9E7BB0-FA91-4AED-9E53-92FB47A31E2D}"/>
              </a:ext>
            </a:extLst>
          </p:cNvPr>
          <p:cNvSpPr>
            <a:spLocks noGrp="1"/>
          </p:cNvSpPr>
          <p:nvPr/>
        </p:nvSpPr>
        <p:spPr>
          <a:xfrm>
            <a:off x="609600" y="6000750"/>
            <a:ext cx="10763250" cy="333375"/>
          </a:xfrm>
          <a:prstGeom prst="rect">
            <a:avLst/>
          </a:prstGeom>
          <a:noFill/>
          <a:ln w="0">
            <a:noFill/>
          </a:ln>
        </p:spPr>
        <p:txBody>
          <a:bodyPr>
            <a:noAutofit/>
          </a:bodyPr>
          <a:lstStyle/>
          <a:p>
            <a:pPr>
              <a:buNone/>
              <a:defRPr sz="1575" b="0">
                <a:solidFill>
                  <a:srgbClr val="547078"/>
                </a:solidFill>
                <a:latin typeface="Arial"/>
                <a:ea typeface="Arial"/>
                <a:cs typeface="Arial"/>
              </a:defRPr>
            </a:pPr>
            <a:r>
              <a:rPr sz="1575" b="0">
                <a:solidFill>
                  <a:srgbClr val="547078"/>
                </a:solidFill>
                <a:latin typeface="Arial"/>
                <a:ea typeface="Arial"/>
                <a:cs typeface="Arial"/>
              </a:rPr>
              <a:t>Every coloured region traces to the German quote; R&amp;I is derived through the rule.</a:t>
            </a:r>
          </a:p>
        </p:txBody>
      </p:sp>
    </p:spTree>
    <p:extLst>
      <p:ext uri="{BB962C8B-B14F-4D97-AF65-F5344CB8AC3E}">
        <p14:creationId xmlns:p14="http://schemas.microsoft.com/office/powerpoint/2010/main" val="8547254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919FD4F-95A4-4AD7-A89D-74BA38963ADC}"/>
              </a:ext>
            </a:extLst>
          </p:cNvPr>
          <p:cNvSpPr>
            <a:spLocks noGrp="1"/>
          </p:cNvSpPr>
          <p:nvPr/>
        </p:nvSpPr>
        <p:spPr>
          <a:xfrm>
            <a:off x="609600" y="409575"/>
            <a:ext cx="10953750" cy="714375"/>
          </a:xfrm>
          <a:prstGeom prst="rect">
            <a:avLst/>
          </a:prstGeom>
          <a:noFill/>
          <a:ln w="0">
            <a:noFill/>
          </a:ln>
        </p:spPr>
        <p:txBody>
          <a:bodyPr>
            <a:noAutofit/>
          </a:bodyPr>
          <a:lstStyle/>
          <a:p>
            <a:pPr>
              <a:buNone/>
              <a:defRPr sz="3225" b="1">
                <a:solidFill>
                  <a:srgbClr val="102C36"/>
                </a:solidFill>
                <a:latin typeface="Arial"/>
                <a:ea typeface="Arial"/>
                <a:cs typeface="Arial"/>
              </a:defRPr>
            </a:pPr>
            <a:r>
              <a:rPr sz="3225" b="1">
                <a:solidFill>
                  <a:srgbClr val="102C36"/>
                </a:solidFill>
                <a:latin typeface="Arial"/>
                <a:ea typeface="Arial"/>
                <a:cs typeface="Arial"/>
              </a:rPr>
              <a:t>Extraction reliability: measured, not claimed</a:t>
            </a:r>
          </a:p>
        </p:txBody>
      </p:sp>
      <p:sp>
        <p:nvSpPr>
          <p:cNvPr id="2" name="Rectangle 1">
            <a:extLst>
              <a:ext uri="{FF2B5EF4-FFF2-40B4-BE49-F238E27FC236}">
                <a16:creationId xmlns:a16="http://schemas.microsoft.com/office/drawing/2014/main" id="{EC40EA9D-5225-4F64-AE0C-40AE6DDC0D63}"/>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03</a:t>
            </a:r>
          </a:p>
        </p:txBody>
      </p:sp>
      <p:sp>
        <p:nvSpPr>
          <p:cNvPr id="3" name="Rectangle 2">
            <a:extLst>
              <a:ext uri="{FF2B5EF4-FFF2-40B4-BE49-F238E27FC236}">
                <a16:creationId xmlns:a16="http://schemas.microsoft.com/office/drawing/2014/main" id="{61FB158A-2BF9-4B8F-8C37-9F5CF4DD267B}"/>
              </a:ext>
            </a:extLst>
          </p:cNvPr>
          <p:cNvSpPr>
            <a:spLocks noGrp="1"/>
          </p:cNvSpPr>
          <p:nvPr/>
        </p:nvSpPr>
        <p:spPr>
          <a:xfrm>
            <a:off x="609600" y="1428750"/>
            <a:ext cx="4953000" cy="428625"/>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DeepSeek extraction</a:t>
            </a:r>
          </a:p>
        </p:txBody>
      </p:sp>
      <p:sp>
        <p:nvSpPr>
          <p:cNvPr id="4" name="Rectangle 3">
            <a:extLst>
              <a:ext uri="{FF2B5EF4-FFF2-40B4-BE49-F238E27FC236}">
                <a16:creationId xmlns:a16="http://schemas.microsoft.com/office/drawing/2014/main" id="{ED27CB0E-249E-4788-8C0C-14911A92CB50}"/>
              </a:ext>
            </a:extLst>
          </p:cNvPr>
          <p:cNvSpPr>
            <a:spLocks noGrp="1"/>
          </p:cNvSpPr>
          <p:nvPr/>
        </p:nvSpPr>
        <p:spPr>
          <a:xfrm>
            <a:off x="609600" y="1924050"/>
            <a:ext cx="4953000" cy="333375"/>
          </a:xfrm>
          <a:prstGeom prst="rect">
            <a:avLst/>
          </a:prstGeom>
          <a:noFill/>
          <a:ln w="0">
            <a:noFill/>
          </a:ln>
        </p:spPr>
        <p:txBody>
          <a:bodyPr>
            <a:noAutofit/>
          </a:bodyPr>
          <a:lstStyle/>
          <a:p>
            <a:pPr>
              <a:buNone/>
              <a:defRPr sz="1725" b="0">
                <a:solidFill>
                  <a:srgbClr val="547078"/>
                </a:solidFill>
                <a:latin typeface="Arial"/>
                <a:ea typeface="Arial"/>
                <a:cs typeface="Arial"/>
              </a:defRPr>
            </a:pPr>
            <a:r>
              <a:rPr sz="1725" b="0">
                <a:solidFill>
                  <a:srgbClr val="547078"/>
                </a:solidFill>
                <a:latin typeface="Arial"/>
                <a:ea typeface="Arial"/>
                <a:cs typeface="Arial"/>
              </a:rPr>
              <a:t>977 held-out cases</a:t>
            </a:r>
          </a:p>
        </p:txBody>
      </p:sp>
      <p:sp>
        <p:nvSpPr>
          <p:cNvPr id="5" name="Rectangle 4">
            <a:extLst>
              <a:ext uri="{FF2B5EF4-FFF2-40B4-BE49-F238E27FC236}">
                <a16:creationId xmlns:a16="http://schemas.microsoft.com/office/drawing/2014/main" id="{45C1711F-AF88-48F5-A53C-43345F02B493}"/>
              </a:ext>
            </a:extLst>
          </p:cNvPr>
          <p:cNvSpPr>
            <a:spLocks noGrp="1"/>
          </p:cNvSpPr>
          <p:nvPr/>
        </p:nvSpPr>
        <p:spPr>
          <a:xfrm>
            <a:off x="609600" y="2619375"/>
            <a:ext cx="2381250" cy="714375"/>
          </a:xfrm>
          <a:prstGeom prst="rect">
            <a:avLst/>
          </a:prstGeom>
          <a:noFill/>
          <a:ln w="0">
            <a:noFill/>
          </a:ln>
        </p:spPr>
        <p:txBody>
          <a:bodyPr>
            <a:noAutofit/>
          </a:bodyPr>
          <a:lstStyle/>
          <a:p>
            <a:pPr>
              <a:buNone/>
              <a:defRPr sz="4275" b="1">
                <a:solidFill>
                  <a:srgbClr val="007F75"/>
                </a:solidFill>
                <a:latin typeface="Arial"/>
                <a:ea typeface="Arial"/>
                <a:cs typeface="Arial"/>
              </a:defRPr>
            </a:pPr>
            <a:r>
              <a:rPr sz="4275" b="1">
                <a:solidFill>
                  <a:srgbClr val="007F75"/>
                </a:solidFill>
                <a:latin typeface="Arial"/>
                <a:ea typeface="Arial"/>
                <a:cs typeface="Arial"/>
              </a:rPr>
              <a:t>99.9%</a:t>
            </a:r>
          </a:p>
        </p:txBody>
      </p:sp>
      <p:sp>
        <p:nvSpPr>
          <p:cNvPr id="6" name="Rectangle 5">
            <a:extLst>
              <a:ext uri="{FF2B5EF4-FFF2-40B4-BE49-F238E27FC236}">
                <a16:creationId xmlns:a16="http://schemas.microsoft.com/office/drawing/2014/main" id="{E8E3E4AB-9A30-41F9-9AF3-BAE400140A35}"/>
              </a:ext>
            </a:extLst>
          </p:cNvPr>
          <p:cNvSpPr>
            <a:spLocks noGrp="1"/>
          </p:cNvSpPr>
          <p:nvPr/>
        </p:nvSpPr>
        <p:spPr>
          <a:xfrm>
            <a:off x="609600" y="3343275"/>
            <a:ext cx="4857750" cy="409575"/>
          </a:xfrm>
          <a:prstGeom prst="rect">
            <a:avLst/>
          </a:prstGeom>
          <a:noFill/>
          <a:ln w="0">
            <a:noFill/>
          </a:ln>
        </p:spPr>
        <p:txBody>
          <a:bodyPr>
            <a:noAutofit/>
          </a:bodyPr>
          <a:lstStyle/>
          <a:p>
            <a:pPr>
              <a:buNone/>
              <a:defRPr sz="1950" b="0">
                <a:solidFill>
                  <a:srgbClr val="102C36"/>
                </a:solidFill>
                <a:latin typeface="Arial"/>
                <a:ea typeface="Arial"/>
                <a:cs typeface="Arial"/>
              </a:defRPr>
            </a:pPr>
            <a:r>
              <a:rPr sz="1950" b="0">
                <a:solidFill>
                  <a:srgbClr val="102C36"/>
                </a:solidFill>
                <a:latin typeface="Arial"/>
                <a:ea typeface="Arial"/>
                <a:cs typeface="Arial"/>
              </a:rPr>
              <a:t>Damage-zone F1</a:t>
            </a:r>
          </a:p>
        </p:txBody>
      </p:sp>
      <p:sp>
        <p:nvSpPr>
          <p:cNvPr id="7" name="Rectangle 6">
            <a:extLst>
              <a:ext uri="{FF2B5EF4-FFF2-40B4-BE49-F238E27FC236}">
                <a16:creationId xmlns:a16="http://schemas.microsoft.com/office/drawing/2014/main" id="{CC76E1AC-89FF-497E-B3D5-6B266C2C3536}"/>
              </a:ext>
            </a:extLst>
          </p:cNvPr>
          <p:cNvSpPr>
            <a:spLocks noGrp="1"/>
          </p:cNvSpPr>
          <p:nvPr/>
        </p:nvSpPr>
        <p:spPr>
          <a:xfrm>
            <a:off x="609600" y="4095750"/>
            <a:ext cx="2381250" cy="695325"/>
          </a:xfrm>
          <a:prstGeom prst="rect">
            <a:avLst/>
          </a:prstGeom>
          <a:noFill/>
          <a:ln w="0">
            <a:noFill/>
          </a:ln>
        </p:spPr>
        <p:txBody>
          <a:bodyPr>
            <a:noAutofit/>
          </a:bodyPr>
          <a:lstStyle/>
          <a:p>
            <a:pPr>
              <a:buNone/>
              <a:defRPr sz="3975" b="1">
                <a:solidFill>
                  <a:srgbClr val="007F75"/>
                </a:solidFill>
                <a:latin typeface="Arial"/>
                <a:ea typeface="Arial"/>
                <a:cs typeface="Arial"/>
              </a:defRPr>
            </a:pPr>
            <a:r>
              <a:rPr sz="3975" b="1">
                <a:solidFill>
                  <a:srgbClr val="007F75"/>
                </a:solidFill>
                <a:latin typeface="Arial"/>
                <a:ea typeface="Arial"/>
                <a:cs typeface="Arial"/>
              </a:rPr>
              <a:t>100%</a:t>
            </a:r>
          </a:p>
        </p:txBody>
      </p:sp>
      <p:sp>
        <p:nvSpPr>
          <p:cNvPr id="8" name="Rectangle 7">
            <a:extLst>
              <a:ext uri="{FF2B5EF4-FFF2-40B4-BE49-F238E27FC236}">
                <a16:creationId xmlns:a16="http://schemas.microsoft.com/office/drawing/2014/main" id="{42DE4D00-D6F0-42B5-A59A-291785F1DBE2}"/>
              </a:ext>
            </a:extLst>
          </p:cNvPr>
          <p:cNvSpPr>
            <a:spLocks noGrp="1"/>
          </p:cNvSpPr>
          <p:nvPr/>
        </p:nvSpPr>
        <p:spPr>
          <a:xfrm>
            <a:off x="609600" y="4838700"/>
            <a:ext cx="4857750" cy="733425"/>
          </a:xfrm>
          <a:prstGeom prst="rect">
            <a:avLst/>
          </a:prstGeom>
          <a:noFill/>
          <a:ln w="0">
            <a:noFill/>
          </a:ln>
        </p:spPr>
        <p:txBody>
          <a:bodyPr>
            <a:noAutofit/>
          </a:bodyPr>
          <a:lstStyle/>
          <a:p>
            <a:pPr>
              <a:buNone/>
              <a:defRPr sz="1950" b="0">
                <a:solidFill>
                  <a:srgbClr val="102C36"/>
                </a:solidFill>
                <a:latin typeface="Arial"/>
                <a:ea typeface="Arial"/>
                <a:cs typeface="Arial"/>
              </a:defRPr>
            </a:pPr>
            <a:r>
              <a:rPr sz="1950" b="0">
                <a:solidFill>
                  <a:srgbClr val="102C36"/>
                </a:solidFill>
                <a:latin typeface="Arial"/>
                <a:ea typeface="Arial"/>
                <a:cs typeface="Arial"/>
              </a:rPr>
              <a:t>Case kind accuracy</a:t>
            </a:r>
          </a:p>
          <a:p>
            <a:pPr>
              <a:buNone/>
              <a:defRPr sz="1950" b="0">
                <a:solidFill>
                  <a:srgbClr val="102C36"/>
                </a:solidFill>
                <a:latin typeface="Arial"/>
                <a:ea typeface="Arial"/>
                <a:cs typeface="Arial"/>
              </a:defRPr>
            </a:pPr>
            <a:r>
              <a:rPr sz="1950" b="0">
                <a:solidFill>
                  <a:srgbClr val="102C36"/>
                </a:solidFill>
                <a:latin typeface="Arial"/>
                <a:ea typeface="Arial"/>
                <a:cs typeface="Arial"/>
              </a:rPr>
              <a:t>and insurance accuracy</a:t>
            </a:r>
          </a:p>
        </p:txBody>
      </p:sp>
      <p:sp>
        <p:nvSpPr>
          <p:cNvPr id="9" name="Rectangle 8">
            <a:extLst>
              <a:ext uri="{FF2B5EF4-FFF2-40B4-BE49-F238E27FC236}">
                <a16:creationId xmlns:a16="http://schemas.microsoft.com/office/drawing/2014/main" id="{C0F99FCF-EDE9-4F21-A1CA-30393B17D845}"/>
              </a:ext>
            </a:extLst>
          </p:cNvPr>
          <p:cNvSpPr>
            <a:spLocks noGrp="1"/>
          </p:cNvSpPr>
          <p:nvPr/>
        </p:nvSpPr>
        <p:spPr>
          <a:xfrm>
            <a:off x="5838825" y="1428750"/>
            <a:ext cx="5810250" cy="428625"/>
          </a:xfrm>
          <a:prstGeom prst="rect">
            <a:avLst/>
          </a:prstGeom>
          <a:noFill/>
          <a:ln w="0">
            <a:noFill/>
          </a:ln>
        </p:spPr>
        <p:txBody>
          <a:bodyPr>
            <a:noAutofit/>
          </a:bodyPr>
          <a:lstStyle/>
          <a:p>
            <a:pPr>
              <a:buNone/>
              <a:defRPr sz="2100" b="1">
                <a:solidFill>
                  <a:srgbClr val="102C36"/>
                </a:solidFill>
                <a:latin typeface="Arial"/>
                <a:ea typeface="Arial"/>
                <a:cs typeface="Arial"/>
              </a:defRPr>
            </a:pPr>
            <a:r>
              <a:rPr sz="2100" b="1">
                <a:solidFill>
                  <a:srgbClr val="102C36"/>
                </a:solidFill>
                <a:latin typeface="Arial"/>
                <a:ea typeface="Arial"/>
                <a:cs typeface="Arial"/>
              </a:rPr>
              <a:t>Evidence and delivery</a:t>
            </a:r>
          </a:p>
        </p:txBody>
      </p:sp>
      <p:sp>
        <p:nvSpPr>
          <p:cNvPr id="10" name="Rectangle 9">
            <a:extLst>
              <a:ext uri="{FF2B5EF4-FFF2-40B4-BE49-F238E27FC236}">
                <a16:creationId xmlns:a16="http://schemas.microsoft.com/office/drawing/2014/main" id="{A3104A55-52D7-4274-8694-F124332AF5F2}"/>
              </a:ext>
            </a:extLst>
          </p:cNvPr>
          <p:cNvSpPr>
            <a:spLocks noGrp="1"/>
          </p:cNvSpPr>
          <p:nvPr/>
        </p:nvSpPr>
        <p:spPr>
          <a:xfrm>
            <a:off x="5838825" y="1924050"/>
            <a:ext cx="5810250" cy="333375"/>
          </a:xfrm>
          <a:prstGeom prst="rect">
            <a:avLst/>
          </a:prstGeom>
          <a:noFill/>
          <a:ln w="0">
            <a:noFill/>
          </a:ln>
        </p:spPr>
        <p:txBody>
          <a:bodyPr>
            <a:noAutofit/>
          </a:bodyPr>
          <a:lstStyle/>
          <a:p>
            <a:pPr>
              <a:buNone/>
              <a:defRPr sz="1725" b="0">
                <a:solidFill>
                  <a:srgbClr val="547078"/>
                </a:solidFill>
                <a:latin typeface="Arial"/>
                <a:ea typeface="Arial"/>
                <a:cs typeface="Arial"/>
              </a:defRPr>
            </a:pPr>
            <a:r>
              <a:rPr sz="1725" b="0">
                <a:solidFill>
                  <a:srgbClr val="547078"/>
                </a:solidFill>
                <a:latin typeface="Arial"/>
                <a:ea typeface="Arial"/>
                <a:cs typeface="Arial"/>
              </a:rPr>
              <a:t>Verbatim quotes; no cases dropped</a:t>
            </a:r>
          </a:p>
        </p:txBody>
      </p:sp>
      <p:graphicFrame>
        <p:nvGraphicFramePr>
          <p:cNvPr id="25" name="Tableau 24"/>
          <p:cNvGraphicFramePr/>
          <p:nvPr/>
        </p:nvGraphicFramePr>
        <p:xfrm>
          <a:off x="5829300" y="2466975"/>
          <a:ext cx="5715000" cy="3000378"/>
        </p:xfrm>
        <a:graphic>
          <a:graphicData uri="http://schemas.openxmlformats.org/drawingml/2006/table">
            <a:tbl>
              <a:tblPr/>
              <a:tblGrid>
                <a:gridCol w="3952875">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tblGrid>
              <a:tr h="500063">
                <a:tc>
                  <a:txBody>
                    <a:bodyPr/>
                    <a:lstStyle/>
                    <a:p>
                      <a:r>
                        <a:rPr sz="1875" b="1">
                          <a:solidFill>
                            <a:srgbClr val="FFFFFF"/>
                          </a:solidFill>
                          <a:latin typeface="Arial"/>
                          <a:ea typeface="Arial"/>
                          <a:cs typeface="Arial"/>
                        </a:rPr>
                        <a:t>Metric</a:t>
                      </a:r>
                    </a:p>
                  </a:txBody>
                  <a:tcPr>
                    <a:solidFill>
                      <a:srgbClr val="102C36"/>
                    </a:solidFill>
                  </a:tcPr>
                </a:tc>
                <a:tc>
                  <a:txBody>
                    <a:bodyPr/>
                    <a:lstStyle/>
                    <a:p>
                      <a:r>
                        <a:rPr sz="1875" b="1">
                          <a:solidFill>
                            <a:srgbClr val="FFFFFF"/>
                          </a:solidFill>
                          <a:latin typeface="Arial"/>
                          <a:ea typeface="Arial"/>
                          <a:cs typeface="Arial"/>
                        </a:rPr>
                        <a:t>Result</a:t>
                      </a:r>
                    </a:p>
                  </a:txBody>
                  <a:tcPr>
                    <a:solidFill>
                      <a:srgbClr val="102C36"/>
                    </a:solidFill>
                  </a:tcPr>
                </a:tc>
                <a:extLst>
                  <a:ext uri="{0D108BD9-81ED-4DB2-BD59-A6C34878D82A}">
                    <a16:rowId xmlns:a16="http://schemas.microsoft.com/office/drawing/2014/main" val="10000"/>
                  </a:ext>
                </a:extLst>
              </a:tr>
              <a:tr h="500063">
                <a:tc>
                  <a:txBody>
                    <a:bodyPr/>
                    <a:lstStyle/>
                    <a:p>
                      <a:r>
                        <a:rPr sz="1875" b="1">
                          <a:solidFill>
                            <a:srgbClr val="102C36"/>
                          </a:solidFill>
                          <a:latin typeface="Arial"/>
                          <a:ea typeface="Arial"/>
                          <a:cs typeface="Arial"/>
                        </a:rPr>
                        <a:t>Verbatim evidence quotes</a:t>
                      </a:r>
                    </a:p>
                  </a:txBody>
                  <a:tcPr>
                    <a:solidFill>
                      <a:srgbClr val="DFEDE7"/>
                    </a:solidFill>
                  </a:tcPr>
                </a:tc>
                <a:tc>
                  <a:txBody>
                    <a:bodyPr/>
                    <a:lstStyle/>
                    <a:p>
                      <a:r>
                        <a:rPr sz="1875" b="1">
                          <a:solidFill>
                            <a:srgbClr val="102C36"/>
                          </a:solidFill>
                          <a:latin typeface="Arial"/>
                          <a:ea typeface="Arial"/>
                          <a:cs typeface="Arial"/>
                        </a:rPr>
                        <a:t>100%</a:t>
                      </a:r>
                    </a:p>
                  </a:txBody>
                  <a:tcPr>
                    <a:solidFill>
                      <a:srgbClr val="DFEDE7"/>
                    </a:solidFill>
                  </a:tcPr>
                </a:tc>
                <a:extLst>
                  <a:ext uri="{0D108BD9-81ED-4DB2-BD59-A6C34878D82A}">
                    <a16:rowId xmlns:a16="http://schemas.microsoft.com/office/drawing/2014/main" val="10001"/>
                  </a:ext>
                </a:extLst>
              </a:tr>
              <a:tr h="500063">
                <a:tc>
                  <a:txBody>
                    <a:bodyPr/>
                    <a:lstStyle/>
                    <a:p>
                      <a:r>
                        <a:rPr sz="1875" b="0">
                          <a:solidFill>
                            <a:srgbClr val="102C36"/>
                          </a:solidFill>
                          <a:latin typeface="Arial"/>
                          <a:ea typeface="Arial"/>
                          <a:cs typeface="Arial"/>
                        </a:rPr>
                        <a:t>Cases lost</a:t>
                      </a:r>
                    </a:p>
                  </a:txBody>
                  <a:tcPr>
                    <a:solidFill>
                      <a:srgbClr val="F5F4EF"/>
                    </a:solidFill>
                  </a:tcPr>
                </a:tc>
                <a:tc>
                  <a:txBody>
                    <a:bodyPr/>
                    <a:lstStyle/>
                    <a:p>
                      <a:r>
                        <a:rPr sz="1875" b="0">
                          <a:solidFill>
                            <a:srgbClr val="102C36"/>
                          </a:solidFill>
                          <a:latin typeface="Arial"/>
                          <a:ea typeface="Arial"/>
                          <a:cs typeface="Arial"/>
                        </a:rPr>
                        <a:t>0</a:t>
                      </a:r>
                    </a:p>
                  </a:txBody>
                  <a:tcPr>
                    <a:solidFill>
                      <a:srgbClr val="F5F4EF"/>
                    </a:solidFill>
                  </a:tcPr>
                </a:tc>
                <a:extLst>
                  <a:ext uri="{0D108BD9-81ED-4DB2-BD59-A6C34878D82A}">
                    <a16:rowId xmlns:a16="http://schemas.microsoft.com/office/drawing/2014/main" val="10002"/>
                  </a:ext>
                </a:extLst>
              </a:tr>
              <a:tr h="500063">
                <a:tc>
                  <a:txBody>
                    <a:bodyPr/>
                    <a:lstStyle/>
                    <a:p>
                      <a:r>
                        <a:rPr sz="1875" b="0">
                          <a:solidFill>
                            <a:srgbClr val="102C36"/>
                          </a:solidFill>
                          <a:latin typeface="Arial"/>
                          <a:ea typeface="Arial"/>
                          <a:cs typeface="Arial"/>
                        </a:rPr>
                        <a:t>Corpus processed</a:t>
                      </a:r>
                    </a:p>
                  </a:txBody>
                  <a:tcPr>
                    <a:solidFill>
                      <a:srgbClr val="F5F4EF"/>
                    </a:solidFill>
                  </a:tcPr>
                </a:tc>
                <a:tc>
                  <a:txBody>
                    <a:bodyPr/>
                    <a:lstStyle/>
                    <a:p>
                      <a:r>
                        <a:rPr sz="1875" b="0">
                          <a:solidFill>
                            <a:srgbClr val="102C36"/>
                          </a:solidFill>
                          <a:latin typeface="Arial"/>
                          <a:ea typeface="Arial"/>
                          <a:cs typeface="Arial"/>
                        </a:rPr>
                        <a:t>1,000</a:t>
                      </a:r>
                    </a:p>
                  </a:txBody>
                  <a:tcPr>
                    <a:solidFill>
                      <a:srgbClr val="F5F4EF"/>
                    </a:solidFill>
                  </a:tcPr>
                </a:tc>
                <a:extLst>
                  <a:ext uri="{0D108BD9-81ED-4DB2-BD59-A6C34878D82A}">
                    <a16:rowId xmlns:a16="http://schemas.microsoft.com/office/drawing/2014/main" val="10003"/>
                  </a:ext>
                </a:extLst>
              </a:tr>
              <a:tr h="500063">
                <a:tc>
                  <a:txBody>
                    <a:bodyPr/>
                    <a:lstStyle/>
                    <a:p>
                      <a:r>
                        <a:rPr sz="1875" b="0">
                          <a:solidFill>
                            <a:srgbClr val="102C36"/>
                          </a:solidFill>
                          <a:latin typeface="Arial"/>
                          <a:ea typeface="Arial"/>
                          <a:cs typeface="Arial"/>
                        </a:rPr>
                        <a:t>Runtime</a:t>
                      </a:r>
                    </a:p>
                  </a:txBody>
                  <a:tcPr>
                    <a:solidFill>
                      <a:srgbClr val="F5F4EF"/>
                    </a:solidFill>
                  </a:tcPr>
                </a:tc>
                <a:tc>
                  <a:txBody>
                    <a:bodyPr/>
                    <a:lstStyle/>
                    <a:p>
                      <a:r>
                        <a:rPr sz="1875" b="0">
                          <a:solidFill>
                            <a:srgbClr val="102C36"/>
                          </a:solidFill>
                          <a:latin typeface="Arial"/>
                          <a:ea typeface="Arial"/>
                          <a:cs typeface="Arial"/>
                        </a:rPr>
                        <a:t>~11 min</a:t>
                      </a:r>
                    </a:p>
                  </a:txBody>
                  <a:tcPr>
                    <a:solidFill>
                      <a:srgbClr val="F5F4EF"/>
                    </a:solidFill>
                  </a:tcPr>
                </a:tc>
                <a:extLst>
                  <a:ext uri="{0D108BD9-81ED-4DB2-BD59-A6C34878D82A}">
                    <a16:rowId xmlns:a16="http://schemas.microsoft.com/office/drawing/2014/main" val="10004"/>
                  </a:ext>
                </a:extLst>
              </a:tr>
              <a:tr h="500063">
                <a:tc>
                  <a:txBody>
                    <a:bodyPr/>
                    <a:lstStyle/>
                    <a:p>
                      <a:r>
                        <a:rPr sz="1875" b="0">
                          <a:solidFill>
                            <a:srgbClr val="102C36"/>
                          </a:solidFill>
                          <a:latin typeface="Arial"/>
                          <a:ea typeface="Arial"/>
                          <a:cs typeface="Arial"/>
                        </a:rPr>
                        <a:t>Cache + back-off</a:t>
                      </a:r>
                    </a:p>
                  </a:txBody>
                  <a:tcPr>
                    <a:solidFill>
                      <a:srgbClr val="F5F4EF"/>
                    </a:solidFill>
                  </a:tcPr>
                </a:tc>
                <a:tc>
                  <a:txBody>
                    <a:bodyPr/>
                    <a:lstStyle/>
                    <a:p>
                      <a:r>
                        <a:rPr sz="1875" b="0">
                          <a:solidFill>
                            <a:srgbClr val="102C36"/>
                          </a:solidFill>
                          <a:latin typeface="Arial"/>
                          <a:ea typeface="Arial"/>
                          <a:cs typeface="Arial"/>
                        </a:rPr>
                        <a:t>Per case</a:t>
                      </a:r>
                    </a:p>
                  </a:txBody>
                  <a:tcPr>
                    <a:solidFill>
                      <a:srgbClr val="F5F4EF"/>
                    </a:solidFill>
                  </a:tcPr>
                </a:tc>
                <a:extLst>
                  <a:ext uri="{0D108BD9-81ED-4DB2-BD59-A6C34878D82A}">
                    <a16:rowId xmlns:a16="http://schemas.microsoft.com/office/drawing/2014/main" val="10005"/>
                  </a:ext>
                </a:extLst>
              </a:tr>
            </a:tbl>
          </a:graphicData>
        </a:graphic>
      </p:graphicFrame>
      <p:sp>
        <p:nvSpPr>
          <p:cNvPr id="12" name="Rectangle 11">
            <a:extLst>
              <a:ext uri="{FF2B5EF4-FFF2-40B4-BE49-F238E27FC236}">
                <a16:creationId xmlns:a16="http://schemas.microsoft.com/office/drawing/2014/main" id="{53E3152F-9ACB-4845-AA41-2553BF79334F}"/>
              </a:ext>
            </a:extLst>
          </p:cNvPr>
          <p:cNvSpPr>
            <a:spLocks noGrp="1"/>
          </p:cNvSpPr>
          <p:nvPr/>
        </p:nvSpPr>
        <p:spPr>
          <a:xfrm>
            <a:off x="609600" y="5934075"/>
            <a:ext cx="10858500" cy="495300"/>
          </a:xfrm>
          <a:prstGeom prst="rect">
            <a:avLst/>
          </a:prstGeom>
          <a:noFill/>
          <a:ln w="0">
            <a:noFill/>
          </a:ln>
        </p:spPr>
        <p:txBody>
          <a:bodyPr>
            <a:noAutofit/>
          </a:bodyPr>
          <a:lstStyle/>
          <a:p>
            <a:pPr>
              <a:buNone/>
              <a:defRPr sz="1500" b="0">
                <a:solidFill>
                  <a:srgbClr val="547078"/>
                </a:solidFill>
                <a:latin typeface="Arial"/>
                <a:ea typeface="Arial"/>
                <a:cs typeface="Arial"/>
              </a:defRPr>
            </a:pPr>
            <a:r>
              <a:rPr sz="1500" b="0">
                <a:solidFill>
                  <a:srgbClr val="547078"/>
                </a:solidFill>
                <a:latin typeface="Arial"/>
                <a:ea typeface="Arial"/>
                <a:cs typeface="Arial"/>
              </a:rPr>
              <a:t>Regex ties on zones in the closed synthetic vocabulary; severity 0%, insurance 76%.</a:t>
            </a:r>
          </a:p>
        </p:txBody>
      </p:sp>
    </p:spTree>
    <p:extLst>
      <p:ext uri="{BB962C8B-B14F-4D97-AF65-F5344CB8AC3E}">
        <p14:creationId xmlns:p14="http://schemas.microsoft.com/office/powerpoint/2010/main" val="21393422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919FD4F-95A4-4AD7-A89D-74BA38963ADC}"/>
              </a:ext>
            </a:extLst>
          </p:cNvPr>
          <p:cNvSpPr>
            <a:spLocks noGrp="1"/>
          </p:cNvSpPr>
          <p:nvPr/>
        </p:nvSpPr>
        <p:spPr>
          <a:xfrm>
            <a:off x="609600" y="409575"/>
            <a:ext cx="10953750" cy="714375"/>
          </a:xfrm>
          <a:prstGeom prst="rect">
            <a:avLst/>
          </a:prstGeom>
          <a:noFill/>
          <a:ln w="0">
            <a:noFill/>
          </a:ln>
        </p:spPr>
        <p:txBody>
          <a:bodyPr>
            <a:noAutofit/>
          </a:bodyPr>
          <a:lstStyle/>
          <a:p>
            <a:pPr>
              <a:buNone/>
              <a:defRPr sz="3225" b="1">
                <a:solidFill>
                  <a:srgbClr val="102C36"/>
                </a:solidFill>
                <a:latin typeface="Arial"/>
                <a:ea typeface="Arial"/>
                <a:cs typeface="Arial"/>
              </a:defRPr>
            </a:pPr>
            <a:r>
              <a:rPr sz="3225" b="1">
                <a:solidFill>
                  <a:srgbClr val="102C36"/>
                </a:solidFill>
                <a:latin typeface="Arial"/>
                <a:ea typeface="Arial"/>
                <a:cs typeface="Arial"/>
              </a:rPr>
              <a:t>Severity and the overfitting test</a:t>
            </a:r>
          </a:p>
        </p:txBody>
      </p:sp>
      <p:sp>
        <p:nvSpPr>
          <p:cNvPr id="2" name="Rectangle 1">
            <a:extLst>
              <a:ext uri="{FF2B5EF4-FFF2-40B4-BE49-F238E27FC236}">
                <a16:creationId xmlns:a16="http://schemas.microsoft.com/office/drawing/2014/main" id="{EC40EA9D-5225-4F64-AE0C-40AE6DDC0D63}"/>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04</a:t>
            </a:r>
          </a:p>
        </p:txBody>
      </p:sp>
      <p:sp>
        <p:nvSpPr>
          <p:cNvPr id="3" name="Rectangle 2">
            <a:extLst>
              <a:ext uri="{FF2B5EF4-FFF2-40B4-BE49-F238E27FC236}">
                <a16:creationId xmlns:a16="http://schemas.microsoft.com/office/drawing/2014/main" id="{61FB158A-2BF9-4B8F-8C37-9F5CF4DD267B}"/>
              </a:ext>
            </a:extLst>
          </p:cNvPr>
          <p:cNvSpPr>
            <a:spLocks noGrp="1"/>
          </p:cNvSpPr>
          <p:nvPr/>
        </p:nvSpPr>
        <p:spPr>
          <a:xfrm>
            <a:off x="609600" y="1428750"/>
            <a:ext cx="4953000" cy="428625"/>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Severity must be inferred</a:t>
            </a:r>
          </a:p>
        </p:txBody>
      </p:sp>
      <p:sp>
        <p:nvSpPr>
          <p:cNvPr id="4" name="Rectangle 3">
            <a:extLst>
              <a:ext uri="{FF2B5EF4-FFF2-40B4-BE49-F238E27FC236}">
                <a16:creationId xmlns:a16="http://schemas.microsoft.com/office/drawing/2014/main" id="{ED27CB0E-249E-4788-8C0C-14911A92CB50}"/>
              </a:ext>
            </a:extLst>
          </p:cNvPr>
          <p:cNvSpPr>
            <a:spLocks noGrp="1"/>
          </p:cNvSpPr>
          <p:nvPr/>
        </p:nvSpPr>
        <p:spPr>
          <a:xfrm>
            <a:off x="609600" y="1924050"/>
            <a:ext cx="4953000" cy="333375"/>
          </a:xfrm>
          <a:prstGeom prst="rect">
            <a:avLst/>
          </a:prstGeom>
          <a:noFill/>
          <a:ln w="0">
            <a:noFill/>
          </a:ln>
        </p:spPr>
        <p:txBody>
          <a:bodyPr>
            <a:noAutofit/>
          </a:bodyPr>
          <a:lstStyle/>
          <a:p>
            <a:pPr>
              <a:buNone/>
              <a:defRPr sz="1725" b="0">
                <a:solidFill>
                  <a:srgbClr val="547078"/>
                </a:solidFill>
                <a:latin typeface="Arial"/>
                <a:ea typeface="Arial"/>
                <a:cs typeface="Arial"/>
              </a:defRPr>
            </a:pPr>
            <a:r>
              <a:rPr sz="1725" b="0">
                <a:solidFill>
                  <a:srgbClr val="547078"/>
                </a:solidFill>
                <a:latin typeface="Arial"/>
                <a:ea typeface="Arial"/>
                <a:cs typeface="Arial"/>
              </a:rPr>
              <a:t>Same 977 held-out cases</a:t>
            </a:r>
          </a:p>
        </p:txBody>
      </p:sp>
      <p:sp>
        <p:nvSpPr>
          <p:cNvPr id="5" name="Rectangle 4">
            <a:extLst>
              <a:ext uri="{FF2B5EF4-FFF2-40B4-BE49-F238E27FC236}">
                <a16:creationId xmlns:a16="http://schemas.microsoft.com/office/drawing/2014/main" id="{45C1711F-AF88-48F5-A53C-43345F02B493}"/>
              </a:ext>
            </a:extLst>
          </p:cNvPr>
          <p:cNvSpPr>
            <a:spLocks noGrp="1"/>
          </p:cNvSpPr>
          <p:nvPr/>
        </p:nvSpPr>
        <p:spPr>
          <a:xfrm>
            <a:off x="609600" y="2619375"/>
            <a:ext cx="2381250" cy="714375"/>
          </a:xfrm>
          <a:prstGeom prst="rect">
            <a:avLst/>
          </a:prstGeom>
          <a:noFill/>
          <a:ln w="0">
            <a:noFill/>
          </a:ln>
        </p:spPr>
        <p:txBody>
          <a:bodyPr>
            <a:noAutofit/>
          </a:bodyPr>
          <a:lstStyle/>
          <a:p>
            <a:pPr>
              <a:buNone/>
              <a:defRPr sz="4275" b="1">
                <a:solidFill>
                  <a:srgbClr val="007F75"/>
                </a:solidFill>
                <a:latin typeface="Arial"/>
                <a:ea typeface="Arial"/>
                <a:cs typeface="Arial"/>
              </a:defRPr>
            </a:pPr>
            <a:r>
              <a:rPr sz="4275" b="1">
                <a:solidFill>
                  <a:srgbClr val="007F75"/>
                </a:solidFill>
                <a:latin typeface="Arial"/>
                <a:ea typeface="Arial"/>
                <a:cs typeface="Arial"/>
              </a:rPr>
              <a:t>68.7%</a:t>
            </a:r>
          </a:p>
        </p:txBody>
      </p:sp>
      <p:sp>
        <p:nvSpPr>
          <p:cNvPr id="6" name="Rectangle 5">
            <a:extLst>
              <a:ext uri="{FF2B5EF4-FFF2-40B4-BE49-F238E27FC236}">
                <a16:creationId xmlns:a16="http://schemas.microsoft.com/office/drawing/2014/main" id="{E8E3E4AB-9A30-41F9-9AF3-BAE400140A35}"/>
              </a:ext>
            </a:extLst>
          </p:cNvPr>
          <p:cNvSpPr>
            <a:spLocks noGrp="1"/>
          </p:cNvSpPr>
          <p:nvPr/>
        </p:nvSpPr>
        <p:spPr>
          <a:xfrm>
            <a:off x="609600" y="3343275"/>
            <a:ext cx="4857750" cy="409575"/>
          </a:xfrm>
          <a:prstGeom prst="rect">
            <a:avLst/>
          </a:prstGeom>
          <a:noFill/>
          <a:ln w="0">
            <a:noFill/>
          </a:ln>
        </p:spPr>
        <p:txBody>
          <a:bodyPr>
            <a:noAutofit/>
          </a:bodyPr>
          <a:lstStyle/>
          <a:p>
            <a:pPr>
              <a:buNone/>
              <a:defRPr sz="1950" b="0">
                <a:solidFill>
                  <a:srgbClr val="102C36"/>
                </a:solidFill>
                <a:latin typeface="Arial"/>
                <a:ea typeface="Arial"/>
                <a:cs typeface="Arial"/>
              </a:defRPr>
            </a:pPr>
            <a:r>
              <a:rPr sz="1950" b="0">
                <a:solidFill>
                  <a:srgbClr val="102C36"/>
                </a:solidFill>
                <a:latin typeface="Arial"/>
                <a:ea typeface="Arial"/>
                <a:cs typeface="Arial"/>
              </a:rPr>
              <a:t>DeepSeek severity accuracy</a:t>
            </a:r>
          </a:p>
        </p:txBody>
      </p:sp>
      <p:sp>
        <p:nvSpPr>
          <p:cNvPr id="7" name="Rectangle 6">
            <a:extLst>
              <a:ext uri="{FF2B5EF4-FFF2-40B4-BE49-F238E27FC236}">
                <a16:creationId xmlns:a16="http://schemas.microsoft.com/office/drawing/2014/main" id="{CC76E1AC-89FF-497E-B3D5-6B266C2C3536}"/>
              </a:ext>
            </a:extLst>
          </p:cNvPr>
          <p:cNvSpPr>
            <a:spLocks noGrp="1"/>
          </p:cNvSpPr>
          <p:nvPr/>
        </p:nvSpPr>
        <p:spPr>
          <a:xfrm>
            <a:off x="609600" y="4095750"/>
            <a:ext cx="2381250" cy="695325"/>
          </a:xfrm>
          <a:prstGeom prst="rect">
            <a:avLst/>
          </a:prstGeom>
          <a:noFill/>
          <a:ln w="0">
            <a:noFill/>
          </a:ln>
        </p:spPr>
        <p:txBody>
          <a:bodyPr>
            <a:noAutofit/>
          </a:bodyPr>
          <a:lstStyle/>
          <a:p>
            <a:pPr>
              <a:buNone/>
              <a:defRPr sz="3975" b="1">
                <a:solidFill>
                  <a:srgbClr val="007F75"/>
                </a:solidFill>
                <a:latin typeface="Arial"/>
                <a:ea typeface="Arial"/>
                <a:cs typeface="Arial"/>
              </a:defRPr>
            </a:pPr>
            <a:r>
              <a:rPr sz="3975" b="1">
                <a:solidFill>
                  <a:srgbClr val="007F75"/>
                </a:solidFill>
                <a:latin typeface="Arial"/>
                <a:ea typeface="Arial"/>
                <a:cs typeface="Arial"/>
              </a:rPr>
              <a:t>79.5%</a:t>
            </a:r>
          </a:p>
        </p:txBody>
      </p:sp>
      <p:sp>
        <p:nvSpPr>
          <p:cNvPr id="8" name="Rectangle 7">
            <a:extLst>
              <a:ext uri="{FF2B5EF4-FFF2-40B4-BE49-F238E27FC236}">
                <a16:creationId xmlns:a16="http://schemas.microsoft.com/office/drawing/2014/main" id="{42DE4D00-D6F0-42B5-A59A-291785F1DBE2}"/>
              </a:ext>
            </a:extLst>
          </p:cNvPr>
          <p:cNvSpPr>
            <a:spLocks noGrp="1"/>
          </p:cNvSpPr>
          <p:nvPr/>
        </p:nvSpPr>
        <p:spPr>
          <a:xfrm>
            <a:off x="609600" y="4838700"/>
            <a:ext cx="4857750" cy="733425"/>
          </a:xfrm>
          <a:prstGeom prst="rect">
            <a:avLst/>
          </a:prstGeom>
          <a:noFill/>
          <a:ln w="0">
            <a:noFill/>
          </a:ln>
        </p:spPr>
        <p:txBody>
          <a:bodyPr>
            <a:noAutofit/>
          </a:bodyPr>
          <a:lstStyle/>
          <a:p>
            <a:pPr>
              <a:buNone/>
              <a:defRPr sz="1950" b="0">
                <a:solidFill>
                  <a:srgbClr val="102C36"/>
                </a:solidFill>
                <a:latin typeface="Arial"/>
                <a:ea typeface="Arial"/>
                <a:cs typeface="Arial"/>
              </a:defRPr>
            </a:pPr>
            <a:r>
              <a:rPr sz="1950" b="0">
                <a:solidFill>
                  <a:srgbClr val="102C36"/>
                </a:solidFill>
                <a:latin typeface="Arial"/>
                <a:ea typeface="Arial"/>
                <a:cs typeface="Arial"/>
              </a:rPr>
              <a:t>Data ceiling · 86% of the signal</a:t>
            </a:r>
          </a:p>
          <a:p>
            <a:pPr>
              <a:buNone/>
              <a:defRPr sz="1950" b="0">
                <a:solidFill>
                  <a:srgbClr val="102C36"/>
                </a:solidFill>
                <a:latin typeface="Arial"/>
                <a:ea typeface="Arial"/>
                <a:cs typeface="Arial"/>
              </a:defRPr>
            </a:pPr>
            <a:r>
              <a:rPr sz="1950" b="0">
                <a:solidFill>
                  <a:srgbClr val="102C36"/>
                </a:solidFill>
                <a:latin typeface="Arial"/>
                <a:ea typeface="Arial"/>
                <a:cs typeface="Arial"/>
              </a:rPr>
              <a:t>Identical text, conflicting labels</a:t>
            </a:r>
          </a:p>
        </p:txBody>
      </p:sp>
      <p:sp>
        <p:nvSpPr>
          <p:cNvPr id="9" name="Rectangle 8">
            <a:extLst>
              <a:ext uri="{FF2B5EF4-FFF2-40B4-BE49-F238E27FC236}">
                <a16:creationId xmlns:a16="http://schemas.microsoft.com/office/drawing/2014/main" id="{C0F99FCF-EDE9-4F21-A1CA-30393B17D845}"/>
              </a:ext>
            </a:extLst>
          </p:cNvPr>
          <p:cNvSpPr>
            <a:spLocks noGrp="1"/>
          </p:cNvSpPr>
          <p:nvPr/>
        </p:nvSpPr>
        <p:spPr>
          <a:xfrm>
            <a:off x="5838825" y="1428750"/>
            <a:ext cx="5810250" cy="428625"/>
          </a:xfrm>
          <a:prstGeom prst="rect">
            <a:avLst/>
          </a:prstGeom>
          <a:noFill/>
          <a:ln w="0">
            <a:noFill/>
          </a:ln>
        </p:spPr>
        <p:txBody>
          <a:bodyPr>
            <a:noAutofit/>
          </a:bodyPr>
          <a:lstStyle/>
          <a:p>
            <a:pPr>
              <a:buNone/>
              <a:defRPr sz="2100" b="1">
                <a:solidFill>
                  <a:srgbClr val="102C36"/>
                </a:solidFill>
                <a:latin typeface="Arial"/>
                <a:ea typeface="Arial"/>
                <a:cs typeface="Arial"/>
              </a:defRPr>
            </a:pPr>
            <a:r>
              <a:rPr sz="2100" b="1">
                <a:solidFill>
                  <a:srgbClr val="102C36"/>
                </a:solidFill>
                <a:latin typeface="Arial"/>
                <a:ea typeface="Arial"/>
                <a:cs typeface="Arial"/>
              </a:rPr>
              <a:t>Severity benchmark</a:t>
            </a:r>
          </a:p>
        </p:txBody>
      </p:sp>
      <p:sp>
        <p:nvSpPr>
          <p:cNvPr id="10" name="Rectangle 9">
            <a:extLst>
              <a:ext uri="{FF2B5EF4-FFF2-40B4-BE49-F238E27FC236}">
                <a16:creationId xmlns:a16="http://schemas.microsoft.com/office/drawing/2014/main" id="{A3104A55-52D7-4274-8694-F124332AF5F2}"/>
              </a:ext>
            </a:extLst>
          </p:cNvPr>
          <p:cNvSpPr>
            <a:spLocks noGrp="1"/>
          </p:cNvSpPr>
          <p:nvPr/>
        </p:nvSpPr>
        <p:spPr>
          <a:xfrm>
            <a:off x="5838825" y="1924050"/>
            <a:ext cx="5810250" cy="333375"/>
          </a:xfrm>
          <a:prstGeom prst="rect">
            <a:avLst/>
          </a:prstGeom>
          <a:noFill/>
          <a:ln w="0">
            <a:noFill/>
          </a:ln>
        </p:spPr>
        <p:txBody>
          <a:bodyPr>
            <a:noAutofit/>
          </a:bodyPr>
          <a:lstStyle/>
          <a:p>
            <a:pPr>
              <a:buNone/>
              <a:defRPr sz="1725" b="0">
                <a:solidFill>
                  <a:srgbClr val="547078"/>
                </a:solidFill>
                <a:latin typeface="Arial"/>
                <a:ea typeface="Arial"/>
                <a:cs typeface="Arial"/>
              </a:defRPr>
            </a:pPr>
            <a:r>
              <a:rPr sz="1725" b="0">
                <a:solidFill>
                  <a:srgbClr val="547078"/>
                </a:solidFill>
                <a:latin typeface="Arial"/>
                <a:ea typeface="Arial"/>
                <a:cs typeface="Arial"/>
              </a:rPr>
              <a:t>Common 150-case test</a:t>
            </a:r>
          </a:p>
        </p:txBody>
      </p:sp>
      <p:graphicFrame>
        <p:nvGraphicFramePr>
          <p:cNvPr id="25" name="Tableau 24"/>
          <p:cNvGraphicFramePr/>
          <p:nvPr/>
        </p:nvGraphicFramePr>
        <p:xfrm>
          <a:off x="5829300" y="2466975"/>
          <a:ext cx="5715000" cy="3000378"/>
        </p:xfrm>
        <a:graphic>
          <a:graphicData uri="http://schemas.openxmlformats.org/drawingml/2006/table">
            <a:tbl>
              <a:tblPr/>
              <a:tblGrid>
                <a:gridCol w="3952875">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tblGrid>
              <a:tr h="500063">
                <a:tc>
                  <a:txBody>
                    <a:bodyPr/>
                    <a:lstStyle/>
                    <a:p>
                      <a:r>
                        <a:rPr sz="1875" b="1">
                          <a:solidFill>
                            <a:srgbClr val="FFFFFF"/>
                          </a:solidFill>
                          <a:latin typeface="Arial"/>
                          <a:ea typeface="Arial"/>
                          <a:cs typeface="Arial"/>
                        </a:rPr>
                        <a:t>Model</a:t>
                      </a:r>
                    </a:p>
                  </a:txBody>
                  <a:tcPr>
                    <a:solidFill>
                      <a:srgbClr val="102C36"/>
                    </a:solidFill>
                  </a:tcPr>
                </a:tc>
                <a:tc>
                  <a:txBody>
                    <a:bodyPr/>
                    <a:lstStyle/>
                    <a:p>
                      <a:r>
                        <a:rPr sz="1875" b="1">
                          <a:solidFill>
                            <a:srgbClr val="FFFFFF"/>
                          </a:solidFill>
                          <a:latin typeface="Arial"/>
                          <a:ea typeface="Arial"/>
                          <a:cs typeface="Arial"/>
                        </a:rPr>
                        <a:t>Accuracy</a:t>
                      </a:r>
                    </a:p>
                  </a:txBody>
                  <a:tcPr>
                    <a:solidFill>
                      <a:srgbClr val="102C36"/>
                    </a:solidFill>
                  </a:tcPr>
                </a:tc>
                <a:extLst>
                  <a:ext uri="{0D108BD9-81ED-4DB2-BD59-A6C34878D82A}">
                    <a16:rowId xmlns:a16="http://schemas.microsoft.com/office/drawing/2014/main" val="10000"/>
                  </a:ext>
                </a:extLst>
              </a:tr>
              <a:tr h="500063">
                <a:tc>
                  <a:txBody>
                    <a:bodyPr/>
                    <a:lstStyle/>
                    <a:p>
                      <a:r>
                        <a:rPr sz="1875" b="1">
                          <a:solidFill>
                            <a:srgbClr val="102C36"/>
                          </a:solidFill>
                          <a:latin typeface="Arial"/>
                          <a:ea typeface="Arial"/>
                          <a:cs typeface="Arial"/>
                        </a:rPr>
                        <a:t>LightGBM</a:t>
                      </a:r>
                    </a:p>
                  </a:txBody>
                  <a:tcPr>
                    <a:solidFill>
                      <a:srgbClr val="DFEDE7"/>
                    </a:solidFill>
                  </a:tcPr>
                </a:tc>
                <a:tc>
                  <a:txBody>
                    <a:bodyPr/>
                    <a:lstStyle/>
                    <a:p>
                      <a:r>
                        <a:rPr sz="1875" b="1">
                          <a:solidFill>
                            <a:srgbClr val="102C36"/>
                          </a:solidFill>
                          <a:latin typeface="Arial"/>
                          <a:ea typeface="Arial"/>
                          <a:cs typeface="Arial"/>
                        </a:rPr>
                        <a:t>65.3%</a:t>
                      </a:r>
                    </a:p>
                  </a:txBody>
                  <a:tcPr>
                    <a:solidFill>
                      <a:srgbClr val="DFEDE7"/>
                    </a:solidFill>
                  </a:tcPr>
                </a:tc>
                <a:extLst>
                  <a:ext uri="{0D108BD9-81ED-4DB2-BD59-A6C34878D82A}">
                    <a16:rowId xmlns:a16="http://schemas.microsoft.com/office/drawing/2014/main" val="10001"/>
                  </a:ext>
                </a:extLst>
              </a:tr>
              <a:tr h="500063">
                <a:tc>
                  <a:txBody>
                    <a:bodyPr/>
                    <a:lstStyle/>
                    <a:p>
                      <a:r>
                        <a:rPr sz="1875" b="0">
                          <a:solidFill>
                            <a:srgbClr val="102C36"/>
                          </a:solidFill>
                          <a:latin typeface="Arial"/>
                          <a:ea typeface="Arial"/>
                          <a:cs typeface="Arial"/>
                        </a:rPr>
                        <a:t>DeepSeek</a:t>
                      </a:r>
                    </a:p>
                  </a:txBody>
                  <a:tcPr>
                    <a:solidFill>
                      <a:srgbClr val="F5F4EF"/>
                    </a:solidFill>
                  </a:tcPr>
                </a:tc>
                <a:tc>
                  <a:txBody>
                    <a:bodyPr/>
                    <a:lstStyle/>
                    <a:p>
                      <a:r>
                        <a:rPr sz="1875" b="0">
                          <a:solidFill>
                            <a:srgbClr val="102C36"/>
                          </a:solidFill>
                          <a:latin typeface="Arial"/>
                          <a:ea typeface="Arial"/>
                          <a:cs typeface="Arial"/>
                        </a:rPr>
                        <a:t>72.7%</a:t>
                      </a:r>
                    </a:p>
                  </a:txBody>
                  <a:tcPr>
                    <a:solidFill>
                      <a:srgbClr val="F5F4EF"/>
                    </a:solidFill>
                  </a:tcPr>
                </a:tc>
                <a:extLst>
                  <a:ext uri="{0D108BD9-81ED-4DB2-BD59-A6C34878D82A}">
                    <a16:rowId xmlns:a16="http://schemas.microsoft.com/office/drawing/2014/main" val="10002"/>
                  </a:ext>
                </a:extLst>
              </a:tr>
              <a:tr h="500063">
                <a:tc>
                  <a:txBody>
                    <a:bodyPr/>
                    <a:lstStyle/>
                    <a:p>
                      <a:r>
                        <a:rPr sz="1875" b="0">
                          <a:solidFill>
                            <a:srgbClr val="102C36"/>
                          </a:solidFill>
                          <a:latin typeface="Arial"/>
                          <a:ea typeface="Arial"/>
                          <a:cs typeface="Arial"/>
                        </a:rPr>
                        <a:t>LogReg</a:t>
                      </a:r>
                    </a:p>
                  </a:txBody>
                  <a:tcPr>
                    <a:solidFill>
                      <a:srgbClr val="F5F4EF"/>
                    </a:solidFill>
                  </a:tcPr>
                </a:tc>
                <a:tc>
                  <a:txBody>
                    <a:bodyPr/>
                    <a:lstStyle/>
                    <a:p>
                      <a:r>
                        <a:rPr sz="1875" b="0">
                          <a:solidFill>
                            <a:srgbClr val="102C36"/>
                          </a:solidFill>
                          <a:latin typeface="Arial"/>
                          <a:ea typeface="Arial"/>
                          <a:cs typeface="Arial"/>
                        </a:rPr>
                        <a:t>73.3%</a:t>
                      </a:r>
                    </a:p>
                  </a:txBody>
                  <a:tcPr>
                    <a:solidFill>
                      <a:srgbClr val="F5F4EF"/>
                    </a:solidFill>
                  </a:tcPr>
                </a:tc>
                <a:extLst>
                  <a:ext uri="{0D108BD9-81ED-4DB2-BD59-A6C34878D82A}">
                    <a16:rowId xmlns:a16="http://schemas.microsoft.com/office/drawing/2014/main" val="10003"/>
                  </a:ext>
                </a:extLst>
              </a:tr>
              <a:tr h="500063">
                <a:tc>
                  <a:txBody>
                    <a:bodyPr/>
                    <a:lstStyle/>
                    <a:p>
                      <a:r>
                        <a:rPr sz="1875" b="0">
                          <a:solidFill>
                            <a:srgbClr val="102C36"/>
                          </a:solidFill>
                          <a:latin typeface="Arial"/>
                          <a:ea typeface="Arial"/>
                          <a:cs typeface="Arial"/>
                        </a:rPr>
                        <a:t>gbert (German BERT, GPU)</a:t>
                      </a:r>
                    </a:p>
                  </a:txBody>
                  <a:tcPr>
                    <a:solidFill>
                      <a:srgbClr val="F5F4EF"/>
                    </a:solidFill>
                  </a:tcPr>
                </a:tc>
                <a:tc>
                  <a:txBody>
                    <a:bodyPr/>
                    <a:lstStyle/>
                    <a:p>
                      <a:r>
                        <a:rPr sz="1875" b="0">
                          <a:solidFill>
                            <a:srgbClr val="102C36"/>
                          </a:solidFill>
                          <a:latin typeface="Arial"/>
                          <a:ea typeface="Arial"/>
                          <a:cs typeface="Arial"/>
                        </a:rPr>
                        <a:t>78.7%</a:t>
                      </a:r>
                    </a:p>
                  </a:txBody>
                  <a:tcPr>
                    <a:solidFill>
                      <a:srgbClr val="F5F4EF"/>
                    </a:solidFill>
                  </a:tcPr>
                </a:tc>
                <a:extLst>
                  <a:ext uri="{0D108BD9-81ED-4DB2-BD59-A6C34878D82A}">
                    <a16:rowId xmlns:a16="http://schemas.microsoft.com/office/drawing/2014/main" val="10004"/>
                  </a:ext>
                </a:extLst>
              </a:tr>
              <a:tr h="500063">
                <a:tc>
                  <a:txBody>
                    <a:bodyPr/>
                    <a:lstStyle/>
                    <a:p>
                      <a:r>
                        <a:rPr sz="1875" b="0">
                          <a:solidFill>
                            <a:srgbClr val="102C36"/>
                          </a:solidFill>
                          <a:latin typeface="Arial"/>
                          <a:ea typeface="Arial"/>
                          <a:cs typeface="Arial"/>
                        </a:rPr>
                        <a:t>XGBoost</a:t>
                      </a:r>
                    </a:p>
                  </a:txBody>
                  <a:tcPr>
                    <a:solidFill>
                      <a:srgbClr val="F5F4EF"/>
                    </a:solidFill>
                  </a:tcPr>
                </a:tc>
                <a:tc>
                  <a:txBody>
                    <a:bodyPr/>
                    <a:lstStyle/>
                    <a:p>
                      <a:r>
                        <a:rPr sz="1875" b="0">
                          <a:solidFill>
                            <a:srgbClr val="102C36"/>
                          </a:solidFill>
                          <a:latin typeface="Arial"/>
                          <a:ea typeface="Arial"/>
                          <a:cs typeface="Arial"/>
                        </a:rPr>
                        <a:t>82.0%</a:t>
                      </a:r>
                    </a:p>
                  </a:txBody>
                  <a:tcPr>
                    <a:solidFill>
                      <a:srgbClr val="F5F4EF"/>
                    </a:solidFill>
                  </a:tcPr>
                </a:tc>
                <a:extLst>
                  <a:ext uri="{0D108BD9-81ED-4DB2-BD59-A6C34878D82A}">
                    <a16:rowId xmlns:a16="http://schemas.microsoft.com/office/drawing/2014/main" val="10005"/>
                  </a:ext>
                </a:extLst>
              </a:tr>
            </a:tbl>
          </a:graphicData>
        </a:graphic>
      </p:graphicFrame>
      <p:sp>
        <p:nvSpPr>
          <p:cNvPr id="12" name="Rectangle 11">
            <a:extLst>
              <a:ext uri="{FF2B5EF4-FFF2-40B4-BE49-F238E27FC236}">
                <a16:creationId xmlns:a16="http://schemas.microsoft.com/office/drawing/2014/main" id="{53E3152F-9ACB-4845-AA41-2553BF79334F}"/>
              </a:ext>
            </a:extLst>
          </p:cNvPr>
          <p:cNvSpPr>
            <a:spLocks noGrp="1"/>
          </p:cNvSpPr>
          <p:nvPr/>
        </p:nvSpPr>
        <p:spPr>
          <a:xfrm>
            <a:off x="609600" y="5934075"/>
            <a:ext cx="10858500" cy="495300"/>
          </a:xfrm>
          <a:prstGeom prst="rect">
            <a:avLst/>
          </a:prstGeom>
          <a:noFill/>
          <a:ln w="0">
            <a:noFill/>
          </a:ln>
        </p:spPr>
        <p:txBody>
          <a:bodyPr>
            <a:noAutofit/>
          </a:bodyPr>
          <a:lstStyle/>
          <a:p>
            <a:pPr>
              <a:buNone/>
              <a:defRPr sz="1500" b="0">
                <a:solidFill>
                  <a:srgbClr val="547078"/>
                </a:solidFill>
                <a:latin typeface="Arial"/>
                <a:ea typeface="Arial"/>
                <a:cs typeface="Arial"/>
              </a:defRPr>
            </a:pPr>
            <a:r>
              <a:rPr sz="1500" b="0">
                <a:solidFill>
                  <a:srgbClr val="547078"/>
                </a:solidFill>
                <a:latin typeface="Arial"/>
                <a:ea typeface="Arial"/>
                <a:cs typeface="Arial"/>
              </a:rPr>
              <a:t>17-point boosting spread: a phrase-library overfitting warning.</a:t>
            </a:r>
          </a:p>
          <a:p>
            <a:pPr>
              <a:buNone/>
              <a:defRPr sz="1500" b="0">
                <a:solidFill>
                  <a:srgbClr val="547078"/>
                </a:solidFill>
                <a:latin typeface="Arial"/>
                <a:ea typeface="Arial"/>
                <a:cs typeface="Arial"/>
              </a:defRPr>
            </a:pPr>
            <a:r>
              <a:rPr sz="1500" b="0">
                <a:solidFill>
                  <a:srgbClr val="547078"/>
                </a:solidFill>
                <a:latin typeface="Arial"/>
                <a:ea typeface="Arial"/>
                <a:cs typeface="Arial"/>
              </a:rPr>
              <a:t>The product uses DeepSeek; generalisation to real notes remains to validate.</a:t>
            </a:r>
          </a:p>
        </p:txBody>
      </p:sp>
    </p:spTree>
    <p:extLst>
      <p:ext uri="{BB962C8B-B14F-4D97-AF65-F5344CB8AC3E}">
        <p14:creationId xmlns:p14="http://schemas.microsoft.com/office/powerpoint/2010/main" val="2139342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13CDD1D-DFF0-4CDA-B318-74930B76E136}"/>
              </a:ext>
            </a:extLst>
          </p:cNvPr>
          <p:cNvSpPr>
            <a:spLocks noGrp="1"/>
          </p:cNvSpPr>
          <p:nvPr/>
        </p:nvSpPr>
        <p:spPr>
          <a:xfrm>
            <a:off x="609600" y="409575"/>
            <a:ext cx="10953750" cy="714375"/>
          </a:xfrm>
          <a:prstGeom prst="rect">
            <a:avLst/>
          </a:prstGeom>
          <a:noFill/>
          <a:ln w="0">
            <a:noFill/>
          </a:ln>
        </p:spPr>
        <p:txBody>
          <a:bodyPr>
            <a:noAutofit/>
          </a:bodyPr>
          <a:lstStyle/>
          <a:p>
            <a:pPr>
              <a:buNone/>
              <a:defRPr sz="3225" b="1">
                <a:solidFill>
                  <a:srgbClr val="102C36"/>
                </a:solidFill>
                <a:latin typeface="Arial"/>
                <a:ea typeface="Arial"/>
                <a:cs typeface="Arial"/>
              </a:defRPr>
            </a:pPr>
            <a:r>
              <a:rPr sz="3225" b="1">
                <a:solidFill>
                  <a:srgbClr val="102C36"/>
                </a:solidFill>
                <a:latin typeface="Arial"/>
                <a:ea typeface="Arial"/>
                <a:cs typeface="Arial"/>
              </a:rPr>
              <a:t>What the dealership can act on</a:t>
            </a:r>
          </a:p>
        </p:txBody>
      </p:sp>
      <p:sp>
        <p:nvSpPr>
          <p:cNvPr id="2" name="Rectangle 1">
            <a:extLst>
              <a:ext uri="{FF2B5EF4-FFF2-40B4-BE49-F238E27FC236}">
                <a16:creationId xmlns:a16="http://schemas.microsoft.com/office/drawing/2014/main" id="{A85C8F2D-C6E1-4DC9-9E03-CFF45966A424}"/>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05</a:t>
            </a:r>
          </a:p>
        </p:txBody>
      </p:sp>
      <p:sp>
        <p:nvSpPr>
          <p:cNvPr id="3" name="Rectangle 2">
            <a:extLst>
              <a:ext uri="{FF2B5EF4-FFF2-40B4-BE49-F238E27FC236}">
                <a16:creationId xmlns:a16="http://schemas.microsoft.com/office/drawing/2014/main" id="{8AB64388-7E9E-4D82-BB03-4D42E09F0299}"/>
              </a:ext>
            </a:extLst>
          </p:cNvPr>
          <p:cNvSpPr>
            <a:spLocks noGrp="1"/>
          </p:cNvSpPr>
          <p:nvPr/>
        </p:nvSpPr>
        <p:spPr>
          <a:xfrm>
            <a:off x="609600" y="1390650"/>
            <a:ext cx="6715125" cy="409575"/>
          </a:xfrm>
          <a:prstGeom prst="rect">
            <a:avLst/>
          </a:prstGeom>
          <a:noFill/>
          <a:ln w="0">
            <a:noFill/>
          </a:ln>
        </p:spPr>
        <p:txBody>
          <a:bodyPr>
            <a:noAutofit/>
          </a:bodyPr>
          <a:lstStyle/>
          <a:p>
            <a:pPr>
              <a:buNone/>
              <a:defRPr sz="1950" b="1">
                <a:solidFill>
                  <a:srgbClr val="102C36"/>
                </a:solidFill>
                <a:latin typeface="Arial"/>
                <a:ea typeface="Arial"/>
                <a:cs typeface="Arial"/>
              </a:defRPr>
            </a:pPr>
            <a:r>
              <a:rPr sz="1950" b="1">
                <a:solidFill>
                  <a:srgbClr val="102C36"/>
                </a:solidFill>
                <a:latin typeface="Arial"/>
                <a:ea typeface="Arial"/>
                <a:cs typeface="Arial"/>
              </a:rPr>
              <a:t>450 damage cases · Repair operations</a:t>
            </a:r>
          </a:p>
        </p:txBody>
      </p:sp>
      <p:sp>
        <p:nvSpPr>
          <p:cNvPr id="5" name="Rectangle 4">
            <a:extLst>
              <a:ext uri="{FF2B5EF4-FFF2-40B4-BE49-F238E27FC236}">
                <a16:creationId xmlns:a16="http://schemas.microsoft.com/office/drawing/2014/main" id="{EBEAD060-EE55-4496-B13D-FADDFCC87683}"/>
              </a:ext>
            </a:extLst>
          </p:cNvPr>
          <p:cNvSpPr>
            <a:spLocks noGrp="1"/>
          </p:cNvSpPr>
          <p:nvPr/>
        </p:nvSpPr>
        <p:spPr>
          <a:xfrm>
            <a:off x="7924800" y="1952625"/>
            <a:ext cx="3333750" cy="790575"/>
          </a:xfrm>
          <a:prstGeom prst="rect">
            <a:avLst/>
          </a:prstGeom>
          <a:noFill/>
          <a:ln w="0">
            <a:noFill/>
          </a:ln>
        </p:spPr>
        <p:txBody>
          <a:bodyPr>
            <a:noAutofit/>
          </a:bodyPr>
          <a:lstStyle/>
          <a:p>
            <a:pPr>
              <a:buNone/>
              <a:defRPr sz="4500" b="1">
                <a:solidFill>
                  <a:srgbClr val="007F75"/>
                </a:solidFill>
                <a:latin typeface="Arial"/>
                <a:ea typeface="Arial"/>
                <a:cs typeface="Arial"/>
              </a:defRPr>
            </a:pPr>
            <a:r>
              <a:rPr sz="4500" b="1">
                <a:solidFill>
                  <a:srgbClr val="007F75"/>
                </a:solidFill>
                <a:latin typeface="Arial"/>
                <a:ea typeface="Arial"/>
                <a:cs typeface="Arial"/>
              </a:rPr>
              <a:t>41.3%</a:t>
            </a:r>
          </a:p>
        </p:txBody>
      </p:sp>
      <p:sp>
        <p:nvSpPr>
          <p:cNvPr id="6" name="Rectangle 5">
            <a:extLst>
              <a:ext uri="{FF2B5EF4-FFF2-40B4-BE49-F238E27FC236}">
                <a16:creationId xmlns:a16="http://schemas.microsoft.com/office/drawing/2014/main" id="{F8993B5B-F894-4BB0-95EE-611233AB2433}"/>
              </a:ext>
            </a:extLst>
          </p:cNvPr>
          <p:cNvSpPr>
            <a:spLocks noGrp="1"/>
          </p:cNvSpPr>
          <p:nvPr/>
        </p:nvSpPr>
        <p:spPr>
          <a:xfrm>
            <a:off x="7924800" y="2809875"/>
            <a:ext cx="3409950" cy="1085850"/>
          </a:xfrm>
          <a:prstGeom prst="rect">
            <a:avLst/>
          </a:prstGeom>
          <a:noFill/>
          <a:ln w="0">
            <a:noFill/>
          </a:ln>
        </p:spPr>
        <p:txBody>
          <a:bodyPr>
            <a:noAutofit/>
          </a:bodyPr>
          <a:lstStyle/>
          <a:p>
            <a:pPr>
              <a:buNone/>
              <a:defRPr sz="1875" b="0">
                <a:solidFill>
                  <a:srgbClr val="102C36"/>
                </a:solidFill>
                <a:latin typeface="Arial"/>
                <a:ea typeface="Arial"/>
                <a:cs typeface="Arial"/>
              </a:defRPr>
            </a:pPr>
            <a:r>
              <a:rPr sz="1875" b="0">
                <a:solidFill>
                  <a:srgbClr val="102C36"/>
                </a:solidFill>
                <a:latin typeface="Arial"/>
                <a:ea typeface="Arial"/>
                <a:cs typeface="Arial"/>
              </a:rPr>
              <a:t>Parking / manoeuvring</a:t>
            </a:r>
          </a:p>
          <a:p>
            <a:pPr>
              <a:buNone/>
              <a:defRPr sz="1875" b="0">
                <a:solidFill>
                  <a:srgbClr val="102C36"/>
                </a:solidFill>
                <a:latin typeface="Arial"/>
                <a:ea typeface="Arial"/>
                <a:cs typeface="Arial"/>
              </a:defRPr>
            </a:pPr>
            <a:r>
              <a:rPr sz="1875" b="0">
                <a:solidFill>
                  <a:srgbClr val="102C36"/>
                </a:solidFill>
                <a:latin typeface="Arial"/>
                <a:ea typeface="Arial"/>
                <a:cs typeface="Arial"/>
              </a:rPr>
              <a:t>186 / 450 damage cases</a:t>
            </a:r>
          </a:p>
          <a:p>
            <a:pPr>
              <a:buNone/>
              <a:defRPr sz="1875" b="0">
                <a:solidFill>
                  <a:srgbClr val="102C36"/>
                </a:solidFill>
                <a:latin typeface="Arial"/>
                <a:ea typeface="Arial"/>
                <a:cs typeface="Arial"/>
              </a:defRPr>
            </a:pPr>
            <a:r>
              <a:rPr sz="1875" b="0">
                <a:solidFill>
                  <a:srgbClr val="102C36"/>
                </a:solidFill>
                <a:latin typeface="Arial"/>
                <a:ea typeface="Arial"/>
                <a:cs typeface="Arial"/>
              </a:rPr>
              <a:t>Low severity · High volume</a:t>
            </a:r>
          </a:p>
        </p:txBody>
      </p:sp>
      <p:sp>
        <p:nvSpPr>
          <p:cNvPr id="7" name="Rectangle 6">
            <a:extLst>
              <a:ext uri="{FF2B5EF4-FFF2-40B4-BE49-F238E27FC236}">
                <a16:creationId xmlns:a16="http://schemas.microsoft.com/office/drawing/2014/main" id="{D456A6E0-94FF-46F8-9EF9-B1DD68D4F433}"/>
              </a:ext>
            </a:extLst>
          </p:cNvPr>
          <p:cNvSpPr>
            <a:spLocks noGrp="1"/>
          </p:cNvSpPr>
          <p:nvPr/>
        </p:nvSpPr>
        <p:spPr>
          <a:xfrm>
            <a:off x="7924800" y="4333875"/>
            <a:ext cx="3524250" cy="476250"/>
          </a:xfrm>
          <a:prstGeom prst="rect">
            <a:avLst/>
          </a:prstGeom>
          <a:noFill/>
          <a:ln w="0">
            <a:noFill/>
          </a:ln>
        </p:spPr>
        <p:txBody>
          <a:bodyPr>
            <a:noAutofit/>
          </a:bodyPr>
          <a:lstStyle/>
          <a:p>
            <a:pPr>
              <a:buNone/>
              <a:defRPr sz="2325" b="1">
                <a:solidFill>
                  <a:srgbClr val="102C36"/>
                </a:solidFill>
                <a:latin typeface="Arial"/>
                <a:ea typeface="Arial"/>
                <a:cs typeface="Arial"/>
              </a:defRPr>
            </a:pPr>
            <a:r>
              <a:rPr sz="2325" b="1">
                <a:solidFill>
                  <a:srgbClr val="102C36"/>
                </a:solidFill>
                <a:latin typeface="Arial"/>
                <a:ea typeface="Arial"/>
                <a:cs typeface="Arial"/>
              </a:rPr>
              <a:t>668 cases still open</a:t>
            </a:r>
          </a:p>
        </p:txBody>
      </p:sp>
      <p:sp>
        <p:nvSpPr>
          <p:cNvPr id="8" name="Rectangle 7">
            <a:extLst>
              <a:ext uri="{FF2B5EF4-FFF2-40B4-BE49-F238E27FC236}">
                <a16:creationId xmlns:a16="http://schemas.microsoft.com/office/drawing/2014/main" id="{2AE3D056-AFD2-4B1F-A634-CA2CC5EDF2F2}"/>
              </a:ext>
            </a:extLst>
          </p:cNvPr>
          <p:cNvSpPr>
            <a:spLocks noGrp="1"/>
          </p:cNvSpPr>
          <p:nvPr/>
        </p:nvSpPr>
        <p:spPr>
          <a:xfrm>
            <a:off x="7924800" y="4933950"/>
            <a:ext cx="3409950" cy="904875"/>
          </a:xfrm>
          <a:prstGeom prst="rect">
            <a:avLst/>
          </a:prstGeom>
          <a:noFill/>
          <a:ln w="0">
            <a:noFill/>
          </a:ln>
        </p:spPr>
        <p:txBody>
          <a:bodyPr>
            <a:noAutofit/>
          </a:bodyPr>
          <a:lstStyle/>
          <a:p>
            <a:pPr>
              <a:buNone/>
              <a:defRPr sz="1800" b="0">
                <a:solidFill>
                  <a:srgbClr val="547078"/>
                </a:solidFill>
                <a:latin typeface="Arial"/>
                <a:ea typeface="Arial"/>
                <a:cs typeface="Arial"/>
              </a:defRPr>
            </a:pPr>
            <a:r>
              <a:rPr sz="1800" b="0">
                <a:solidFill>
                  <a:srgbClr val="547078"/>
                </a:solidFill>
                <a:latin typeface="Arial"/>
                <a:ea typeface="Arial"/>
                <a:cs typeface="Arial"/>
              </a:rPr>
              <a:t>Median age: 150 days</a:t>
            </a:r>
          </a:p>
          <a:p>
            <a:pPr>
              <a:buNone/>
              <a:defRPr sz="1800" b="0">
                <a:solidFill>
                  <a:srgbClr val="547078"/>
                </a:solidFill>
                <a:latin typeface="Arial"/>
                <a:ea typeface="Arial"/>
                <a:cs typeface="Arial"/>
              </a:defRPr>
            </a:pPr>
            <a:r>
              <a:rPr sz="1800" b="0">
                <a:solidFill>
                  <a:srgbClr val="547078"/>
                </a:solidFill>
                <a:latin typeface="Arial"/>
                <a:ea typeface="Arial"/>
                <a:cs typeface="Arial"/>
              </a:rPr>
              <a:t>A queue to review</a:t>
            </a:r>
          </a:p>
          <a:p>
            <a:pPr>
              <a:buNone/>
              <a:defRPr sz="1800" b="0">
                <a:solidFill>
                  <a:srgbClr val="547078"/>
                </a:solidFill>
                <a:latin typeface="Arial"/>
                <a:ea typeface="Arial"/>
                <a:cs typeface="Arial"/>
              </a:defRPr>
            </a:pPr>
            <a:r>
              <a:rPr sz="1800" b="0">
                <a:solidFill>
                  <a:srgbClr val="547078"/>
                </a:solidFill>
                <a:latin typeface="Arial"/>
                <a:ea typeface="Arial"/>
                <a:cs typeface="Arial"/>
              </a:rPr>
              <a:t>with the workshop</a:t>
            </a:r>
          </a:p>
        </p:txBody>
      </p:sp>
      <p:sp>
        <p:nvSpPr>
          <p:cNvPr id="9" name="Rectangle 8">
            <a:extLst>
              <a:ext uri="{FF2B5EF4-FFF2-40B4-BE49-F238E27FC236}">
                <a16:creationId xmlns:a16="http://schemas.microsoft.com/office/drawing/2014/main" id="{9D437113-C8BC-46D9-90CA-275F57FD0849}"/>
              </a:ext>
            </a:extLst>
          </p:cNvPr>
          <p:cNvSpPr>
            <a:spLocks noGrp="1"/>
          </p:cNvSpPr>
          <p:nvPr/>
        </p:nvSpPr>
        <p:spPr>
          <a:xfrm>
            <a:off x="609600" y="6000750"/>
            <a:ext cx="10810875" cy="361950"/>
          </a:xfrm>
          <a:prstGeom prst="rect">
            <a:avLst/>
          </a:prstGeom>
          <a:noFill/>
          <a:ln w="0">
            <a:noFill/>
          </a:ln>
        </p:spPr>
        <p:txBody>
          <a:bodyPr>
            <a:noAutofit/>
          </a:bodyPr>
          <a:lstStyle/>
          <a:p>
            <a:pPr>
              <a:buNone/>
              <a:defRPr sz="1575" b="0">
                <a:solidFill>
                  <a:srgbClr val="547078"/>
                </a:solidFill>
                <a:latin typeface="Arial"/>
                <a:ea typeface="Arial"/>
                <a:cs typeface="Arial"/>
              </a:defRPr>
            </a:pPr>
            <a:r>
              <a:rPr sz="1575" b="0">
                <a:solidFill>
                  <a:srgbClr val="547078"/>
                </a:solidFill>
                <a:latin typeface="Arial"/>
                <a:ea typeface="Arial"/>
                <a:cs typeface="Arial"/>
              </a:rPr>
              <a:t>216 replacements trigger 389 R&amp;I operations — billable work hidden in the raw note.</a:t>
            </a:r>
          </a:p>
        </p:txBody>
      </p:sp>
      <p:graphicFrame>
        <p:nvGraphicFramePr>
          <p:cNvPr id="20" name="Chart"/>
          <p:cNvGraphicFramePr/>
          <p:nvPr/>
        </p:nvGraphicFramePr>
        <p:xfrm>
          <a:off x="552450" y="1990725"/>
          <a:ext cx="6858000" cy="370522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5658772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C389F48-7629-4AD2-B4AD-5458322DA05D}"/>
              </a:ext>
            </a:extLst>
          </p:cNvPr>
          <p:cNvSpPr>
            <a:spLocks noGrp="1"/>
          </p:cNvSpPr>
          <p:nvPr/>
        </p:nvSpPr>
        <p:spPr>
          <a:xfrm>
            <a:off x="609600" y="409575"/>
            <a:ext cx="10953750" cy="714375"/>
          </a:xfrm>
          <a:prstGeom prst="rect">
            <a:avLst/>
          </a:prstGeom>
          <a:noFill/>
          <a:ln w="0">
            <a:noFill/>
          </a:ln>
        </p:spPr>
        <p:txBody>
          <a:bodyPr>
            <a:noAutofit/>
          </a:bodyPr>
          <a:lstStyle/>
          <a:p>
            <a:pPr>
              <a:buNone/>
              <a:defRPr sz="3225" b="1">
                <a:solidFill>
                  <a:srgbClr val="102C36"/>
                </a:solidFill>
                <a:latin typeface="Arial"/>
                <a:ea typeface="Arial"/>
                <a:cs typeface="Arial"/>
              </a:defRPr>
            </a:pPr>
            <a:r>
              <a:rPr sz="3225" b="1">
                <a:solidFill>
                  <a:srgbClr val="102C36"/>
                </a:solidFill>
                <a:latin typeface="Arial"/>
                <a:ea typeface="Arial"/>
                <a:cs typeface="Arial"/>
              </a:rPr>
              <a:t>Where it breaks</a:t>
            </a:r>
          </a:p>
        </p:txBody>
      </p:sp>
      <p:sp>
        <p:nvSpPr>
          <p:cNvPr id="2" name="Rectangle 1">
            <a:extLst>
              <a:ext uri="{FF2B5EF4-FFF2-40B4-BE49-F238E27FC236}">
                <a16:creationId xmlns:a16="http://schemas.microsoft.com/office/drawing/2014/main" id="{1F279D86-D8BF-4076-A107-1F1D8EDDFB29}"/>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06</a:t>
            </a:r>
          </a:p>
        </p:txBody>
      </p:sp>
      <p:sp>
        <p:nvSpPr>
          <p:cNvPr id="3" name="Rectangle 2">
            <a:extLst>
              <a:ext uri="{FF2B5EF4-FFF2-40B4-BE49-F238E27FC236}">
                <a16:creationId xmlns:a16="http://schemas.microsoft.com/office/drawing/2014/main" id="{0E181C90-9565-4CBE-99B0-94615C2FE127}"/>
              </a:ext>
            </a:extLst>
          </p:cNvPr>
          <p:cNvSpPr>
            <a:spLocks noGrp="1"/>
          </p:cNvSpPr>
          <p:nvPr/>
        </p:nvSpPr>
        <p:spPr>
          <a:xfrm>
            <a:off x="609600" y="1466850"/>
            <a:ext cx="6286500" cy="447675"/>
          </a:xfrm>
          <a:prstGeom prst="rect">
            <a:avLst/>
          </a:prstGeom>
          <a:noFill/>
          <a:ln w="0">
            <a:noFill/>
          </a:ln>
        </p:spPr>
        <p:txBody>
          <a:bodyPr>
            <a:noAutofit/>
          </a:bodyPr>
          <a:lstStyle/>
          <a:p>
            <a:pPr>
              <a:buNone/>
              <a:defRPr sz="2250" b="1">
                <a:solidFill>
                  <a:srgbClr val="102C36"/>
                </a:solidFill>
                <a:latin typeface="Arial"/>
                <a:ea typeface="Arial"/>
                <a:cs typeface="Arial"/>
              </a:defRPr>
            </a:pPr>
            <a:r>
              <a:rPr sz="2250" b="1">
                <a:solidFill>
                  <a:srgbClr val="102C36"/>
                </a:solidFill>
                <a:latin typeface="Arial"/>
                <a:ea typeface="Arial"/>
                <a:cs typeface="Arial"/>
              </a:rPr>
              <a:t>The key R&amp;I limitation</a:t>
            </a:r>
          </a:p>
        </p:txBody>
      </p:sp>
      <p:sp>
        <p:nvSpPr>
          <p:cNvPr id="4" name="Rectangle 3">
            <a:extLst>
              <a:ext uri="{FF2B5EF4-FFF2-40B4-BE49-F238E27FC236}">
                <a16:creationId xmlns:a16="http://schemas.microsoft.com/office/drawing/2014/main" id="{F76A8715-957D-41E5-BAD0-0B3F1591C4E3}"/>
              </a:ext>
            </a:extLst>
          </p:cNvPr>
          <p:cNvSpPr>
            <a:spLocks noGrp="1"/>
          </p:cNvSpPr>
          <p:nvPr/>
        </p:nvSpPr>
        <p:spPr>
          <a:xfrm>
            <a:off x="609600" y="2114550"/>
            <a:ext cx="6667500" cy="952500"/>
          </a:xfrm>
          <a:prstGeom prst="rect">
            <a:avLst/>
          </a:prstGeom>
          <a:noFill/>
          <a:ln w="0">
            <a:noFill/>
          </a:ln>
        </p:spPr>
        <p:txBody>
          <a:bodyPr>
            <a:noAutofit/>
          </a:bodyPr>
          <a:lstStyle/>
          <a:p>
            <a:pPr>
              <a:buNone/>
              <a:defRPr sz="2025" b="0">
                <a:solidFill>
                  <a:srgbClr val="102C36"/>
                </a:solidFill>
                <a:latin typeface="Arial"/>
                <a:ea typeface="Arial"/>
                <a:cs typeface="Arial"/>
              </a:defRPr>
            </a:pPr>
            <a:r>
              <a:rPr sz="2025" b="0">
                <a:solidFill>
                  <a:srgbClr val="102C36"/>
                </a:solidFill>
                <a:latin typeface="Arial"/>
                <a:ea typeface="Arial"/>
                <a:cs typeface="Arial"/>
              </a:rPr>
              <a:t>“How do we know which parts to remove</a:t>
            </a:r>
          </a:p>
          <a:p>
            <a:pPr>
              <a:buNone/>
              <a:defRPr sz="2025" b="0">
                <a:solidFill>
                  <a:srgbClr val="102C36"/>
                </a:solidFill>
                <a:latin typeface="Arial"/>
                <a:ea typeface="Arial"/>
                <a:cs typeface="Arial"/>
              </a:defRPr>
            </a:pPr>
            <a:r>
              <a:rPr sz="2025" b="0">
                <a:solidFill>
                  <a:srgbClr val="102C36"/>
                </a:solidFill>
                <a:latin typeface="Arial"/>
                <a:ea typeface="Arial"/>
                <a:cs typeface="Arial"/>
              </a:rPr>
              <a:t>in order to repair another one?”</a:t>
            </a:r>
          </a:p>
        </p:txBody>
      </p:sp>
      <p:sp>
        <p:nvSpPr>
          <p:cNvPr id="5" name="Rectangle 4">
            <a:extLst>
              <a:ext uri="{FF2B5EF4-FFF2-40B4-BE49-F238E27FC236}">
                <a16:creationId xmlns:a16="http://schemas.microsoft.com/office/drawing/2014/main" id="{B819C22A-19B2-4757-8D54-2B69F0CDC573}"/>
              </a:ext>
            </a:extLst>
          </p:cNvPr>
          <p:cNvSpPr>
            <a:spLocks noGrp="1"/>
          </p:cNvSpPr>
          <p:nvPr/>
        </p:nvSpPr>
        <p:spPr>
          <a:xfrm>
            <a:off x="609600" y="3381375"/>
            <a:ext cx="6667500" cy="857250"/>
          </a:xfrm>
          <a:prstGeom prst="rect">
            <a:avLst/>
          </a:prstGeom>
          <a:noFill/>
          <a:ln w="0">
            <a:noFill/>
          </a:ln>
        </p:spPr>
        <p:txBody>
          <a:bodyPr>
            <a:noAutofit/>
          </a:bodyPr>
          <a:lstStyle/>
          <a:p>
            <a:pPr>
              <a:buNone/>
              <a:defRPr sz="2025" b="0">
                <a:solidFill>
                  <a:srgbClr val="102C36"/>
                </a:solidFill>
                <a:latin typeface="Arial"/>
                <a:ea typeface="Arial"/>
                <a:cs typeface="Arial"/>
              </a:defRPr>
            </a:pPr>
            <a:r>
              <a:rPr sz="2025" b="0">
                <a:solidFill>
                  <a:srgbClr val="102C36"/>
                </a:solidFill>
                <a:latin typeface="Arial"/>
                <a:ea typeface="Arial"/>
                <a:cs typeface="Arial"/>
              </a:rPr>
              <a:t>A hand-reviewed adjacency table, bodywork only.</a:t>
            </a:r>
          </a:p>
          <a:p>
            <a:pPr>
              <a:buNone/>
              <a:defRPr sz="2025" b="0">
                <a:solidFill>
                  <a:srgbClr val="102C36"/>
                </a:solidFill>
                <a:latin typeface="Arial"/>
                <a:ea typeface="Arial"/>
                <a:cs typeface="Arial"/>
              </a:defRPr>
            </a:pPr>
            <a:r>
              <a:rPr sz="2025" b="0">
                <a:solidFill>
                  <a:srgbClr val="102C36"/>
                </a:solidFill>
                <a:latin typeface="Arial"/>
                <a:ea typeface="Arial"/>
                <a:cs typeface="Arial"/>
              </a:rPr>
              <a:t>Expert rules, unverified against ground truth.</a:t>
            </a:r>
          </a:p>
        </p:txBody>
      </p:sp>
      <p:sp>
        <p:nvSpPr>
          <p:cNvPr id="6" name="Rectangle 5">
            <a:extLst>
              <a:ext uri="{FF2B5EF4-FFF2-40B4-BE49-F238E27FC236}">
                <a16:creationId xmlns:a16="http://schemas.microsoft.com/office/drawing/2014/main" id="{CD561742-7960-4149-933B-C9EE70756C2D}"/>
              </a:ext>
            </a:extLst>
          </p:cNvPr>
          <p:cNvSpPr>
            <a:spLocks noGrp="1"/>
          </p:cNvSpPr>
          <p:nvPr/>
        </p:nvSpPr>
        <p:spPr>
          <a:xfrm>
            <a:off x="609600" y="4505325"/>
            <a:ext cx="6667500" cy="895350"/>
          </a:xfrm>
          <a:prstGeom prst="rect">
            <a:avLst/>
          </a:prstGeom>
          <a:noFill/>
          <a:ln w="0">
            <a:noFill/>
          </a:ln>
        </p:spPr>
        <p:txBody>
          <a:bodyPr>
            <a:noAutofit/>
          </a:bodyPr>
          <a:lstStyle/>
          <a:p>
            <a:pPr>
              <a:buNone/>
              <a:defRPr sz="2025" b="0">
                <a:solidFill>
                  <a:srgbClr val="102C36"/>
                </a:solidFill>
                <a:latin typeface="Arial"/>
                <a:ea typeface="Arial"/>
                <a:cs typeface="Arial"/>
              </a:defRPr>
            </a:pPr>
            <a:r>
              <a:rPr sz="2025" b="0">
                <a:solidFill>
                  <a:srgbClr val="102C36"/>
                </a:solidFill>
                <a:latin typeface="Arial"/>
                <a:ea typeface="Arial"/>
                <a:cs typeface="Arial"/>
              </a:rPr>
              <a:t>Ground truth: zones, severity, kind, insurance, stage.</a:t>
            </a:r>
          </a:p>
          <a:p>
            <a:pPr>
              <a:buNone/>
              <a:defRPr sz="2025" b="0">
                <a:solidFill>
                  <a:srgbClr val="102C36"/>
                </a:solidFill>
                <a:latin typeface="Arial"/>
                <a:ea typeface="Arial"/>
                <a:cs typeface="Arial"/>
              </a:defRPr>
            </a:pPr>
            <a:r>
              <a:rPr sz="2025" b="0">
                <a:solidFill>
                  <a:srgbClr val="102C36"/>
                </a:solidFill>
                <a:latin typeface="Arial"/>
                <a:ea typeface="Arial"/>
                <a:cs typeface="Arial"/>
              </a:rPr>
              <a:t>No parts, removal or operation labels.</a:t>
            </a:r>
          </a:p>
        </p:txBody>
      </p:sp>
      <p:sp>
        <p:nvSpPr>
          <p:cNvPr id="7" name="Rectangle 6">
            <a:extLst>
              <a:ext uri="{FF2B5EF4-FFF2-40B4-BE49-F238E27FC236}">
                <a16:creationId xmlns:a16="http://schemas.microsoft.com/office/drawing/2014/main" id="{05C8C0DA-366F-48DC-9AED-DBFE564313CB}"/>
              </a:ext>
            </a:extLst>
          </p:cNvPr>
          <p:cNvSpPr>
            <a:spLocks noGrp="1"/>
          </p:cNvSpPr>
          <p:nvPr/>
        </p:nvSpPr>
        <p:spPr>
          <a:xfrm>
            <a:off x="7962900" y="1466850"/>
            <a:ext cx="3333750" cy="447675"/>
          </a:xfrm>
          <a:prstGeom prst="rect">
            <a:avLst/>
          </a:prstGeom>
          <a:noFill/>
          <a:ln w="0">
            <a:noFill/>
          </a:ln>
        </p:spPr>
        <p:txBody>
          <a:bodyPr>
            <a:noAutofit/>
          </a:bodyPr>
          <a:lstStyle/>
          <a:p>
            <a:pPr>
              <a:buNone/>
              <a:defRPr sz="2250" b="1">
                <a:solidFill>
                  <a:srgbClr val="007F75"/>
                </a:solidFill>
                <a:latin typeface="Arial"/>
                <a:ea typeface="Arial"/>
                <a:cs typeface="Arial"/>
              </a:defRPr>
            </a:pPr>
            <a:r>
              <a:rPr sz="2250" b="1">
                <a:solidFill>
                  <a:srgbClr val="007F75"/>
                </a:solidFill>
                <a:latin typeface="Arial"/>
                <a:ea typeface="Arial"/>
                <a:cs typeface="Arial"/>
              </a:rPr>
              <a:t>Other limits</a:t>
            </a:r>
          </a:p>
        </p:txBody>
      </p:sp>
      <p:sp>
        <p:nvSpPr>
          <p:cNvPr id="8" name="Rectangle 7">
            <a:extLst>
              <a:ext uri="{FF2B5EF4-FFF2-40B4-BE49-F238E27FC236}">
                <a16:creationId xmlns:a16="http://schemas.microsoft.com/office/drawing/2014/main" id="{3B75BDFE-74AA-4D75-B56B-D4D3E2FBC8FF}"/>
              </a:ext>
            </a:extLst>
          </p:cNvPr>
          <p:cNvSpPr>
            <a:spLocks noGrp="1"/>
          </p:cNvSpPr>
          <p:nvPr/>
        </p:nvSpPr>
        <p:spPr>
          <a:xfrm>
            <a:off x="7962900" y="2219325"/>
            <a:ext cx="3333750" cy="8763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Synthetic phrase library:</a:t>
            </a:r>
          </a:p>
          <a:p>
            <a:pPr>
              <a:buNone/>
              <a:defRPr sz="1875" b="0">
                <a:solidFill>
                  <a:srgbClr val="547078"/>
                </a:solidFill>
                <a:latin typeface="Arial"/>
                <a:ea typeface="Arial"/>
                <a:cs typeface="Arial"/>
              </a:defRPr>
            </a:pPr>
            <a:r>
              <a:rPr sz="1875" b="0">
                <a:solidFill>
                  <a:srgbClr val="547078"/>
                </a:solidFill>
                <a:latin typeface="Arial"/>
                <a:ea typeface="Arial"/>
                <a:cs typeface="Arial"/>
              </a:rPr>
              <a:t>regex looks artificially strong</a:t>
            </a:r>
          </a:p>
        </p:txBody>
      </p:sp>
      <p:sp>
        <p:nvSpPr>
          <p:cNvPr id="9" name="Rectangle 8">
            <a:extLst>
              <a:ext uri="{FF2B5EF4-FFF2-40B4-BE49-F238E27FC236}">
                <a16:creationId xmlns:a16="http://schemas.microsoft.com/office/drawing/2014/main" id="{083F0F77-EC28-4E74-B2DD-1DAC3E22F23D}"/>
              </a:ext>
            </a:extLst>
          </p:cNvPr>
          <p:cNvSpPr>
            <a:spLocks noGrp="1"/>
          </p:cNvSpPr>
          <p:nvPr/>
        </p:nvSpPr>
        <p:spPr>
          <a:xfrm>
            <a:off x="7962900" y="3457575"/>
            <a:ext cx="3333750" cy="8763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Severity ceiling:</a:t>
            </a:r>
          </a:p>
          <a:p>
            <a:pPr>
              <a:buNone/>
              <a:defRPr sz="1875" b="0">
                <a:solidFill>
                  <a:srgbClr val="547078"/>
                </a:solidFill>
                <a:latin typeface="Arial"/>
                <a:ea typeface="Arial"/>
                <a:cs typeface="Arial"/>
              </a:defRPr>
            </a:pPr>
            <a:r>
              <a:rPr sz="1875" b="0">
                <a:solidFill>
                  <a:srgbClr val="547078"/>
                </a:solidFill>
                <a:latin typeface="Arial"/>
                <a:ea typeface="Arial"/>
                <a:cs typeface="Arial"/>
              </a:rPr>
              <a:t>a limit in the data</a:t>
            </a:r>
          </a:p>
        </p:txBody>
      </p:sp>
      <p:sp>
        <p:nvSpPr>
          <p:cNvPr id="10" name="Rectangle 9">
            <a:extLst>
              <a:ext uri="{FF2B5EF4-FFF2-40B4-BE49-F238E27FC236}">
                <a16:creationId xmlns:a16="http://schemas.microsoft.com/office/drawing/2014/main" id="{E7E7DBCA-9497-4FB0-A559-61AD4249BD49}"/>
              </a:ext>
            </a:extLst>
          </p:cNvPr>
          <p:cNvSpPr>
            <a:spLocks noGrp="1"/>
          </p:cNvSpPr>
          <p:nvPr/>
        </p:nvSpPr>
        <p:spPr>
          <a:xfrm>
            <a:off x="7962900" y="4695825"/>
            <a:ext cx="3333750" cy="8763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2 unmapped terms:</a:t>
            </a:r>
          </a:p>
          <a:p>
            <a:pPr>
              <a:buNone/>
              <a:defRPr sz="1875" b="0">
                <a:solidFill>
                  <a:srgbClr val="547078"/>
                </a:solidFill>
                <a:latin typeface="Arial"/>
                <a:ea typeface="Arial"/>
                <a:cs typeface="Arial"/>
              </a:defRPr>
            </a:pPr>
            <a:r>
              <a:rPr sz="1875" b="0">
                <a:solidFill>
                  <a:srgbClr val="547078"/>
                </a:solidFill>
                <a:latin typeface="Arial"/>
                <a:ea typeface="Arial"/>
                <a:cs typeface="Arial"/>
              </a:rPr>
              <a:t>flagged, never dropped</a:t>
            </a:r>
          </a:p>
        </p:txBody>
      </p:sp>
      <p:sp>
        <p:nvSpPr>
          <p:cNvPr id="11" name="Rectangle 10">
            <a:extLst>
              <a:ext uri="{FF2B5EF4-FFF2-40B4-BE49-F238E27FC236}">
                <a16:creationId xmlns:a16="http://schemas.microsoft.com/office/drawing/2014/main" id="{CD34A495-CE5A-4E7E-9DBF-ED860B8E05B7}"/>
              </a:ext>
            </a:extLst>
          </p:cNvPr>
          <p:cNvSpPr>
            <a:spLocks noGrp="1"/>
          </p:cNvSpPr>
          <p:nvPr/>
        </p:nvSpPr>
        <p:spPr>
          <a:xfrm>
            <a:off x="609600" y="6000750"/>
            <a:ext cx="10763250" cy="381000"/>
          </a:xfrm>
          <a:prstGeom prst="rect">
            <a:avLst/>
          </a:prstGeom>
          <a:noFill/>
          <a:ln w="0">
            <a:noFill/>
          </a:ln>
        </p:spPr>
        <p:txBody>
          <a:bodyPr>
            <a:noAutofit/>
          </a:bodyPr>
          <a:lstStyle/>
          <a:p>
            <a:pPr>
              <a:buNone/>
              <a:defRPr sz="1650" b="0">
                <a:solidFill>
                  <a:srgbClr val="007F75"/>
                </a:solidFill>
                <a:latin typeface="Arial"/>
                <a:ea typeface="Arial"/>
                <a:cs typeface="Arial"/>
              </a:defRPr>
            </a:pPr>
            <a:r>
              <a:rPr sz="1650" b="0">
                <a:solidFill>
                  <a:srgbClr val="007F75"/>
                </a:solidFill>
                <a:latin typeface="Arial"/>
                <a:ea typeface="Arial"/>
                <a:cs typeface="Arial"/>
              </a:rPr>
              <a:t>Next: workshop validation and real repair histories. Mechanical R&amp;I is out of scope.</a:t>
            </a:r>
          </a:p>
        </p:txBody>
      </p:sp>
    </p:spTree>
    <p:extLst>
      <p:ext uri="{BB962C8B-B14F-4D97-AF65-F5344CB8AC3E}">
        <p14:creationId xmlns:p14="http://schemas.microsoft.com/office/powerpoint/2010/main" val="1424090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7BDACD64-46C6-49A3-A770-9769CE4D17FE}"/>
              </a:ext>
            </a:extLst>
          </p:cNvPr>
          <p:cNvSpPr>
            <a:spLocks noGrp="1"/>
          </p:cNvSpPr>
          <p:nvPr/>
        </p:nvSpPr>
        <p:spPr>
          <a:xfrm>
            <a:off x="609600" y="409575"/>
            <a:ext cx="10953750" cy="714375"/>
          </a:xfrm>
          <a:prstGeom prst="rect">
            <a:avLst/>
          </a:prstGeom>
          <a:noFill/>
          <a:ln w="0">
            <a:noFill/>
          </a:ln>
        </p:spPr>
        <p:txBody>
          <a:bodyPr>
            <a:noAutofit/>
          </a:bodyPr>
          <a:lstStyle/>
          <a:p>
            <a:pPr>
              <a:buNone/>
              <a:defRPr sz="3225" b="1">
                <a:solidFill>
                  <a:srgbClr val="102C36"/>
                </a:solidFill>
                <a:latin typeface="Arial"/>
                <a:ea typeface="Arial"/>
                <a:cs typeface="Arial"/>
              </a:defRPr>
            </a:pPr>
            <a:r>
              <a:rPr sz="3225" b="1">
                <a:solidFill>
                  <a:srgbClr val="102C36"/>
                </a:solidFill>
                <a:latin typeface="Arial"/>
                <a:ea typeface="Arial"/>
                <a:cs typeface="Arial"/>
              </a:rPr>
              <a:t>Live and next</a:t>
            </a:r>
          </a:p>
        </p:txBody>
      </p:sp>
      <p:sp>
        <p:nvSpPr>
          <p:cNvPr id="2" name="Rectangle 1">
            <a:extLst>
              <a:ext uri="{FF2B5EF4-FFF2-40B4-BE49-F238E27FC236}">
                <a16:creationId xmlns:a16="http://schemas.microsoft.com/office/drawing/2014/main" id="{3EA85EF9-7674-495A-ACED-C3C810E7EB39}"/>
              </a:ext>
            </a:extLst>
          </p:cNvPr>
          <p:cNvSpPr>
            <a:spLocks noGrp="1"/>
          </p:cNvSpPr>
          <p:nvPr/>
        </p:nvSpPr>
        <p:spPr>
          <a:xfrm>
            <a:off x="11144250" y="6324600"/>
            <a:ext cx="476250" cy="285750"/>
          </a:xfrm>
          <a:prstGeom prst="rect">
            <a:avLst/>
          </a:prstGeom>
          <a:noFill/>
          <a:ln w="0">
            <a:noFill/>
          </a:ln>
        </p:spPr>
        <p:txBody>
          <a:bodyPr>
            <a:noAutofit/>
          </a:bodyPr>
          <a:lstStyle/>
          <a:p>
            <a:pPr>
              <a:buNone/>
              <a:defRPr sz="1350" b="0">
                <a:solidFill>
                  <a:srgbClr val="547078"/>
                </a:solidFill>
                <a:latin typeface="Arial"/>
                <a:ea typeface="Arial"/>
                <a:cs typeface="Arial"/>
              </a:defRPr>
            </a:pPr>
            <a:r>
              <a:rPr sz="1350" b="0">
                <a:solidFill>
                  <a:srgbClr val="547078"/>
                </a:solidFill>
                <a:latin typeface="Arial"/>
                <a:ea typeface="Arial"/>
                <a:cs typeface="Arial"/>
              </a:rPr>
              <a:t>07</a:t>
            </a:r>
          </a:p>
        </p:txBody>
      </p:sp>
      <p:sp>
        <p:nvSpPr>
          <p:cNvPr id="3" name="Rectangle 2">
            <a:extLst>
              <a:ext uri="{FF2B5EF4-FFF2-40B4-BE49-F238E27FC236}">
                <a16:creationId xmlns:a16="http://schemas.microsoft.com/office/drawing/2014/main" id="{AFE3D03B-DF02-4B5C-A3F5-4CC846EE9AD8}"/>
              </a:ext>
            </a:extLst>
          </p:cNvPr>
          <p:cNvSpPr>
            <a:spLocks noGrp="1"/>
          </p:cNvSpPr>
          <p:nvPr/>
        </p:nvSpPr>
        <p:spPr>
          <a:xfrm>
            <a:off x="609600" y="152400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01</a:t>
            </a:r>
          </a:p>
        </p:txBody>
      </p:sp>
      <p:sp>
        <p:nvSpPr>
          <p:cNvPr id="4" name="Rectangle 3">
            <a:extLst>
              <a:ext uri="{FF2B5EF4-FFF2-40B4-BE49-F238E27FC236}">
                <a16:creationId xmlns:a16="http://schemas.microsoft.com/office/drawing/2014/main" id="{8014000B-D2D6-4796-A1E6-1E618D136650}"/>
              </a:ext>
            </a:extLst>
          </p:cNvPr>
          <p:cNvSpPr>
            <a:spLocks noGrp="1"/>
          </p:cNvSpPr>
          <p:nvPr/>
        </p:nvSpPr>
        <p:spPr>
          <a:xfrm>
            <a:off x="1466850" y="152400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Live, public dashboard</a:t>
            </a:r>
          </a:p>
        </p:txBody>
      </p:sp>
      <p:sp>
        <p:nvSpPr>
          <p:cNvPr id="5" name="Rectangle 4">
            <a:extLst>
              <a:ext uri="{FF2B5EF4-FFF2-40B4-BE49-F238E27FC236}">
                <a16:creationId xmlns:a16="http://schemas.microsoft.com/office/drawing/2014/main" id="{F586B2EF-AE83-4759-A5FD-D7F0B078C278}"/>
              </a:ext>
            </a:extLst>
          </p:cNvPr>
          <p:cNvSpPr>
            <a:spLocks noGrp="1"/>
          </p:cNvSpPr>
          <p:nvPr/>
        </p:nvSpPr>
        <p:spPr>
          <a:xfrm>
            <a:off x="1466850" y="198120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hlinkClick r:id="rId3"/>
              </a:rPr>
              <a:t>wolf-day-damage.vercel.app/dashboard</a:t>
            </a:r>
          </a:p>
        </p:txBody>
      </p:sp>
      <p:sp>
        <p:nvSpPr>
          <p:cNvPr id="6" name="Rectangle 5">
            <a:extLst>
              <a:ext uri="{FF2B5EF4-FFF2-40B4-BE49-F238E27FC236}">
                <a16:creationId xmlns:a16="http://schemas.microsoft.com/office/drawing/2014/main" id="{9D4244CA-27DC-40D6-8AFA-08C4F3B00560}"/>
              </a:ext>
            </a:extLst>
          </p:cNvPr>
          <p:cNvSpPr>
            <a:spLocks noGrp="1"/>
          </p:cNvSpPr>
          <p:nvPr/>
        </p:nvSpPr>
        <p:spPr>
          <a:xfrm>
            <a:off x="609600" y="257175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02</a:t>
            </a:r>
          </a:p>
        </p:txBody>
      </p:sp>
      <p:sp>
        <p:nvSpPr>
          <p:cNvPr id="7" name="Rectangle 6">
            <a:extLst>
              <a:ext uri="{FF2B5EF4-FFF2-40B4-BE49-F238E27FC236}">
                <a16:creationId xmlns:a16="http://schemas.microsoft.com/office/drawing/2014/main" id="{FD7984A3-654D-4EEF-B0A6-A9F86F939C77}"/>
              </a:ext>
            </a:extLst>
          </p:cNvPr>
          <p:cNvSpPr>
            <a:spLocks noGrp="1"/>
          </p:cNvSpPr>
          <p:nvPr/>
        </p:nvSpPr>
        <p:spPr>
          <a:xfrm>
            <a:off x="1466850" y="257175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For the workshop mechanic</a:t>
            </a:r>
          </a:p>
        </p:txBody>
      </p:sp>
      <p:sp>
        <p:nvSpPr>
          <p:cNvPr id="8" name="Rectangle 7">
            <a:extLst>
              <a:ext uri="{FF2B5EF4-FFF2-40B4-BE49-F238E27FC236}">
                <a16:creationId xmlns:a16="http://schemas.microsoft.com/office/drawing/2014/main" id="{BA85B0F8-E75F-48ED-867C-D45A8B045F24}"/>
              </a:ext>
            </a:extLst>
          </p:cNvPr>
          <p:cNvSpPr>
            <a:spLocks noGrp="1"/>
          </p:cNvSpPr>
          <p:nvPr/>
        </p:nvSpPr>
        <p:spPr>
          <a:xfrm>
            <a:off x="1466850" y="302895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Dashboard · 2D/3D per-vehicle sheet · Model Lab</a:t>
            </a:r>
          </a:p>
        </p:txBody>
      </p:sp>
      <p:sp>
        <p:nvSpPr>
          <p:cNvPr id="9" name="Rectangle 8">
            <a:extLst>
              <a:ext uri="{FF2B5EF4-FFF2-40B4-BE49-F238E27FC236}">
                <a16:creationId xmlns:a16="http://schemas.microsoft.com/office/drawing/2014/main" id="{5F9CFACF-D445-4E2E-B7B1-B02A24E597D2}"/>
              </a:ext>
            </a:extLst>
          </p:cNvPr>
          <p:cNvSpPr>
            <a:spLocks noGrp="1"/>
          </p:cNvSpPr>
          <p:nvPr/>
        </p:nvSpPr>
        <p:spPr>
          <a:xfrm>
            <a:off x="609600" y="361950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03</a:t>
            </a:r>
          </a:p>
        </p:txBody>
      </p:sp>
      <p:sp>
        <p:nvSpPr>
          <p:cNvPr id="10" name="Rectangle 9">
            <a:extLst>
              <a:ext uri="{FF2B5EF4-FFF2-40B4-BE49-F238E27FC236}">
                <a16:creationId xmlns:a16="http://schemas.microsoft.com/office/drawing/2014/main" id="{E97C1399-AA0E-44C0-85F5-49CD917E0E6F}"/>
              </a:ext>
            </a:extLst>
          </p:cNvPr>
          <p:cNvSpPr>
            <a:spLocks noGrp="1"/>
          </p:cNvSpPr>
          <p:nvPr/>
        </p:nvSpPr>
        <p:spPr>
          <a:xfrm>
            <a:off x="1466850" y="361950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Validate on real notes</a:t>
            </a:r>
          </a:p>
        </p:txBody>
      </p:sp>
      <p:sp>
        <p:nvSpPr>
          <p:cNvPr id="11" name="Rectangle 10">
            <a:extLst>
              <a:ext uri="{FF2B5EF4-FFF2-40B4-BE49-F238E27FC236}">
                <a16:creationId xmlns:a16="http://schemas.microsoft.com/office/drawing/2014/main" id="{3ACE9503-9C91-4AE4-8F2E-EA959FB41D72}"/>
              </a:ext>
            </a:extLst>
          </p:cNvPr>
          <p:cNvSpPr>
            <a:spLocks noGrp="1"/>
          </p:cNvSpPr>
          <p:nvPr/>
        </p:nvSpPr>
        <p:spPr>
          <a:xfrm>
            <a:off x="1466850" y="407670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Test real production notes and add live technician extraction.</a:t>
            </a:r>
          </a:p>
        </p:txBody>
      </p:sp>
      <p:sp>
        <p:nvSpPr>
          <p:cNvPr id="12" name="Rectangle 11">
            <a:extLst>
              <a:ext uri="{FF2B5EF4-FFF2-40B4-BE49-F238E27FC236}">
                <a16:creationId xmlns:a16="http://schemas.microsoft.com/office/drawing/2014/main" id="{14A9B9E9-62E4-4237-AC2C-EB440953CEEC}"/>
              </a:ext>
            </a:extLst>
          </p:cNvPr>
          <p:cNvSpPr>
            <a:spLocks noGrp="1"/>
          </p:cNvSpPr>
          <p:nvPr/>
        </p:nvSpPr>
        <p:spPr>
          <a:xfrm>
            <a:off x="609600" y="4667250"/>
            <a:ext cx="666750" cy="523875"/>
          </a:xfrm>
          <a:prstGeom prst="rect">
            <a:avLst/>
          </a:prstGeom>
          <a:noFill/>
          <a:ln w="0">
            <a:noFill/>
          </a:ln>
        </p:spPr>
        <p:txBody>
          <a:bodyPr>
            <a:noAutofit/>
          </a:bodyPr>
          <a:lstStyle/>
          <a:p>
            <a:pPr>
              <a:buNone/>
              <a:defRPr sz="2925" b="1">
                <a:solidFill>
                  <a:srgbClr val="007F75"/>
                </a:solidFill>
                <a:latin typeface="Arial"/>
                <a:ea typeface="Arial"/>
                <a:cs typeface="Arial"/>
              </a:defRPr>
            </a:pPr>
            <a:r>
              <a:rPr sz="2925" b="1">
                <a:solidFill>
                  <a:srgbClr val="007F75"/>
                </a:solidFill>
                <a:latin typeface="Arial"/>
                <a:ea typeface="Arial"/>
                <a:cs typeface="Arial"/>
              </a:rPr>
              <a:t>04</a:t>
            </a:r>
          </a:p>
        </p:txBody>
      </p:sp>
      <p:sp>
        <p:nvSpPr>
          <p:cNvPr id="13" name="Rectangle 12">
            <a:extLst>
              <a:ext uri="{FF2B5EF4-FFF2-40B4-BE49-F238E27FC236}">
                <a16:creationId xmlns:a16="http://schemas.microsoft.com/office/drawing/2014/main" id="{55C9C11F-4FE3-4733-AC8B-E6C178E5A9EE}"/>
              </a:ext>
            </a:extLst>
          </p:cNvPr>
          <p:cNvSpPr>
            <a:spLocks noGrp="1"/>
          </p:cNvSpPr>
          <p:nvPr/>
        </p:nvSpPr>
        <p:spPr>
          <a:xfrm>
            <a:off x="1466850" y="4667250"/>
            <a:ext cx="4286250" cy="457200"/>
          </a:xfrm>
          <a:prstGeom prst="rect">
            <a:avLst/>
          </a:prstGeom>
          <a:noFill/>
          <a:ln w="0">
            <a:noFill/>
          </a:ln>
        </p:spPr>
        <p:txBody>
          <a:bodyPr>
            <a:noAutofit/>
          </a:bodyPr>
          <a:lstStyle/>
          <a:p>
            <a:pPr>
              <a:buNone/>
              <a:defRPr sz="2175" b="1">
                <a:solidFill>
                  <a:srgbClr val="102C36"/>
                </a:solidFill>
                <a:latin typeface="Arial"/>
                <a:ea typeface="Arial"/>
                <a:cs typeface="Arial"/>
              </a:defRPr>
            </a:pPr>
            <a:r>
              <a:rPr sz="2175" b="1">
                <a:solidFill>
                  <a:srgbClr val="102C36"/>
                </a:solidFill>
                <a:latin typeface="Arial"/>
                <a:ea typeface="Arial"/>
                <a:cs typeface="Arial"/>
              </a:rPr>
              <a:t>Learn the R&amp;I table</a:t>
            </a:r>
          </a:p>
        </p:txBody>
      </p:sp>
      <p:sp>
        <p:nvSpPr>
          <p:cNvPr id="14" name="Rectangle 13">
            <a:extLst>
              <a:ext uri="{FF2B5EF4-FFF2-40B4-BE49-F238E27FC236}">
                <a16:creationId xmlns:a16="http://schemas.microsoft.com/office/drawing/2014/main" id="{B0697E6F-1CD9-41D3-AA7C-CD67BA9365FB}"/>
              </a:ext>
            </a:extLst>
          </p:cNvPr>
          <p:cNvSpPr>
            <a:spLocks noGrp="1"/>
          </p:cNvSpPr>
          <p:nvPr/>
        </p:nvSpPr>
        <p:spPr>
          <a:xfrm>
            <a:off x="1466850" y="5124450"/>
            <a:ext cx="9620250" cy="457200"/>
          </a:xfrm>
          <a:prstGeom prst="rect">
            <a:avLst/>
          </a:prstGeom>
          <a:noFill/>
          <a:ln w="0">
            <a:noFill/>
          </a:ln>
        </p:spPr>
        <p:txBody>
          <a:bodyPr>
            <a:noAutofit/>
          </a:bodyPr>
          <a:lstStyle/>
          <a:p>
            <a:pPr>
              <a:buNone/>
              <a:defRPr sz="1875" b="0">
                <a:solidFill>
                  <a:srgbClr val="547078"/>
                </a:solidFill>
                <a:latin typeface="Arial"/>
                <a:ea typeface="Arial"/>
                <a:cs typeface="Arial"/>
              </a:defRPr>
            </a:pPr>
            <a:r>
              <a:rPr sz="1875" b="0">
                <a:solidFill>
                  <a:srgbClr val="547078"/>
                </a:solidFill>
                <a:latin typeface="Arial"/>
                <a:ea typeface="Arial"/>
                <a:cs typeface="Arial"/>
              </a:rPr>
              <a:t>Validate with the workshop; learn dependencies from real repair-order histories.</a:t>
            </a:r>
          </a:p>
        </p:txBody>
      </p:sp>
      <p:sp>
        <p:nvSpPr>
          <p:cNvPr id="15" name="Rectangle 14">
            <a:extLst>
              <a:ext uri="{FF2B5EF4-FFF2-40B4-BE49-F238E27FC236}">
                <a16:creationId xmlns:a16="http://schemas.microsoft.com/office/drawing/2014/main" id="{D9BE8FF7-76ED-4858-92BF-9A111C2B89FE}"/>
              </a:ext>
            </a:extLst>
          </p:cNvPr>
          <p:cNvSpPr>
            <a:spLocks noGrp="1"/>
          </p:cNvSpPr>
          <p:nvPr/>
        </p:nvSpPr>
        <p:spPr>
          <a:xfrm>
            <a:off x="609600" y="6000750"/>
            <a:ext cx="10668000" cy="342900"/>
          </a:xfrm>
          <a:prstGeom prst="rect">
            <a:avLst/>
          </a:prstGeom>
          <a:noFill/>
          <a:ln w="0">
            <a:noFill/>
          </a:ln>
        </p:spPr>
        <p:txBody>
          <a:bodyPr>
            <a:noAutofit/>
          </a:bodyPr>
          <a:lstStyle/>
          <a:p>
            <a:pPr>
              <a:buNone/>
              <a:defRPr sz="1650" b="0">
                <a:solidFill>
                  <a:srgbClr val="007F75"/>
                </a:solidFill>
                <a:latin typeface="Arial"/>
                <a:ea typeface="Arial"/>
                <a:cs typeface="Arial"/>
              </a:defRPr>
            </a:pPr>
            <a:r>
              <a:rPr sz="1650" b="0">
                <a:solidFill>
                  <a:srgbClr val="007F75"/>
                </a:solidFill>
                <a:latin typeface="Arial"/>
                <a:ea typeface="Arial"/>
                <a:cs typeface="Arial"/>
              </a:rPr>
              <a:t>Let’s review the dashboard together.</a:t>
            </a:r>
          </a:p>
        </p:txBody>
      </p:sp>
    </p:spTree>
    <p:extLst>
      <p:ext uri="{BB962C8B-B14F-4D97-AF65-F5344CB8AC3E}">
        <p14:creationId xmlns:p14="http://schemas.microsoft.com/office/powerpoint/2010/main" val="208790495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1518</Words>
  <Application>Microsoft Office PowerPoint</Application>
  <DocSecurity>0</DocSecurity>
  <PresentationFormat>Grand écran</PresentationFormat>
  <Paragraphs>154</Paragraphs>
  <Slides>8</Slides>
  <Notes>8</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8</vt:i4>
      </vt:variant>
    </vt:vector>
  </HeadingPairs>
  <TitlesOfParts>
    <vt:vector size="11" baseType="lpstr">
      <vt:lpstr>Arial</vt:lpstr>
      <vt:lpstr>Calibri</vt:lpstr>
      <vt:lpstr>ChatGPT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Mohammed bendaou</cp:lastModifiedBy>
  <cp:revision>4</cp:revision>
  <dcterms:created xsi:type="dcterms:W3CDTF">2026-09-18T17:00:20Z</dcterms:created>
  <dcterms:modified xsi:type="dcterms:W3CDTF">2026-09-18T18:58:25Z</dcterms:modified>
</cp:coreProperties>
</file>