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955500ff6f14556" /><Relationship Type="http://schemas.openxmlformats.org/officeDocument/2006/relationships/extended-properties" Target="/docProps/app.xml" Id="R9029f326599c4631" /><Relationship Type="http://schemas.openxmlformats.org/officeDocument/2006/relationships/officeDocument" Target="/ppt/presentation.xml" Id="Rda64b1f79dc345f8" /></Relationships>
</file>

<file path=ppt/presentation.xml><?xml version="1.0" encoding="utf-8"?>
<p:presentation xmlns:p="http://schemas.openxmlformats.org/presentationml/2006/main">
  <p:sldMasterIdLst>
    <p:sldMasterId xmlns:r="http://schemas.openxmlformats.org/officeDocument/2006/relationships" id="2147483648" r:id="Rb62f042f380a4b10"/>
  </p:sldMasterIdLst>
  <p:notesMasterIdLst>
    <p:notesMasterId xmlns:r="http://schemas.openxmlformats.org/officeDocument/2006/relationships" r:id="R4dc70833060c4c86"/>
  </p:notesMasterIdLst>
  <p:sldIdLst>
    <p:sldId xmlns:r="http://schemas.openxmlformats.org/officeDocument/2006/relationships" id="256" r:id="Ra66d0d730ea24327"/>
    <p:sldId xmlns:r="http://schemas.openxmlformats.org/officeDocument/2006/relationships" id="257" r:id="Rbf19d94dd2384a15"/>
    <p:sldId xmlns:r="http://schemas.openxmlformats.org/officeDocument/2006/relationships" id="258" r:id="Rcb25b37d0f7e4aa0"/>
    <p:sldId xmlns:r="http://schemas.openxmlformats.org/officeDocument/2006/relationships" id="259" r:id="R017f590cc80c4e71"/>
    <p:sldId xmlns:r="http://schemas.openxmlformats.org/officeDocument/2006/relationships" id="260" r:id="R466bfb9265ba4faf"/>
    <p:sldId xmlns:r="http://schemas.openxmlformats.org/officeDocument/2006/relationships" id="261" r:id="R7927b5e920404afc"/>
    <p:sldId xmlns:r="http://schemas.openxmlformats.org/officeDocument/2006/relationships" id="262" r:id="R44cc01346e924b0f"/>
    <p:sldId xmlns:r="http://schemas.openxmlformats.org/officeDocument/2006/relationships" id="263" r:id="Rd91497ad691945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2b9f6b79474930" /><Relationship Type="http://schemas.openxmlformats.org/officeDocument/2006/relationships/slideMaster" Target="/ppt/slideMasters/slideMaster1.xml" Id="Rb62f042f380a4b10" /><Relationship Type="http://schemas.openxmlformats.org/officeDocument/2006/relationships/notesMaster" Target="/ppt/notesMasters/notesMaster1.xml" Id="R4dc70833060c4c86" /><Relationship Type="http://schemas.openxmlformats.org/officeDocument/2006/relationships/presProps" Target="/ppt/presProps.xml" Id="Reb86b03e35c8419d" /><Relationship Type="http://schemas.openxmlformats.org/officeDocument/2006/relationships/tableStyles" Target="/ppt/tableStyles.xml" Id="R5054312a09554453" /><Relationship Type="http://schemas.openxmlformats.org/officeDocument/2006/relationships/slide" Target="/ppt/slides/slide1.xml" Id="Ra66d0d730ea24327" /><Relationship Type="http://schemas.openxmlformats.org/officeDocument/2006/relationships/slide" Target="/ppt/slides/slide2.xml" Id="Rbf19d94dd2384a15" /><Relationship Type="http://schemas.openxmlformats.org/officeDocument/2006/relationships/slide" Target="/ppt/slides/slide3.xml" Id="Rcb25b37d0f7e4aa0" /><Relationship Type="http://schemas.openxmlformats.org/officeDocument/2006/relationships/slide" Target="/ppt/slides/slide4.xml" Id="R017f590cc80c4e71" /><Relationship Type="http://schemas.openxmlformats.org/officeDocument/2006/relationships/slide" Target="/ppt/slides/slide5.xml" Id="R466bfb9265ba4faf" /><Relationship Type="http://schemas.openxmlformats.org/officeDocument/2006/relationships/slide" Target="/ppt/slides/slide6.xml" Id="R7927b5e920404afc" /><Relationship Type="http://schemas.openxmlformats.org/officeDocument/2006/relationships/slide" Target="/ppt/slides/slide7.xml" Id="R44cc01346e924b0f" /><Relationship Type="http://schemas.openxmlformats.org/officeDocument/2006/relationships/slide" Target="/ppt/slides/slide8.xml" Id="Rd91497ad691945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725f52873e43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302f9ef2fb4b1a" /><Relationship Type="http://schemas.openxmlformats.org/officeDocument/2006/relationships/notesMaster" Target="/ppt/notesMasters/notesMaster1.xml" Id="R4b9cd18805f848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fa848b9eda4566" /><Relationship Type="http://schemas.openxmlformats.org/officeDocument/2006/relationships/notesMaster" Target="/ppt/notesMasters/notesMaster1.xml" Id="R5d9f80a77b7046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4f769ec5d94881" /><Relationship Type="http://schemas.openxmlformats.org/officeDocument/2006/relationships/notesMaster" Target="/ppt/notesMasters/notesMaster1.xml" Id="R2f5759e46d7e43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a297a6191f4b87" /><Relationship Type="http://schemas.openxmlformats.org/officeDocument/2006/relationships/notesMaster" Target="/ppt/notesMasters/notesMaster1.xml" Id="Rfa742e432ccf45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fc220f2f27482b" /><Relationship Type="http://schemas.openxmlformats.org/officeDocument/2006/relationships/notesMaster" Target="/ppt/notesMasters/notesMaster1.xml" Id="Re9a11583fb1441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72a2dcea734f2f" /><Relationship Type="http://schemas.openxmlformats.org/officeDocument/2006/relationships/notesMaster" Target="/ppt/notesMasters/notesMaster1.xml" Id="R65abd4808c3749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675e7ed05d43f3" /><Relationship Type="http://schemas.openxmlformats.org/officeDocument/2006/relationships/notesMaster" Target="/ppt/notesMasters/notesMaster1.xml" Id="Rf37a040efd1b4d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00fc6a9e1c476a" /><Relationship Type="http://schemas.openxmlformats.org/officeDocument/2006/relationships/notesMaster" Target="/ppt/notesMasters/notesMaster1.xml" Id="R5d8f4258eb6b41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dive in, here's the live link to the dashboard so you can follow along: wolf-day-damage.vercel.app/dashboard. I'll walk you through what we built, then we'll review the dashboard together — it's designed for the workshop mechanic.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 with 1,000 synthetic German workshop cases: 550 service cases and 450 damage cases. The damage information is locked inside messy, free-text German notes. Extracting it reliably is the challenge.</a:t>
            </a:r>
          </a:p>
          <a:p xmlns:a="http://schemas.openxmlformats.org/drawingml/2006/main">
            <a:r>
              <a:t/>
            </a:r>
          </a:p>
          <a:p xmlns:a="http://schemas.openxmlformats.org/drawingml/2006/main">
            <a:r>
              <a:t>One extraction feeds both deliverables. A German note goes to DeepSeek, which fills a strict Pydantic form with a closed vocabulary and explicit part-plus-side fields. Deterministic repair rules then produce the vehicle sheet and corpus analytics. The LLM only reads; deterministic code decides. German stays German.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case 820002. We retain the original German note and highlight the exact sentence that justifies the damage: “Steinschlag Windschutzscheibe im Sichtfeld Fahrer, Reparatur nicht möglich, Austausch nötig.”</a:t>
            </a:r>
          </a:p>
          <a:p xmlns:a="http://schemas.openxmlformats.org/drawingml/2006/main">
            <a:r>
              <a:t/>
            </a:r>
          </a:p>
          <a:p xmlns:a="http://schemas.openxmlformats.org/drawingml/2006/main">
            <a:r>
              <a:t>The windscreen must be replaced because replacement is stated in the note. The trim/plate is marked for remove-and-install by the adjacency rule. Every coloured region traces back to the verbatim German quote, directly for the damage or through the deterministic adjacency rule for R&amp;I. A blue R&amp;I region does not mean a second damage.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measured results on 977 held-out cases. Damage-zone F1 is 99.9%. Case kind and insurance accuracy are each 100%. Evidence quotes are verbatim in 100% of cases, and no cases are lost. Unmapped terms are flagged, never dropped.</a:t>
            </a:r>
          </a:p>
          <a:p xmlns:a="http://schemas.openxmlformats.org/drawingml/2006/main">
            <a:r>
              <a:t/>
            </a:r>
          </a:p>
          <a:p xmlns:a="http://schemas.openxmlformats.org/drawingml/2006/main">
            <a:r>
              <a:t>The full 1,000-case corpus runs in about 11 minutes, with per-case caching and back-off. A regex baseline ties on zones because the synthetic corpus has a closed vocabulary. However, that baseline scores 0% on severity and 76% on insurance.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Severity is never written explicitly; it must be inferred from the wording. On the same 977 held-out cases, DeepSeek reaches 68.7%, compared with the reported 79.5% data ceiling: about 86% of the extractable signal. That ceiling comes from a majority-label lookup over damage-wording fingerprints. It describes this analysis of the data, not a universal bound for every model or test split.</a:t>
            </a:r>
          </a:p>
          <a:p xmlns:a="http://schemas.openxmlformats.org/drawingml/2006/main">
            <a:r>
              <a:t/>
            </a:r>
          </a:p>
          <a:p xmlns:a="http://schemas.openxmlformats.org/drawingml/2006/main">
            <a:r>
              <a:t>The generator partly decorrelates severity from the text. The identical sentence appears labelled light, medium and severe in different cases. This creates a data limit.</a:t>
            </a:r>
          </a:p>
          <a:p xmlns:a="http://schemas.openxmlformats.org/drawingml/2006/main">
            <a:r>
              <a:t/>
            </a:r>
          </a:p>
          <a:p xmlns:a="http://schemas.openxmlformats.org/drawingml/2006/main">
            <a:r>
              <a:t>We also benchmarked models on a common 150-case severity test: LightGBM 65.3%, DeepSeek 72.7%, LogReg 73.3%, gbert — a fine-tuned German BERT on GPU — 78.7%, and XGBoost 82.0%. Do not compare the XGBoost result on this test directly with the ceiling on the other evaluation scope.</a:t>
            </a:r>
          </a:p>
          <a:p xmlns:a="http://schemas.openxmlformats.org/drawingml/2006/main">
            <a:r>
              <a:t/>
            </a:r>
          </a:p>
          <a:p xmlns:a="http://schemas.openxmlformats.org/drawingml/2006/main">
            <a:r>
              <a:t>The approximately 17-point spread between the two boosting models raises an overfitting concern: models may memorise the synthetic phrase library rather than learn severity. The highest synthetic score is therefore not, by itself, evidence of better real-world generalisation. This spread alone does not prove overfitting. The product ships DeepSeek severity; generalisation to real production notes is the next validation, not an established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actionable observations from our extraction of the 450 damage cases. Parking or manoeuvring accounts for 41.3%, or 186 out of 450: low-severity, high-volume bodywork to review with the dealership.</a:t>
            </a:r>
          </a:p>
          <a:p xmlns:a="http://schemas.openxmlformats.org/drawingml/2006/main">
            <a:r>
              <a:t/>
            </a:r>
          </a:p>
          <a:p xmlns:a="http://schemas.openxmlformats.org/drawingml/2006/main">
            <a:r>
              <a:t>Across the corpus, 668 cases are still open, with a median age of 150 days. This is a queue to review with the shop. Age since creation is not the same as repair duration.</a:t>
            </a:r>
          </a:p>
          <a:p xmlns:a="http://schemas.openxmlformats.org/drawingml/2006/main">
            <a:r>
              <a:t/>
            </a:r>
          </a:p>
          <a:p xmlns:a="http://schemas.openxmlformats.org/drawingml/2006/main">
            <a:r>
              <a:t>There are 216 replacements, which trigger 389 remove-and-install operations. This is potentially billable work that is invisible in the raw note. The R&amp;I count is generated by our expert rules and has not been verified against operation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explicitly: “How do we know which parts to remove in order to repair another one?”</a:t>
            </a:r>
          </a:p>
          <a:p xmlns:a="http://schemas.openxmlformats.org/drawingml/2006/main">
            <a:r>
              <a:t/>
            </a:r>
          </a:p>
          <a:p xmlns:a="http://schemas.openxmlformats.org/drawingml/2006/main">
            <a:r>
              <a:t>Today, the answer comes from a hand-reviewed adjacency table for bodywork only. It does not come from the data. The dataset contains no parts, removal or operation labels at all. Ground truth covers zones, severity, kind, insurance and stage only. The remove-and-install logic is therefore expert-rule-based and unverified against ground truth. Mechanical R&amp;I — for example, removing wheels to work on brake pads — is out of scope.</a:t>
            </a:r>
          </a:p>
          <a:p xmlns:a="http://schemas.openxmlformats.org/drawingml/2006/main">
            <a:r>
              <a:t/>
            </a:r>
          </a:p>
          <a:p xmlns:a="http://schemas.openxmlformats.org/drawingml/2006/main">
            <a:r>
              <a:t>The next step is to validate these adjacency rules with the workshop and, ideally, learn them from real repair-order histories.</a:t>
            </a:r>
          </a:p>
          <a:p xmlns:a="http://schemas.openxmlformats.org/drawingml/2006/main">
            <a:r>
              <a:t/>
            </a:r>
          </a:p>
          <a:p xmlns:a="http://schemas.openxmlformats.org/drawingml/2006/main">
            <a:r>
              <a:t>Other limits: this is a synthetic corpus built from a phrase library, which makes regex look artificially strong. The severity ceiling is a data limitation. There are only 2 unmapped terms in the whole corpus: they are flagged, never dropped.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is live and public: https://wolf-day-damage.vercel.app/dashboard. It includes the dashboard, the 2D/3D per-vehicle sheet and the Model Lab.</a:t>
            </a:r>
          </a:p>
          <a:p xmlns:a="http://schemas.openxmlformats.org/drawingml/2006/main">
            <a:r>
              <a:t/>
            </a:r>
          </a:p>
          <a:p xmlns:a="http://schemas.openxmlformats.org/drawingml/2006/main">
            <a:r>
              <a:t>Next: validate extraction on real production notes, add live technician extraction, and learn the remove-and-install table from repair histories. Let’s review the dashboard together, from the workshop mechanic’s perspective.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35517ce0e449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cdb9b3bf314a2b" /><Relationship Type="http://schemas.openxmlformats.org/officeDocument/2006/relationships/slideLayout" Target="/ppt/slideLayouts/slideLayout1.xml" Id="Rd5a1263136164c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a1263136164c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2a5feab8c24d9e" /><Relationship Type="http://schemas.openxmlformats.org/officeDocument/2006/relationships/hyperlink" Target="https://wolf-day-damage.vercel.app/dashboard" TargetMode="External" Id="R55d34e3b1d094b45" /><Relationship Type="http://schemas.openxmlformats.org/officeDocument/2006/relationships/notesSlide" Target="/ppt/notesSlides/notesSlide1.xml" Id="R4d4a6ae3130843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4af90f60a9d4b3d" /><Relationship Type="http://schemas.openxmlformats.org/officeDocument/2006/relationships/notesSlide" Target="/ppt/notesSlides/notesSlide2.xml" Id="R8ae6c33438d943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0b9f21e0164d1f" /><Relationship Type="http://schemas.openxmlformats.org/officeDocument/2006/relationships/image" Target="/ppt/media/image.png" Id="R5fe1da47078c4b43" /><Relationship Type="http://schemas.openxmlformats.org/officeDocument/2006/relationships/notesSlide" Target="/ppt/notesSlides/notesSlide3.xml" Id="R81ee2e4ca45c4e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e6979d653f4905" /><Relationship Type="http://schemas.openxmlformats.org/officeDocument/2006/relationships/notesSlide" Target="/ppt/notesSlides/notesSlide4.xml" Id="R30490ffb878348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15a3a5094f41a7" /><Relationship Type="http://schemas.openxmlformats.org/officeDocument/2006/relationships/notesSlide" Target="/ppt/notesSlides/notesSlide5.xml" Id="R07f56c04042845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25ad56ae004b46" /><Relationship Type="http://schemas.openxmlformats.org/officeDocument/2006/relationships/chart" Target="/ppt/slides/charts/chart1.xml" Id="R5ee4bbf46f82447e" /><Relationship Type="http://schemas.openxmlformats.org/officeDocument/2006/relationships/notesSlide" Target="/ppt/notesSlides/notesSlide6.xml" Id="R3a59b82e578a44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51bba89b79455c" /><Relationship Type="http://schemas.openxmlformats.org/officeDocument/2006/relationships/notesSlide" Target="/ppt/notesSlides/notesSlide7.xml" Id="R22da2c5a42854f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9611c5c4fe45ff" /><Relationship Type="http://schemas.openxmlformats.org/officeDocument/2006/relationships/hyperlink" Target="https://wolf-day-damage.vercel.app/dashboard" TargetMode="External" Id="Rd4b577f3b94c4ad0" /><Relationship Type="http://schemas.openxmlformats.org/officeDocument/2006/relationships/notesSlide" Target="/ppt/notesSlides/notesSlide8.xml" Id="Rd53308bce0ea42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Operations</c:v>
          </c:tx>
          <c:spPr>
            <a:solidFill xmlns:a="http://schemas.openxmlformats.org/drawingml/2006/main">
              <a:srgbClr val="007F75"/>
            </a:solidFill>
          </c:spPr>
          <c:cat>
            <c:strRef>
              <c:f>'Chart Data'!$A$2:$A$3</c:f>
              <c:strCache>
                <c:ptCount val="2"/>
                <c:pt idx="0">
                  <c:v>Replacements</c:v>
                </c:pt>
                <c:pt idx="1">
                  <c:v>Remove and install</c:v>
                </c:pt>
              </c:strCache>
            </c:strRef>
          </c:cat>
          <c:val>
            <c:numRef>
              <c:f>'Chart Data'!$B$2:$B$3</c:f>
              <c:numCache>
                <c:formatCode>0</c:formatCode>
                <c:ptCount val="2"/>
                <c:pt idx="0">
                  <c:v>216</c:v>
                </c:pt>
                <c:pt idx="1">
                  <c:v>389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crossAx val="48672768"/>
      </c:catAx>
      <c:valAx>
        <c:axId val="48672768"/>
        <c:scaling>
          <c:orientation val="minMax"/>
          <c:max val="450"/>
          <c:min val="0"/>
        </c:scaling>
        <c:delete val="0"/>
        <c:axPos val="b"/>
        <c:majorGridlines>
          <c:spPr>
            <a:ln xmlns:a="http://schemas.openxmlformats.org/drawingml/2006/main" w="9525">
              <a:solidFill>
                <a:srgbClr val="DEE6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7078"/>
                </a:solidFill>
                <a:latin typeface="Arial"/>
                <a:ea typeface="Arial"/>
                <a:cs typeface="Arial"/>
              </a:defRPr>
            </a:pPr>
          </a:p>
        </c:txPr>
        <c:crossAx val="48650112"/>
        <c:crossBetween val="between"/>
        <c:majorUnit val="150"/>
      </c:valAx>
      <c:spPr>
        <a:solidFill xmlns:a="http://schemas.openxmlformats.org/drawingml/2006/main">
          <a:srgbClr val="F5F4EF"/>
        </a:solidFill>
      </c:spPr>
    </c:plotArea>
    <c:plotVisOnly val="1"/>
  </c:chart>
  <c:spPr>
    <a:solidFill xmlns:a="http://schemas.openxmlformats.org/drawingml/2006/main">
      <a:srgbClr val="F5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672F4F-FC53-4090-86C4-98E4434BC7B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FFFFFF"/>
                </a:solidFill>
                <a:latin typeface="Arial"/>
                <a:ea typeface="Arial"/>
                <a:cs typeface="Arial"/>
              </a:defRPr>
            </a:pPr>
            <a:r>
              <a:rPr sz="4800" b="1">
                <a:solidFill>
                  <a:srgbClr val="FFFFFF"/>
                </a:solidFill>
                <a:latin typeface="Arial"/>
                <a:ea typeface="Arial"/>
                <a:cs typeface="Arial"/>
              </a:rPr>
              <a:t>Before we dive in</a:t>
            </a:r>
          </a:p>
        </p:txBody>
      </p:sp>
      <p:sp>
        <p:nvSpPr>
          <p:cNvPr id="2" name="">
            <a:extLst xmlns:a="http://schemas.openxmlformats.org/drawingml/2006/main">
              <a:ext uri="{FF2B5EF4-FFF2-40B4-BE49-F238E27FC236}">
                <a16:creationId xmlns:a16="http://schemas.microsoft.com/office/drawing/2014/main" id="{E90DD583-8423-4710-BBD5-3C5879F001DD}"/>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00</a:t>
            </a:r>
          </a:p>
        </p:txBody>
      </p:sp>
      <p:sp>
        <p:nvSpPr>
          <p:cNvPr id="3" name="">
            <a:extLst xmlns:a="http://schemas.openxmlformats.org/drawingml/2006/main">
              <a:ext uri="{FF2B5EF4-FFF2-40B4-BE49-F238E27FC236}">
                <a16:creationId xmlns:a16="http://schemas.microsoft.com/office/drawing/2014/main" id="{EC670042-1743-4526-83E4-614F385CA364}"/>
              </a:ext>
            </a:extLst>
          </p:cNvPr>
          <p:cNvSpPr>
            <a:spLocks xmlns:a="http://schemas.openxmlformats.org/drawingml/2006/main" noGrp="1"/>
          </p:cNvSpPr>
          <p:nvPr/>
        </p:nvSpPr>
        <p:spPr>
          <a:xfrm xmlns:a="http://schemas.openxmlformats.org/drawingml/2006/main">
            <a:off x="609600" y="188595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Here’s the live dashboard</a:t>
            </a:r>
          </a:p>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so you can follow along</a:t>
            </a:r>
          </a:p>
        </p:txBody>
      </p:sp>
      <p:sp>
        <p:nvSpPr>
          <p:cNvPr id="4" name="">
            <a:extLst xmlns:a="http://schemas.openxmlformats.org/drawingml/2006/main">
              <a:ext uri="{FF2B5EF4-FFF2-40B4-BE49-F238E27FC236}">
                <a16:creationId xmlns:a16="http://schemas.microsoft.com/office/drawing/2014/main" id="{C7BEB761-EA07-4F19-8B4C-76BCE8485B99}"/>
              </a:ext>
            </a:extLst>
          </p:cNvPr>
          <p:cNvSpPr>
            <a:spLocks xmlns:a="http://schemas.openxmlformats.org/drawingml/2006/main" noGrp="1"/>
          </p:cNvSpPr>
          <p:nvPr/>
        </p:nvSpPr>
        <p:spPr>
          <a:xfrm xmlns:a="http://schemas.openxmlformats.org/drawingml/2006/main">
            <a:off x="609600" y="370522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B9D7D4"/>
                </a:solidFill>
                <a:latin typeface="Arial"/>
                <a:ea typeface="Arial"/>
                <a:cs typeface="Arial"/>
              </a:defRPr>
            </a:pPr>
            <a:r>
              <a:rPr sz="2325" b="0">
                <a:solidFill>
                  <a:srgbClr val="B9D7D4"/>
                </a:solidFill>
                <a:latin typeface="Arial"/>
                <a:ea typeface="Arial"/>
                <a:cs typeface="Arial"/>
              </a:rPr>
              <a:t>I’ll walk you through what we built, then we’ll</a:t>
            </a:r>
          </a:p>
          <a:p xmlns:a="http://schemas.openxmlformats.org/drawingml/2006/main">
            <a:pPr>
              <a:buNone/>
              <a:defRPr sz="2325" b="0">
                <a:solidFill>
                  <a:srgbClr val="B9D7D4"/>
                </a:solidFill>
                <a:latin typeface="Arial"/>
                <a:ea typeface="Arial"/>
                <a:cs typeface="Arial"/>
              </a:defRPr>
            </a:pPr>
            <a:r>
              <a:rPr sz="2325" b="0">
                <a:solidFill>
                  <a:srgbClr val="B9D7D4"/>
                </a:solidFill>
                <a:latin typeface="Arial"/>
                <a:ea typeface="Arial"/>
                <a:cs typeface="Arial"/>
              </a:rPr>
              <a:t>review the dashboard together.</a:t>
            </a:r>
          </a:p>
        </p:txBody>
      </p:sp>
      <p:sp>
        <p:nvSpPr>
          <p:cNvPr id="5" name="">
            <a:extLst xmlns:a="http://schemas.openxmlformats.org/drawingml/2006/main">
              <a:ext uri="{FF2B5EF4-FFF2-40B4-BE49-F238E27FC236}">
                <a16:creationId xmlns:a16="http://schemas.microsoft.com/office/drawing/2014/main" id="{A559B5E8-9CB7-41EA-AFE7-B2B2EEE9E7E2}"/>
              </a:ext>
            </a:extLst>
          </p:cNvPr>
          <p:cNvSpPr>
            <a:spLocks xmlns:a="http://schemas.openxmlformats.org/drawingml/2006/main" noGrp="1"/>
          </p:cNvSpPr>
          <p:nvPr/>
        </p:nvSpPr>
        <p:spPr>
          <a:xfrm xmlns:a="http://schemas.openxmlformats.org/drawingml/2006/main">
            <a:off x="609600" y="52673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64D4BF"/>
                </a:solidFill>
                <a:latin typeface="Arial"/>
                <a:ea typeface="Arial"/>
                <a:cs typeface="Arial"/>
              </a:defRPr>
            </a:pPr>
            <a:r>
              <a:rPr sz="2550" b="1">
                <a:solidFill>
                  <a:srgbClr val="64D4BF"/>
                </a:solidFill>
                <a:latin typeface="Arial"/>
                <a:ea typeface="Arial"/>
                <a:cs typeface="Arial"/>
                <a:hlinkClick xmlns:r="http://schemas.openxmlformats.org/officeDocument/2006/relationships" r:id="R55d34e3b1d094b45"/>
              </a:rPr>
              <a:t>wolf-day-damage.vercel.app/dashboard</a:t>
            </a:r>
          </a:p>
        </p:txBody>
      </p:sp>
      <p:sp>
        <p:nvSpPr>
          <p:cNvPr id="6" name="">
            <a:extLst xmlns:a="http://schemas.openxmlformats.org/drawingml/2006/main">
              <a:ext uri="{FF2B5EF4-FFF2-40B4-BE49-F238E27FC236}">
                <a16:creationId xmlns:a16="http://schemas.microsoft.com/office/drawing/2014/main" id="{48B40988-B505-4F64-8226-EBD18CC71F5E}"/>
              </a:ext>
            </a:extLst>
          </p:cNvPr>
          <p:cNvSpPr>
            <a:spLocks xmlns:a="http://schemas.openxmlformats.org/drawingml/2006/main" noGrp="1"/>
          </p:cNvSpPr>
          <p:nvPr/>
        </p:nvSpPr>
        <p:spPr>
          <a:xfrm xmlns:a="http://schemas.openxmlformats.org/drawingml/2006/main">
            <a:off x="6096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B9D7D4"/>
                </a:solidFill>
                <a:latin typeface="Arial"/>
                <a:ea typeface="Arial"/>
                <a:cs typeface="Arial"/>
              </a:defRPr>
            </a:pPr>
            <a:r>
              <a:rPr sz="1650" b="0">
                <a:solidFill>
                  <a:srgbClr val="B9D7D4"/>
                </a:solidFill>
                <a:latin typeface="Arial"/>
                <a:ea typeface="Arial"/>
                <a:cs typeface="Arial"/>
              </a:rPr>
              <a:t>Designed for the workshop mechanic</a:t>
            </a:r>
          </a:p>
        </p:txBody>
      </p:sp>
    </p:spTree>
    <p:extLst>
      <p:ext uri="{BB962C8B-B14F-4D97-AF65-F5344CB8AC3E}">
        <p14:creationId xmlns:p14="http://schemas.microsoft.com/office/powerpoint/2010/main" val="1414999751"/>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DACD64-46C6-49A3-A770-9769CE4D17FE}"/>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The problem and one shared pipeline</a:t>
            </a:r>
          </a:p>
        </p:txBody>
      </p:sp>
      <p:sp>
        <p:nvSpPr>
          <p:cNvPr id="2" name="">
            <a:extLst xmlns:a="http://schemas.openxmlformats.org/drawingml/2006/main">
              <a:ext uri="{FF2B5EF4-FFF2-40B4-BE49-F238E27FC236}">
                <a16:creationId xmlns:a16="http://schemas.microsoft.com/office/drawing/2014/main" id="{3EA85EF9-7674-495A-ACED-C3C810E7EB3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FE3D03B-DF02-4B5C-A3F5-4CC846EE9AD8}"/>
              </a:ext>
            </a:extLst>
          </p:cNvPr>
          <p:cNvSpPr>
            <a:spLocks xmlns:a="http://schemas.openxmlformats.org/drawingml/2006/main" noGrp="1"/>
          </p:cNvSpPr>
          <p:nvPr/>
        </p:nvSpPr>
        <p:spPr>
          <a:xfrm xmlns:a="http://schemas.openxmlformats.org/drawingml/2006/main">
            <a:off x="609600" y="1524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014000B-D2D6-4796-A1E6-1E618D136650}"/>
              </a:ext>
            </a:extLst>
          </p:cNvPr>
          <p:cNvSpPr>
            <a:spLocks xmlns:a="http://schemas.openxmlformats.org/drawingml/2006/main" noGrp="1"/>
          </p:cNvSpPr>
          <p:nvPr/>
        </p:nvSpPr>
        <p:spPr>
          <a:xfrm xmlns:a="http://schemas.openxmlformats.org/drawingml/2006/main">
            <a:off x="1466850" y="1524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German workshop notes</a:t>
            </a:r>
          </a:p>
        </p:txBody>
      </p:sp>
      <p:sp>
        <p:nvSpPr>
          <p:cNvPr id="5" name="">
            <a:extLst xmlns:a="http://schemas.openxmlformats.org/drawingml/2006/main">
              <a:ext uri="{FF2B5EF4-FFF2-40B4-BE49-F238E27FC236}">
                <a16:creationId xmlns:a16="http://schemas.microsoft.com/office/drawing/2014/main" id="{F586B2EF-AE83-4759-A5FD-D7F0B078C278}"/>
              </a:ext>
            </a:extLst>
          </p:cNvPr>
          <p:cNvSpPr>
            <a:spLocks xmlns:a="http://schemas.openxmlformats.org/drawingml/2006/main" noGrp="1"/>
          </p:cNvSpPr>
          <p:nvPr/>
        </p:nvSpPr>
        <p:spPr>
          <a:xfrm xmlns:a="http://schemas.openxmlformats.org/drawingml/2006/main">
            <a:off x="1466850" y="19812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1,000 synthetic cases: 550 service / 450 damage. Reliable extraction is the challenge.</a:t>
            </a:r>
          </a:p>
        </p:txBody>
      </p:sp>
      <p:sp>
        <p:nvSpPr>
          <p:cNvPr id="6" name="">
            <a:extLst xmlns:a="http://schemas.openxmlformats.org/drawingml/2006/main">
              <a:ext uri="{FF2B5EF4-FFF2-40B4-BE49-F238E27FC236}">
                <a16:creationId xmlns:a16="http://schemas.microsoft.com/office/drawing/2014/main" id="{9D4244CA-27DC-40D6-8AFA-08C4F3B00560}"/>
              </a:ext>
            </a:extLst>
          </p:cNvPr>
          <p:cNvSpPr>
            <a:spLocks xmlns:a="http://schemas.openxmlformats.org/drawingml/2006/main" noGrp="1"/>
          </p:cNvSpPr>
          <p:nvPr/>
        </p:nvSpPr>
        <p:spPr>
          <a:xfrm xmlns:a="http://schemas.openxmlformats.org/drawingml/2006/main">
            <a:off x="609600" y="2571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D7984A3-654D-4EEF-B0A6-A9F86F939C77}"/>
              </a:ext>
            </a:extLst>
          </p:cNvPr>
          <p:cNvSpPr>
            <a:spLocks xmlns:a="http://schemas.openxmlformats.org/drawingml/2006/main" noGrp="1"/>
          </p:cNvSpPr>
          <p:nvPr/>
        </p:nvSpPr>
        <p:spPr>
          <a:xfrm xmlns:a="http://schemas.openxmlformats.org/drawingml/2006/main">
            <a:off x="1466850" y="25717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DeepSeek fills a strict form</a:t>
            </a:r>
          </a:p>
        </p:txBody>
      </p:sp>
      <p:sp>
        <p:nvSpPr>
          <p:cNvPr id="8" name="">
            <a:extLst xmlns:a="http://schemas.openxmlformats.org/drawingml/2006/main">
              <a:ext uri="{FF2B5EF4-FFF2-40B4-BE49-F238E27FC236}">
                <a16:creationId xmlns:a16="http://schemas.microsoft.com/office/drawing/2014/main" id="{BA85B0F8-E75F-48ED-867C-D45A8B045F24}"/>
              </a:ext>
            </a:extLst>
          </p:cNvPr>
          <p:cNvSpPr>
            <a:spLocks xmlns:a="http://schemas.openxmlformats.org/drawingml/2006/main" noGrp="1"/>
          </p:cNvSpPr>
          <p:nvPr/>
        </p:nvSpPr>
        <p:spPr>
          <a:xfrm xmlns:a="http://schemas.openxmlformats.org/drawingml/2006/main">
            <a:off x="1466850" y="30289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Pydantic validation · closed vocabulary · part + side. German stays German.</a:t>
            </a:r>
          </a:p>
        </p:txBody>
      </p:sp>
      <p:sp>
        <p:nvSpPr>
          <p:cNvPr id="9" name="">
            <a:extLst xmlns:a="http://schemas.openxmlformats.org/drawingml/2006/main">
              <a:ext uri="{FF2B5EF4-FFF2-40B4-BE49-F238E27FC236}">
                <a16:creationId xmlns:a16="http://schemas.microsoft.com/office/drawing/2014/main" id="{5F9CFACF-D445-4E2E-B7B1-B02A24E597D2}"/>
              </a:ext>
            </a:extLst>
          </p:cNvPr>
          <p:cNvSpPr>
            <a:spLocks xmlns:a="http://schemas.openxmlformats.org/drawingml/2006/main" noGrp="1"/>
          </p:cNvSpPr>
          <p:nvPr/>
        </p:nvSpPr>
        <p:spPr>
          <a:xfrm xmlns:a="http://schemas.openxmlformats.org/drawingml/2006/main">
            <a:off x="609600" y="3619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97C1399-AA0E-44C0-85F5-49CD917E0E6F}"/>
              </a:ext>
            </a:extLst>
          </p:cNvPr>
          <p:cNvSpPr>
            <a:spLocks xmlns:a="http://schemas.openxmlformats.org/drawingml/2006/main" noGrp="1"/>
          </p:cNvSpPr>
          <p:nvPr/>
        </p:nvSpPr>
        <p:spPr>
          <a:xfrm xmlns:a="http://schemas.openxmlformats.org/drawingml/2006/main">
            <a:off x="1466850" y="36195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Deterministic repair rules</a:t>
            </a:r>
          </a:p>
        </p:txBody>
      </p:sp>
      <p:sp>
        <p:nvSpPr>
          <p:cNvPr id="11" name="">
            <a:extLst xmlns:a="http://schemas.openxmlformats.org/drawingml/2006/main">
              <a:ext uri="{FF2B5EF4-FFF2-40B4-BE49-F238E27FC236}">
                <a16:creationId xmlns:a16="http://schemas.microsoft.com/office/drawing/2014/main" id="{3ACE9503-9C91-4AE4-8F2E-EA959FB41D72}"/>
              </a:ext>
            </a:extLst>
          </p:cNvPr>
          <p:cNvSpPr>
            <a:spLocks xmlns:a="http://schemas.openxmlformats.org/drawingml/2006/main" noGrp="1"/>
          </p:cNvSpPr>
          <p:nvPr/>
        </p:nvSpPr>
        <p:spPr>
          <a:xfrm xmlns:a="http://schemas.openxmlformats.org/drawingml/2006/main">
            <a:off x="1466850" y="40767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The LLM only reads; code decides the repair and remove-and-install operations.</a:t>
            </a:r>
          </a:p>
        </p:txBody>
      </p:sp>
      <p:sp>
        <p:nvSpPr>
          <p:cNvPr id="12" name="">
            <a:extLst xmlns:a="http://schemas.openxmlformats.org/drawingml/2006/main">
              <a:ext uri="{FF2B5EF4-FFF2-40B4-BE49-F238E27FC236}">
                <a16:creationId xmlns:a16="http://schemas.microsoft.com/office/drawing/2014/main" id="{14A9B9E9-62E4-4237-AC2C-EB440953CEEC}"/>
              </a:ext>
            </a:extLst>
          </p:cNvPr>
          <p:cNvSpPr>
            <a:spLocks xmlns:a="http://schemas.openxmlformats.org/drawingml/2006/main" noGrp="1"/>
          </p:cNvSpPr>
          <p:nvPr/>
        </p:nvSpPr>
        <p:spPr>
          <a:xfrm xmlns:a="http://schemas.openxmlformats.org/drawingml/2006/main">
            <a:off x="609600" y="4667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5C9C11F-4FE3-4733-AC8B-E6C178E5A9EE}"/>
              </a:ext>
            </a:extLst>
          </p:cNvPr>
          <p:cNvSpPr>
            <a:spLocks xmlns:a="http://schemas.openxmlformats.org/drawingml/2006/main" noGrp="1"/>
          </p:cNvSpPr>
          <p:nvPr/>
        </p:nvSpPr>
        <p:spPr>
          <a:xfrm xmlns:a="http://schemas.openxmlformats.org/drawingml/2006/main">
            <a:off x="1466850" y="46672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One extraction, two outputs</a:t>
            </a:r>
          </a:p>
        </p:txBody>
      </p:sp>
      <p:sp>
        <p:nvSpPr>
          <p:cNvPr id="14" name="">
            <a:extLst xmlns:a="http://schemas.openxmlformats.org/drawingml/2006/main">
              <a:ext uri="{FF2B5EF4-FFF2-40B4-BE49-F238E27FC236}">
                <a16:creationId xmlns:a16="http://schemas.microsoft.com/office/drawing/2014/main" id="{B0697E6F-1CD9-41D3-AA7C-CD67BA9365FB}"/>
              </a:ext>
            </a:extLst>
          </p:cNvPr>
          <p:cNvSpPr>
            <a:spLocks xmlns:a="http://schemas.openxmlformats.org/drawingml/2006/main" noGrp="1"/>
          </p:cNvSpPr>
          <p:nvPr/>
        </p:nvSpPr>
        <p:spPr>
          <a:xfrm xmlns:a="http://schemas.openxmlformats.org/drawingml/2006/main">
            <a:off x="1466850" y="51244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The same structured result feeds a vehicle sheet and corpus analytics.</a:t>
            </a:r>
          </a:p>
        </p:txBody>
      </p:sp>
      <p:sp>
        <p:nvSpPr>
          <p:cNvPr id="15" name="">
            <a:extLst xmlns:a="http://schemas.openxmlformats.org/drawingml/2006/main">
              <a:ext uri="{FF2B5EF4-FFF2-40B4-BE49-F238E27FC236}">
                <a16:creationId xmlns:a16="http://schemas.microsoft.com/office/drawing/2014/main" id="{D9BE8FF7-76ED-4858-92BF-9A111C2B89FE}"/>
              </a:ext>
            </a:extLst>
          </p:cNvPr>
          <p:cNvSpPr>
            <a:spLocks xmlns:a="http://schemas.openxmlformats.org/drawingml/2006/main" noGrp="1"/>
          </p:cNvSpPr>
          <p:nvPr/>
        </p:nvSpPr>
        <p:spPr>
          <a:xfrm xmlns:a="http://schemas.openxmlformats.org/drawingml/2006/main">
            <a:off x="609600" y="60007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007F75"/>
                </a:solidFill>
                <a:latin typeface="Arial"/>
                <a:ea typeface="Arial"/>
                <a:cs typeface="Arial"/>
              </a:defRPr>
            </a:pPr>
            <a:r>
              <a:rPr sz="1650" b="0">
                <a:solidFill>
                  <a:srgbClr val="007F75"/>
                </a:solidFill>
                <a:latin typeface="Arial"/>
                <a:ea typeface="Arial"/>
                <a:cs typeface="Arial"/>
              </a:rPr>
              <a:t>Damage information is locked inside messy, free-text German notes.</a:t>
            </a:r>
          </a:p>
        </p:txBody>
      </p:sp>
    </p:spTree>
    <p:extLst>
      <p:ext uri="{BB962C8B-B14F-4D97-AF65-F5344CB8AC3E}">
        <p14:creationId xmlns:p14="http://schemas.microsoft.com/office/powerpoint/2010/main" val="2087904956"/>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343C8F-C72F-4E26-98A3-29E9CF0EEE4A}"/>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One case, its proof and its operations</a:t>
            </a:r>
          </a:p>
        </p:txBody>
      </p:sp>
      <p:sp>
        <p:nvSpPr>
          <p:cNvPr id="2" name="">
            <a:extLst xmlns:a="http://schemas.openxmlformats.org/drawingml/2006/main">
              <a:ext uri="{FF2B5EF4-FFF2-40B4-BE49-F238E27FC236}">
                <a16:creationId xmlns:a16="http://schemas.microsoft.com/office/drawing/2014/main" id="{9C7512A1-E156-4F74-A433-F181D6C4521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e1da47078c4b43"/>
          <a:stretch xmlns:a="http://schemas.openxmlformats.org/drawingml/2006/main"/>
        </p:blipFill>
        <p:spPr>
          <a:xfrm xmlns:a="http://schemas.openxmlformats.org/drawingml/2006/main">
            <a:off x="803659" y="1495425"/>
            <a:ext cx="3279006" cy="4267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8B9516-A0A7-48AF-AA02-72325DBFF296}"/>
              </a:ext>
            </a:extLst>
          </p:cNvPr>
          <p:cNvSpPr>
            <a:spLocks xmlns:a="http://schemas.openxmlformats.org/drawingml/2006/main" noGrp="1"/>
          </p:cNvSpPr>
          <p:nvPr/>
        </p:nvSpPr>
        <p:spPr>
          <a:xfrm xmlns:a="http://schemas.openxmlformats.org/drawingml/2006/main">
            <a:off x="4752975" y="14382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47078"/>
                </a:solidFill>
                <a:latin typeface="Arial"/>
                <a:ea typeface="Arial"/>
                <a:cs typeface="Arial"/>
              </a:defRPr>
            </a:pPr>
            <a:r>
              <a:rPr sz="1800" b="0">
                <a:solidFill>
                  <a:srgbClr val="547078"/>
                </a:solidFill>
                <a:latin typeface="Arial"/>
                <a:ea typeface="Arial"/>
                <a:cs typeface="Arial"/>
              </a:rPr>
              <a:t>Case 820002 · Original German evidence</a:t>
            </a:r>
          </a:p>
        </p:txBody>
      </p:sp>
      <p:sp>
        <p:nvSpPr>
          <p:cNvPr id="5" name="">
            <a:extLst xmlns:a="http://schemas.openxmlformats.org/drawingml/2006/main">
              <a:ext uri="{FF2B5EF4-FFF2-40B4-BE49-F238E27FC236}">
                <a16:creationId xmlns:a16="http://schemas.microsoft.com/office/drawing/2014/main" id="{A8E82463-8164-459A-A467-8190536EA681}"/>
              </a:ext>
            </a:extLst>
          </p:cNvPr>
          <p:cNvSpPr>
            <a:spLocks xmlns:a="http://schemas.openxmlformats.org/drawingml/2006/main" noGrp="1"/>
          </p:cNvSpPr>
          <p:nvPr/>
        </p:nvSpPr>
        <p:spPr>
          <a:xfrm xmlns:a="http://schemas.openxmlformats.org/drawingml/2006/main">
            <a:off x="4752975" y="1952625"/>
            <a:ext cx="6619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C36"/>
                </a:solidFill>
                <a:latin typeface="Arial"/>
                <a:ea typeface="Arial"/>
                <a:cs typeface="Arial"/>
              </a:defRPr>
            </a:pPr>
            <a:r>
              <a:rPr sz="2325" b="1">
                <a:solidFill>
                  <a:srgbClr val="102C36"/>
                </a:solidFill>
                <a:latin typeface="Arial"/>
                <a:ea typeface="Arial"/>
                <a:cs typeface="Arial"/>
              </a:rPr>
              <a:t>“Steinschlag Windschutzscheibe im Sichtfeld Fahrer, Reparatur nicht möglich, Austausch nötig.”</a:t>
            </a:r>
          </a:p>
        </p:txBody>
      </p:sp>
      <p:sp>
        <p:nvSpPr>
          <p:cNvPr id="6" name="">
            <a:extLst xmlns:a="http://schemas.openxmlformats.org/drawingml/2006/main">
              <a:ext uri="{FF2B5EF4-FFF2-40B4-BE49-F238E27FC236}">
                <a16:creationId xmlns:a16="http://schemas.microsoft.com/office/drawing/2014/main" id="{2D7890BD-BBDB-44A7-9228-E205246E8691}"/>
              </a:ext>
            </a:extLst>
          </p:cNvPr>
          <p:cNvSpPr>
            <a:spLocks xmlns:a="http://schemas.openxmlformats.org/drawingml/2006/main" noGrp="1"/>
          </p:cNvSpPr>
          <p:nvPr/>
        </p:nvSpPr>
        <p:spPr>
          <a:xfrm xmlns:a="http://schemas.openxmlformats.org/drawingml/2006/main">
            <a:off x="4752975" y="3714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D7562C"/>
                </a:solidFill>
                <a:latin typeface="Arial"/>
                <a:ea typeface="Arial"/>
                <a:cs typeface="Arial"/>
              </a:defRPr>
            </a:pPr>
            <a:r>
              <a:rPr sz="2250" b="1">
                <a:solidFill>
                  <a:srgbClr val="D7562C"/>
                </a:solidFill>
                <a:latin typeface="Arial"/>
                <a:ea typeface="Arial"/>
                <a:cs typeface="Arial"/>
              </a:rPr>
              <a:t>Windscreen → Replace</a:t>
            </a:r>
          </a:p>
        </p:txBody>
      </p:sp>
      <p:sp>
        <p:nvSpPr>
          <p:cNvPr id="7" name="">
            <a:extLst xmlns:a="http://schemas.openxmlformats.org/drawingml/2006/main">
              <a:ext uri="{FF2B5EF4-FFF2-40B4-BE49-F238E27FC236}">
                <a16:creationId xmlns:a16="http://schemas.microsoft.com/office/drawing/2014/main" id="{7E7D4C20-20CD-4F28-8EE6-FE33C8EEEBD3}"/>
              </a:ext>
            </a:extLst>
          </p:cNvPr>
          <p:cNvSpPr>
            <a:spLocks xmlns:a="http://schemas.openxmlformats.org/drawingml/2006/main" noGrp="1"/>
          </p:cNvSpPr>
          <p:nvPr/>
        </p:nvSpPr>
        <p:spPr>
          <a:xfrm xmlns:a="http://schemas.openxmlformats.org/drawingml/2006/main">
            <a:off x="4752975" y="41814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Stated explicitly in the note</a:t>
            </a:r>
          </a:p>
        </p:txBody>
      </p:sp>
      <p:sp>
        <p:nvSpPr>
          <p:cNvPr id="8" name="">
            <a:extLst xmlns:a="http://schemas.openxmlformats.org/drawingml/2006/main">
              <a:ext uri="{FF2B5EF4-FFF2-40B4-BE49-F238E27FC236}">
                <a16:creationId xmlns:a16="http://schemas.microsoft.com/office/drawing/2014/main" id="{EA8B30F0-31F1-46E0-AE5C-E3104BBCFA2D}"/>
              </a:ext>
            </a:extLst>
          </p:cNvPr>
          <p:cNvSpPr>
            <a:spLocks xmlns:a="http://schemas.openxmlformats.org/drawingml/2006/main" noGrp="1"/>
          </p:cNvSpPr>
          <p:nvPr/>
        </p:nvSpPr>
        <p:spPr>
          <a:xfrm xmlns:a="http://schemas.openxmlformats.org/drawingml/2006/main">
            <a:off x="4752975" y="481012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7F75"/>
                </a:solidFill>
                <a:latin typeface="Arial"/>
                <a:ea typeface="Arial"/>
                <a:cs typeface="Arial"/>
              </a:defRPr>
            </a:pPr>
            <a:r>
              <a:rPr sz="2250" b="1">
                <a:solidFill>
                  <a:srgbClr val="007F75"/>
                </a:solidFill>
                <a:latin typeface="Arial"/>
                <a:ea typeface="Arial"/>
                <a:cs typeface="Arial"/>
              </a:rPr>
              <a:t>Trim / plate → Remove and install</a:t>
            </a:r>
          </a:p>
        </p:txBody>
      </p:sp>
      <p:sp>
        <p:nvSpPr>
          <p:cNvPr id="9" name="">
            <a:extLst xmlns:a="http://schemas.openxmlformats.org/drawingml/2006/main">
              <a:ext uri="{FF2B5EF4-FFF2-40B4-BE49-F238E27FC236}">
                <a16:creationId xmlns:a16="http://schemas.microsoft.com/office/drawing/2014/main" id="{D4D9FFF9-F3B1-4C6B-B46F-9707F7DA2075}"/>
              </a:ext>
            </a:extLst>
          </p:cNvPr>
          <p:cNvSpPr>
            <a:spLocks xmlns:a="http://schemas.openxmlformats.org/drawingml/2006/main" noGrp="1"/>
          </p:cNvSpPr>
          <p:nvPr/>
        </p:nvSpPr>
        <p:spPr>
          <a:xfrm xmlns:a="http://schemas.openxmlformats.org/drawingml/2006/main">
            <a:off x="4752975" y="5276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Deterministic adjacency rule</a:t>
            </a:r>
          </a:p>
        </p:txBody>
      </p:sp>
      <p:sp>
        <p:nvSpPr>
          <p:cNvPr id="10" name="">
            <a:extLst xmlns:a="http://schemas.openxmlformats.org/drawingml/2006/main">
              <a:ext uri="{FF2B5EF4-FFF2-40B4-BE49-F238E27FC236}">
                <a16:creationId xmlns:a16="http://schemas.microsoft.com/office/drawing/2014/main" id="{FF9E7BB0-FA91-4AED-9E53-92FB47A31E2D}"/>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47078"/>
                </a:solidFill>
                <a:latin typeface="Arial"/>
                <a:ea typeface="Arial"/>
                <a:cs typeface="Arial"/>
              </a:defRPr>
            </a:pPr>
            <a:r>
              <a:rPr sz="1575" b="0">
                <a:solidFill>
                  <a:srgbClr val="547078"/>
                </a:solidFill>
                <a:latin typeface="Arial"/>
                <a:ea typeface="Arial"/>
                <a:cs typeface="Arial"/>
              </a:rPr>
              <a:t>Every coloured region traces to the German quote; R&amp;I is derived through the rule.</a:t>
            </a:r>
          </a:p>
        </p:txBody>
      </p:sp>
    </p:spTree>
    <p:extLst>
      <p:ext uri="{BB962C8B-B14F-4D97-AF65-F5344CB8AC3E}">
        <p14:creationId xmlns:p14="http://schemas.microsoft.com/office/powerpoint/2010/main" val="854725429"/>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19FD4F-95A4-4AD7-A89D-74BA38963ADC}"/>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Extraction reliability: measured, not claimed</a:t>
            </a:r>
          </a:p>
        </p:txBody>
      </p:sp>
      <p:sp>
        <p:nvSpPr>
          <p:cNvPr id="2" name="">
            <a:extLst xmlns:a="http://schemas.openxmlformats.org/drawingml/2006/main">
              <a:ext uri="{FF2B5EF4-FFF2-40B4-BE49-F238E27FC236}">
                <a16:creationId xmlns:a16="http://schemas.microsoft.com/office/drawing/2014/main" id="{EC40EA9D-5225-4F64-AE0C-40AE6DDC0D63}"/>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1FB158A-2BF9-4B8F-8C37-9F5CF4DD267B}"/>
              </a:ext>
            </a:extLst>
          </p:cNvPr>
          <p:cNvSpPr>
            <a:spLocks xmlns:a="http://schemas.openxmlformats.org/drawingml/2006/main" noGrp="1"/>
          </p:cNvSpPr>
          <p:nvPr/>
        </p:nvSpPr>
        <p:spPr>
          <a:xfrm xmlns:a="http://schemas.openxmlformats.org/drawingml/2006/main">
            <a:off x="609600" y="142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DeepSeek extraction</a:t>
            </a:r>
          </a:p>
        </p:txBody>
      </p:sp>
      <p:sp>
        <p:nvSpPr>
          <p:cNvPr id="4" name="">
            <a:extLst xmlns:a="http://schemas.openxmlformats.org/drawingml/2006/main">
              <a:ext uri="{FF2B5EF4-FFF2-40B4-BE49-F238E27FC236}">
                <a16:creationId xmlns:a16="http://schemas.microsoft.com/office/drawing/2014/main" id="{ED27CB0E-249E-4788-8C0C-14911A92CB50}"/>
              </a:ext>
            </a:extLst>
          </p:cNvPr>
          <p:cNvSpPr>
            <a:spLocks xmlns:a="http://schemas.openxmlformats.org/drawingml/2006/main" noGrp="1"/>
          </p:cNvSpPr>
          <p:nvPr/>
        </p:nvSpPr>
        <p:spPr>
          <a:xfrm xmlns:a="http://schemas.openxmlformats.org/drawingml/2006/main">
            <a:off x="6096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977 held-out cases</a:t>
            </a:r>
          </a:p>
        </p:txBody>
      </p:sp>
      <p:sp>
        <p:nvSpPr>
          <p:cNvPr id="5" name="">
            <a:extLst xmlns:a="http://schemas.openxmlformats.org/drawingml/2006/main">
              <a:ext uri="{FF2B5EF4-FFF2-40B4-BE49-F238E27FC236}">
                <a16:creationId xmlns:a16="http://schemas.microsoft.com/office/drawing/2014/main" id="{45C1711F-AF88-48F5-A53C-43345F02B493}"/>
              </a:ext>
            </a:extLst>
          </p:cNvPr>
          <p:cNvSpPr>
            <a:spLocks xmlns:a="http://schemas.openxmlformats.org/drawingml/2006/main" noGrp="1"/>
          </p:cNvSpPr>
          <p:nvPr/>
        </p:nvSpPr>
        <p:spPr>
          <a:xfrm xmlns:a="http://schemas.openxmlformats.org/drawingml/2006/main">
            <a:off x="609600" y="261937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75" b="1">
                <a:solidFill>
                  <a:srgbClr val="007F75"/>
                </a:solidFill>
                <a:latin typeface="Arial"/>
                <a:ea typeface="Arial"/>
                <a:cs typeface="Arial"/>
              </a:defRPr>
            </a:pPr>
            <a:r>
              <a:rPr sz="4275" b="1">
                <a:solidFill>
                  <a:srgbClr val="007F75"/>
                </a:solidFill>
                <a:latin typeface="Arial"/>
                <a:ea typeface="Arial"/>
                <a:cs typeface="Arial"/>
              </a:rPr>
              <a:t>99.9%</a:t>
            </a:r>
          </a:p>
        </p:txBody>
      </p:sp>
      <p:sp>
        <p:nvSpPr>
          <p:cNvPr id="6" name="">
            <a:extLst xmlns:a="http://schemas.openxmlformats.org/drawingml/2006/main">
              <a:ext uri="{FF2B5EF4-FFF2-40B4-BE49-F238E27FC236}">
                <a16:creationId xmlns:a16="http://schemas.microsoft.com/office/drawing/2014/main" id="{E8E3E4AB-9A30-41F9-9AF3-BAE400140A35}"/>
              </a:ext>
            </a:extLst>
          </p:cNvPr>
          <p:cNvSpPr>
            <a:spLocks xmlns:a="http://schemas.openxmlformats.org/drawingml/2006/main" noGrp="1"/>
          </p:cNvSpPr>
          <p:nvPr/>
        </p:nvSpPr>
        <p:spPr>
          <a:xfrm xmlns:a="http://schemas.openxmlformats.org/drawingml/2006/main">
            <a:off x="609600" y="33432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Damage-zone F1</a:t>
            </a:r>
          </a:p>
        </p:txBody>
      </p:sp>
      <p:sp>
        <p:nvSpPr>
          <p:cNvPr id="7" name="">
            <a:extLst xmlns:a="http://schemas.openxmlformats.org/drawingml/2006/main">
              <a:ext uri="{FF2B5EF4-FFF2-40B4-BE49-F238E27FC236}">
                <a16:creationId xmlns:a16="http://schemas.microsoft.com/office/drawing/2014/main" id="{CC76E1AC-89FF-497E-B3D5-6B266C2C3536}"/>
              </a:ext>
            </a:extLst>
          </p:cNvPr>
          <p:cNvSpPr>
            <a:spLocks xmlns:a="http://schemas.openxmlformats.org/drawingml/2006/main" noGrp="1"/>
          </p:cNvSpPr>
          <p:nvPr/>
        </p:nvSpPr>
        <p:spPr>
          <a:xfrm xmlns:a="http://schemas.openxmlformats.org/drawingml/2006/main">
            <a:off x="609600" y="4095750"/>
            <a:ext cx="2381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75" b="1">
                <a:solidFill>
                  <a:srgbClr val="007F75"/>
                </a:solidFill>
                <a:latin typeface="Arial"/>
                <a:ea typeface="Arial"/>
                <a:cs typeface="Arial"/>
              </a:defRPr>
            </a:pPr>
            <a:r>
              <a:rPr sz="3975" b="1">
                <a:solidFill>
                  <a:srgbClr val="007F75"/>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42DE4D00-D6F0-42B5-A59A-291785F1DBE2}"/>
              </a:ext>
            </a:extLst>
          </p:cNvPr>
          <p:cNvSpPr>
            <a:spLocks xmlns:a="http://schemas.openxmlformats.org/drawingml/2006/main" noGrp="1"/>
          </p:cNvSpPr>
          <p:nvPr/>
        </p:nvSpPr>
        <p:spPr>
          <a:xfrm xmlns:a="http://schemas.openxmlformats.org/drawingml/2006/main">
            <a:off x="609600" y="48387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Case kind accuracy</a:t>
            </a:r>
          </a:p>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and insurance accuracy</a:t>
            </a:r>
          </a:p>
        </p:txBody>
      </p:sp>
      <p:sp>
        <p:nvSpPr>
          <p:cNvPr id="9" name="">
            <a:extLst xmlns:a="http://schemas.openxmlformats.org/drawingml/2006/main">
              <a:ext uri="{FF2B5EF4-FFF2-40B4-BE49-F238E27FC236}">
                <a16:creationId xmlns:a16="http://schemas.microsoft.com/office/drawing/2014/main" id="{C0F99FCF-EDE9-4F21-A1CA-30393B17D845}"/>
              </a:ext>
            </a:extLst>
          </p:cNvPr>
          <p:cNvSpPr>
            <a:spLocks xmlns:a="http://schemas.openxmlformats.org/drawingml/2006/main" noGrp="1"/>
          </p:cNvSpPr>
          <p:nvPr/>
        </p:nvSpPr>
        <p:spPr>
          <a:xfrm xmlns:a="http://schemas.openxmlformats.org/drawingml/2006/main">
            <a:off x="5838825" y="142875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C36"/>
                </a:solidFill>
                <a:latin typeface="Arial"/>
                <a:ea typeface="Arial"/>
                <a:cs typeface="Arial"/>
              </a:defRPr>
            </a:pPr>
            <a:r>
              <a:rPr sz="2100" b="1">
                <a:solidFill>
                  <a:srgbClr val="102C36"/>
                </a:solidFill>
                <a:latin typeface="Arial"/>
                <a:ea typeface="Arial"/>
                <a:cs typeface="Arial"/>
              </a:rPr>
              <a:t>Evidence and delivery</a:t>
            </a:r>
          </a:p>
        </p:txBody>
      </p:sp>
      <p:sp>
        <p:nvSpPr>
          <p:cNvPr id="10" name="">
            <a:extLst xmlns:a="http://schemas.openxmlformats.org/drawingml/2006/main">
              <a:ext uri="{FF2B5EF4-FFF2-40B4-BE49-F238E27FC236}">
                <a16:creationId xmlns:a16="http://schemas.microsoft.com/office/drawing/2014/main" id="{A3104A55-52D7-4274-8694-F124332AF5F2}"/>
              </a:ext>
            </a:extLst>
          </p:cNvPr>
          <p:cNvSpPr>
            <a:spLocks xmlns:a="http://schemas.openxmlformats.org/drawingml/2006/main" noGrp="1"/>
          </p:cNvSpPr>
          <p:nvPr/>
        </p:nvSpPr>
        <p:spPr>
          <a:xfrm xmlns:a="http://schemas.openxmlformats.org/drawingml/2006/main">
            <a:off x="5838825" y="192405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Verbatim quotes; no cases dropped</a:t>
            </a:r>
          </a:p>
        </p:txBody>
      </p:sp>
      <p:graphicFrame>
        <p:nvGraphicFramePr>
          <p:cNvPr id="25" name=""/>
          <p:cNvGraphicFramePr/>
          <p:nvPr/>
        </p:nvGraphicFramePr>
        <p:xfrm>
          <a:off xmlns:a="http://schemas.openxmlformats.org/drawingml/2006/main" x="5829300" y="2466975"/>
          <a:ext xmlns:a="http://schemas.openxmlformats.org/drawingml/2006/main" cx="5715000" cy="3000375"/>
        </p:xfrm>
        <a:graphic xmlns:a="http://schemas.openxmlformats.org/drawingml/2006/main">
          <a:graphicData uri="http://schemas.openxmlformats.org/drawingml/2006/table">
            <a:tbl>
              <a:tblPr/>
              <a:tblGrid>
                <a:gridCol w="3952875"/>
                <a:gridCol w="1762125"/>
              </a:tblGrid>
              <a:tr h="500063">
                <a:tc>
                  <a:txBody>
                    <a:bodyPr/>
                    <a:lstStyle/>
                    <a:p>
                      <a:r>
                        <a:rPr sz="1875" b="1">
                          <a:solidFill>
                            <a:srgbClr val="FFFFFF"/>
                          </a:solidFill>
                          <a:latin typeface="Arial"/>
                          <a:ea typeface="Arial"/>
                          <a:cs typeface="Arial"/>
                        </a:rPr>
                        <a:t>Metric</a:t>
                      </a:r>
                    </a:p>
                  </a:txBody>
                  <a:tcPr marL="91440" marR="91440" marT="45720" marB="45720">
                    <a:solidFill>
                      <a:srgbClr val="102C36"/>
                    </a:solidFill>
                  </a:tcPr>
                </a:tc>
                <a:tc>
                  <a:txBody>
                    <a:bodyPr/>
                    <a:lstStyle/>
                    <a:p>
                      <a:r>
                        <a:rPr sz="1875" b="1">
                          <a:solidFill>
                            <a:srgbClr val="FFFFFF"/>
                          </a:solidFill>
                          <a:latin typeface="Arial"/>
                          <a:ea typeface="Arial"/>
                          <a:cs typeface="Arial"/>
                        </a:rPr>
                        <a:t>Result</a:t>
                      </a:r>
                    </a:p>
                  </a:txBody>
                  <a:tcPr marL="91440" marR="91440" marT="45720" marB="45720">
                    <a:solidFill>
                      <a:srgbClr val="102C36"/>
                    </a:solidFill>
                  </a:tcPr>
                </a:tc>
              </a:tr>
              <a:tr h="500063">
                <a:tc>
                  <a:txBody>
                    <a:bodyPr/>
                    <a:lstStyle/>
                    <a:p>
                      <a:r>
                        <a:rPr sz="1875" b="1">
                          <a:solidFill>
                            <a:srgbClr val="102C36"/>
                          </a:solidFill>
                          <a:latin typeface="Arial"/>
                          <a:ea typeface="Arial"/>
                          <a:cs typeface="Arial"/>
                        </a:rPr>
                        <a:t>Verbatim evidence quotes</a:t>
                      </a:r>
                    </a:p>
                  </a:txBody>
                  <a:tcPr marL="91440" marR="91440" marT="45720" marB="45720">
                    <a:solidFill>
                      <a:srgbClr val="DFEDE7"/>
                    </a:solidFill>
                  </a:tcPr>
                </a:tc>
                <a:tc>
                  <a:txBody>
                    <a:bodyPr/>
                    <a:lstStyle/>
                    <a:p>
                      <a:r>
                        <a:rPr sz="1875" b="1">
                          <a:solidFill>
                            <a:srgbClr val="102C36"/>
                          </a:solidFill>
                          <a:latin typeface="Arial"/>
                          <a:ea typeface="Arial"/>
                          <a:cs typeface="Arial"/>
                        </a:rPr>
                        <a:t>100%</a:t>
                      </a:r>
                    </a:p>
                  </a:txBody>
                  <a:tcPr marL="91440" marR="91440" marT="45720" marB="45720">
                    <a:solidFill>
                      <a:srgbClr val="DFEDE7"/>
                    </a:solidFill>
                  </a:tcPr>
                </a:tc>
              </a:tr>
              <a:tr h="500063">
                <a:tc>
                  <a:txBody>
                    <a:bodyPr/>
                    <a:lstStyle/>
                    <a:p>
                      <a:r>
                        <a:rPr sz="1875" b="0">
                          <a:solidFill>
                            <a:srgbClr val="102C36"/>
                          </a:solidFill>
                          <a:latin typeface="Arial"/>
                          <a:ea typeface="Arial"/>
                          <a:cs typeface="Arial"/>
                        </a:rPr>
                        <a:t>Cases lost</a:t>
                      </a:r>
                    </a:p>
                  </a:txBody>
                  <a:tcPr marL="91440" marR="91440" marT="45720" marB="45720">
                    <a:solidFill>
                      <a:srgbClr val="F5F4EF"/>
                    </a:solidFill>
                  </a:tcPr>
                </a:tc>
                <a:tc>
                  <a:txBody>
                    <a:bodyPr/>
                    <a:lstStyle/>
                    <a:p>
                      <a:r>
                        <a:rPr sz="1875" b="0">
                          <a:solidFill>
                            <a:srgbClr val="102C36"/>
                          </a:solidFill>
                          <a:latin typeface="Arial"/>
                          <a:ea typeface="Arial"/>
                          <a:cs typeface="Arial"/>
                        </a:rPr>
                        <a:t>0</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Corpus processed</a:t>
                      </a:r>
                    </a:p>
                  </a:txBody>
                  <a:tcPr marL="91440" marR="91440" marT="45720" marB="45720">
                    <a:solidFill>
                      <a:srgbClr val="F5F4EF"/>
                    </a:solidFill>
                  </a:tcPr>
                </a:tc>
                <a:tc>
                  <a:txBody>
                    <a:bodyPr/>
                    <a:lstStyle/>
                    <a:p>
                      <a:r>
                        <a:rPr sz="1875" b="0">
                          <a:solidFill>
                            <a:srgbClr val="102C36"/>
                          </a:solidFill>
                          <a:latin typeface="Arial"/>
                          <a:ea typeface="Arial"/>
                          <a:cs typeface="Arial"/>
                        </a:rPr>
                        <a:t>1,000</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Runtime</a:t>
                      </a:r>
                    </a:p>
                  </a:txBody>
                  <a:tcPr marL="91440" marR="91440" marT="45720" marB="45720">
                    <a:solidFill>
                      <a:srgbClr val="F5F4EF"/>
                    </a:solidFill>
                  </a:tcPr>
                </a:tc>
                <a:tc>
                  <a:txBody>
                    <a:bodyPr/>
                    <a:lstStyle/>
                    <a:p>
                      <a:r>
                        <a:rPr sz="1875" b="0">
                          <a:solidFill>
                            <a:srgbClr val="102C36"/>
                          </a:solidFill>
                          <a:latin typeface="Arial"/>
                          <a:ea typeface="Arial"/>
                          <a:cs typeface="Arial"/>
                        </a:rPr>
                        <a:t>~11 min</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Cache + back-off</a:t>
                      </a:r>
                    </a:p>
                  </a:txBody>
                  <a:tcPr marL="91440" marR="91440" marT="45720" marB="45720">
                    <a:solidFill>
                      <a:srgbClr val="F5F4EF"/>
                    </a:solidFill>
                  </a:tcPr>
                </a:tc>
                <a:tc>
                  <a:txBody>
                    <a:bodyPr/>
                    <a:lstStyle/>
                    <a:p>
                      <a:r>
                        <a:rPr sz="1875" b="0">
                          <a:solidFill>
                            <a:srgbClr val="102C36"/>
                          </a:solidFill>
                          <a:latin typeface="Arial"/>
                          <a:ea typeface="Arial"/>
                          <a:cs typeface="Arial"/>
                        </a:rPr>
                        <a:t>Per case</a:t>
                      </a:r>
                    </a:p>
                  </a:txBody>
                  <a:tcPr marL="91440" marR="91440" marT="45720" marB="45720">
                    <a:solidFill>
                      <a:srgbClr val="F5F4EF"/>
                    </a:solidFill>
                  </a:tcPr>
                </a:tc>
              </a:tr>
            </a:tbl>
          </a:graphicData>
        </a:graphic>
      </p:graphicFrame>
      <p:sp>
        <p:nvSpPr>
          <p:cNvPr id="12" name="">
            <a:extLst xmlns:a="http://schemas.openxmlformats.org/drawingml/2006/main">
              <a:ext uri="{FF2B5EF4-FFF2-40B4-BE49-F238E27FC236}">
                <a16:creationId xmlns:a16="http://schemas.microsoft.com/office/drawing/2014/main" id="{53E3152F-9ACB-4845-AA41-2553BF79334F}"/>
              </a:ext>
            </a:extLst>
          </p:cNvPr>
          <p:cNvSpPr>
            <a:spLocks xmlns:a="http://schemas.openxmlformats.org/drawingml/2006/main" noGrp="1"/>
          </p:cNvSpPr>
          <p:nvPr/>
        </p:nvSpPr>
        <p:spPr>
          <a:xfrm xmlns:a="http://schemas.openxmlformats.org/drawingml/2006/main">
            <a:off x="609600" y="59340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47078"/>
                </a:solidFill>
                <a:latin typeface="Arial"/>
                <a:ea typeface="Arial"/>
                <a:cs typeface="Arial"/>
              </a:defRPr>
            </a:pPr>
            <a:r>
              <a:rPr sz="1500" b="0">
                <a:solidFill>
                  <a:srgbClr val="547078"/>
                </a:solidFill>
                <a:latin typeface="Arial"/>
                <a:ea typeface="Arial"/>
                <a:cs typeface="Arial"/>
              </a:rPr>
              <a:t>Regex ties on zones in the closed synthetic vocabulary; severity 0%, insurance 76%.</a:t>
            </a:r>
          </a:p>
        </p:txBody>
      </p:sp>
    </p:spTree>
    <p:extLst>
      <p:ext uri="{BB962C8B-B14F-4D97-AF65-F5344CB8AC3E}">
        <p14:creationId xmlns:p14="http://schemas.microsoft.com/office/powerpoint/2010/main" val="2139342296"/>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19FD4F-95A4-4AD7-A89D-74BA38963ADC}"/>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Severity and the overfitting test</a:t>
            </a:r>
          </a:p>
        </p:txBody>
      </p:sp>
      <p:sp>
        <p:nvSpPr>
          <p:cNvPr id="2" name="">
            <a:extLst xmlns:a="http://schemas.openxmlformats.org/drawingml/2006/main">
              <a:ext uri="{FF2B5EF4-FFF2-40B4-BE49-F238E27FC236}">
                <a16:creationId xmlns:a16="http://schemas.microsoft.com/office/drawing/2014/main" id="{EC40EA9D-5225-4F64-AE0C-40AE6DDC0D63}"/>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1FB158A-2BF9-4B8F-8C37-9F5CF4DD267B}"/>
              </a:ext>
            </a:extLst>
          </p:cNvPr>
          <p:cNvSpPr>
            <a:spLocks xmlns:a="http://schemas.openxmlformats.org/drawingml/2006/main" noGrp="1"/>
          </p:cNvSpPr>
          <p:nvPr/>
        </p:nvSpPr>
        <p:spPr>
          <a:xfrm xmlns:a="http://schemas.openxmlformats.org/drawingml/2006/main">
            <a:off x="609600" y="142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Severity must be inferred</a:t>
            </a:r>
          </a:p>
        </p:txBody>
      </p:sp>
      <p:sp>
        <p:nvSpPr>
          <p:cNvPr id="4" name="">
            <a:extLst xmlns:a="http://schemas.openxmlformats.org/drawingml/2006/main">
              <a:ext uri="{FF2B5EF4-FFF2-40B4-BE49-F238E27FC236}">
                <a16:creationId xmlns:a16="http://schemas.microsoft.com/office/drawing/2014/main" id="{ED27CB0E-249E-4788-8C0C-14911A92CB50}"/>
              </a:ext>
            </a:extLst>
          </p:cNvPr>
          <p:cNvSpPr>
            <a:spLocks xmlns:a="http://schemas.openxmlformats.org/drawingml/2006/main" noGrp="1"/>
          </p:cNvSpPr>
          <p:nvPr/>
        </p:nvSpPr>
        <p:spPr>
          <a:xfrm xmlns:a="http://schemas.openxmlformats.org/drawingml/2006/main">
            <a:off x="6096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Same 977 held-out cases</a:t>
            </a:r>
          </a:p>
        </p:txBody>
      </p:sp>
      <p:sp>
        <p:nvSpPr>
          <p:cNvPr id="5" name="">
            <a:extLst xmlns:a="http://schemas.openxmlformats.org/drawingml/2006/main">
              <a:ext uri="{FF2B5EF4-FFF2-40B4-BE49-F238E27FC236}">
                <a16:creationId xmlns:a16="http://schemas.microsoft.com/office/drawing/2014/main" id="{45C1711F-AF88-48F5-A53C-43345F02B493}"/>
              </a:ext>
            </a:extLst>
          </p:cNvPr>
          <p:cNvSpPr>
            <a:spLocks xmlns:a="http://schemas.openxmlformats.org/drawingml/2006/main" noGrp="1"/>
          </p:cNvSpPr>
          <p:nvPr/>
        </p:nvSpPr>
        <p:spPr>
          <a:xfrm xmlns:a="http://schemas.openxmlformats.org/drawingml/2006/main">
            <a:off x="609600" y="261937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275" b="1">
                <a:solidFill>
                  <a:srgbClr val="007F75"/>
                </a:solidFill>
                <a:latin typeface="Arial"/>
                <a:ea typeface="Arial"/>
                <a:cs typeface="Arial"/>
              </a:defRPr>
            </a:pPr>
            <a:r>
              <a:rPr sz="4275" b="1">
                <a:solidFill>
                  <a:srgbClr val="007F75"/>
                </a:solidFill>
                <a:latin typeface="Arial"/>
                <a:ea typeface="Arial"/>
                <a:cs typeface="Arial"/>
              </a:rPr>
              <a:t>68.7%</a:t>
            </a:r>
          </a:p>
        </p:txBody>
      </p:sp>
      <p:sp>
        <p:nvSpPr>
          <p:cNvPr id="6" name="">
            <a:extLst xmlns:a="http://schemas.openxmlformats.org/drawingml/2006/main">
              <a:ext uri="{FF2B5EF4-FFF2-40B4-BE49-F238E27FC236}">
                <a16:creationId xmlns:a16="http://schemas.microsoft.com/office/drawing/2014/main" id="{E8E3E4AB-9A30-41F9-9AF3-BAE400140A35}"/>
              </a:ext>
            </a:extLst>
          </p:cNvPr>
          <p:cNvSpPr>
            <a:spLocks xmlns:a="http://schemas.openxmlformats.org/drawingml/2006/main" noGrp="1"/>
          </p:cNvSpPr>
          <p:nvPr/>
        </p:nvSpPr>
        <p:spPr>
          <a:xfrm xmlns:a="http://schemas.openxmlformats.org/drawingml/2006/main">
            <a:off x="609600" y="33432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DeepSeek severity accuracy</a:t>
            </a:r>
          </a:p>
        </p:txBody>
      </p:sp>
      <p:sp>
        <p:nvSpPr>
          <p:cNvPr id="7" name="">
            <a:extLst xmlns:a="http://schemas.openxmlformats.org/drawingml/2006/main">
              <a:ext uri="{FF2B5EF4-FFF2-40B4-BE49-F238E27FC236}">
                <a16:creationId xmlns:a16="http://schemas.microsoft.com/office/drawing/2014/main" id="{CC76E1AC-89FF-497E-B3D5-6B266C2C3536}"/>
              </a:ext>
            </a:extLst>
          </p:cNvPr>
          <p:cNvSpPr>
            <a:spLocks xmlns:a="http://schemas.openxmlformats.org/drawingml/2006/main" noGrp="1"/>
          </p:cNvSpPr>
          <p:nvPr/>
        </p:nvSpPr>
        <p:spPr>
          <a:xfrm xmlns:a="http://schemas.openxmlformats.org/drawingml/2006/main">
            <a:off x="609600" y="4095750"/>
            <a:ext cx="2381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975" b="1">
                <a:solidFill>
                  <a:srgbClr val="007F75"/>
                </a:solidFill>
                <a:latin typeface="Arial"/>
                <a:ea typeface="Arial"/>
                <a:cs typeface="Arial"/>
              </a:defRPr>
            </a:pPr>
            <a:r>
              <a:rPr sz="3975" b="1">
                <a:solidFill>
                  <a:srgbClr val="007F75"/>
                </a:solidFill>
                <a:latin typeface="Arial"/>
                <a:ea typeface="Arial"/>
                <a:cs typeface="Arial"/>
              </a:rPr>
              <a:t>79.5%</a:t>
            </a:r>
          </a:p>
        </p:txBody>
      </p:sp>
      <p:sp>
        <p:nvSpPr>
          <p:cNvPr id="8" name="">
            <a:extLst xmlns:a="http://schemas.openxmlformats.org/drawingml/2006/main">
              <a:ext uri="{FF2B5EF4-FFF2-40B4-BE49-F238E27FC236}">
                <a16:creationId xmlns:a16="http://schemas.microsoft.com/office/drawing/2014/main" id="{42DE4D00-D6F0-42B5-A59A-291785F1DBE2}"/>
              </a:ext>
            </a:extLst>
          </p:cNvPr>
          <p:cNvSpPr>
            <a:spLocks xmlns:a="http://schemas.openxmlformats.org/drawingml/2006/main" noGrp="1"/>
          </p:cNvSpPr>
          <p:nvPr/>
        </p:nvSpPr>
        <p:spPr>
          <a:xfrm xmlns:a="http://schemas.openxmlformats.org/drawingml/2006/main">
            <a:off x="609600" y="48387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Data ceiling · 86% of the signal</a:t>
            </a:r>
          </a:p>
          <a:p xmlns:a="http://schemas.openxmlformats.org/drawingml/2006/main">
            <a:pPr>
              <a:buNone/>
              <a:defRPr sz="1950" b="0">
                <a:solidFill>
                  <a:srgbClr val="102C36"/>
                </a:solidFill>
                <a:latin typeface="Arial"/>
                <a:ea typeface="Arial"/>
                <a:cs typeface="Arial"/>
              </a:defRPr>
            </a:pPr>
            <a:r>
              <a:rPr sz="1950" b="0">
                <a:solidFill>
                  <a:srgbClr val="102C36"/>
                </a:solidFill>
                <a:latin typeface="Arial"/>
                <a:ea typeface="Arial"/>
                <a:cs typeface="Arial"/>
              </a:rPr>
              <a:t>Identical text, conflicting labels</a:t>
            </a:r>
          </a:p>
        </p:txBody>
      </p:sp>
      <p:sp>
        <p:nvSpPr>
          <p:cNvPr id="9" name="">
            <a:extLst xmlns:a="http://schemas.openxmlformats.org/drawingml/2006/main">
              <a:ext uri="{FF2B5EF4-FFF2-40B4-BE49-F238E27FC236}">
                <a16:creationId xmlns:a16="http://schemas.microsoft.com/office/drawing/2014/main" id="{C0F99FCF-EDE9-4F21-A1CA-30393B17D845}"/>
              </a:ext>
            </a:extLst>
          </p:cNvPr>
          <p:cNvSpPr>
            <a:spLocks xmlns:a="http://schemas.openxmlformats.org/drawingml/2006/main" noGrp="1"/>
          </p:cNvSpPr>
          <p:nvPr/>
        </p:nvSpPr>
        <p:spPr>
          <a:xfrm xmlns:a="http://schemas.openxmlformats.org/drawingml/2006/main">
            <a:off x="5838825" y="142875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02C36"/>
                </a:solidFill>
                <a:latin typeface="Arial"/>
                <a:ea typeface="Arial"/>
                <a:cs typeface="Arial"/>
              </a:defRPr>
            </a:pPr>
            <a:r>
              <a:rPr sz="2100" b="1">
                <a:solidFill>
                  <a:srgbClr val="102C36"/>
                </a:solidFill>
                <a:latin typeface="Arial"/>
                <a:ea typeface="Arial"/>
                <a:cs typeface="Arial"/>
              </a:rPr>
              <a:t>Severity benchmark</a:t>
            </a:r>
          </a:p>
        </p:txBody>
      </p:sp>
      <p:sp>
        <p:nvSpPr>
          <p:cNvPr id="10" name="">
            <a:extLst xmlns:a="http://schemas.openxmlformats.org/drawingml/2006/main">
              <a:ext uri="{FF2B5EF4-FFF2-40B4-BE49-F238E27FC236}">
                <a16:creationId xmlns:a16="http://schemas.microsoft.com/office/drawing/2014/main" id="{A3104A55-52D7-4274-8694-F124332AF5F2}"/>
              </a:ext>
            </a:extLst>
          </p:cNvPr>
          <p:cNvSpPr>
            <a:spLocks xmlns:a="http://schemas.openxmlformats.org/drawingml/2006/main" noGrp="1"/>
          </p:cNvSpPr>
          <p:nvPr/>
        </p:nvSpPr>
        <p:spPr>
          <a:xfrm xmlns:a="http://schemas.openxmlformats.org/drawingml/2006/main">
            <a:off x="5838825" y="192405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47078"/>
                </a:solidFill>
                <a:latin typeface="Arial"/>
                <a:ea typeface="Arial"/>
                <a:cs typeface="Arial"/>
              </a:defRPr>
            </a:pPr>
            <a:r>
              <a:rPr sz="1725" b="0">
                <a:solidFill>
                  <a:srgbClr val="547078"/>
                </a:solidFill>
                <a:latin typeface="Arial"/>
                <a:ea typeface="Arial"/>
                <a:cs typeface="Arial"/>
              </a:rPr>
              <a:t>Common 150-case test</a:t>
            </a:r>
          </a:p>
        </p:txBody>
      </p:sp>
      <p:graphicFrame>
        <p:nvGraphicFramePr>
          <p:cNvPr id="25" name=""/>
          <p:cNvGraphicFramePr/>
          <p:nvPr/>
        </p:nvGraphicFramePr>
        <p:xfrm>
          <a:off xmlns:a="http://schemas.openxmlformats.org/drawingml/2006/main" x="5829300" y="2466975"/>
          <a:ext xmlns:a="http://schemas.openxmlformats.org/drawingml/2006/main" cx="5715000" cy="3000375"/>
        </p:xfrm>
        <a:graphic xmlns:a="http://schemas.openxmlformats.org/drawingml/2006/main">
          <a:graphicData uri="http://schemas.openxmlformats.org/drawingml/2006/table">
            <a:tbl>
              <a:tblPr/>
              <a:tblGrid>
                <a:gridCol w="3952875"/>
                <a:gridCol w="1762125"/>
              </a:tblGrid>
              <a:tr h="500063">
                <a:tc>
                  <a:txBody>
                    <a:bodyPr/>
                    <a:lstStyle/>
                    <a:p>
                      <a:r>
                        <a:rPr sz="1875" b="1">
                          <a:solidFill>
                            <a:srgbClr val="FFFFFF"/>
                          </a:solidFill>
                          <a:latin typeface="Arial"/>
                          <a:ea typeface="Arial"/>
                          <a:cs typeface="Arial"/>
                        </a:rPr>
                        <a:t>Model</a:t>
                      </a:r>
                    </a:p>
                  </a:txBody>
                  <a:tcPr marL="91440" marR="91440" marT="45720" marB="45720">
                    <a:solidFill>
                      <a:srgbClr val="102C36"/>
                    </a:solidFill>
                  </a:tcPr>
                </a:tc>
                <a:tc>
                  <a:txBody>
                    <a:bodyPr/>
                    <a:lstStyle/>
                    <a:p>
                      <a:r>
                        <a:rPr sz="1875" b="1">
                          <a:solidFill>
                            <a:srgbClr val="FFFFFF"/>
                          </a:solidFill>
                          <a:latin typeface="Arial"/>
                          <a:ea typeface="Arial"/>
                          <a:cs typeface="Arial"/>
                        </a:rPr>
                        <a:t>Accuracy</a:t>
                      </a:r>
                    </a:p>
                  </a:txBody>
                  <a:tcPr marL="91440" marR="91440" marT="45720" marB="45720">
                    <a:solidFill>
                      <a:srgbClr val="102C36"/>
                    </a:solidFill>
                  </a:tcPr>
                </a:tc>
              </a:tr>
              <a:tr h="500063">
                <a:tc>
                  <a:txBody>
                    <a:bodyPr/>
                    <a:lstStyle/>
                    <a:p>
                      <a:r>
                        <a:rPr sz="1875" b="1">
                          <a:solidFill>
                            <a:srgbClr val="102C36"/>
                          </a:solidFill>
                          <a:latin typeface="Arial"/>
                          <a:ea typeface="Arial"/>
                          <a:cs typeface="Arial"/>
                        </a:rPr>
                        <a:t>LightGBM</a:t>
                      </a:r>
                    </a:p>
                  </a:txBody>
                  <a:tcPr marL="91440" marR="91440" marT="45720" marB="45720">
                    <a:solidFill>
                      <a:srgbClr val="DFEDE7"/>
                    </a:solidFill>
                  </a:tcPr>
                </a:tc>
                <a:tc>
                  <a:txBody>
                    <a:bodyPr/>
                    <a:lstStyle/>
                    <a:p>
                      <a:r>
                        <a:rPr sz="1875" b="1">
                          <a:solidFill>
                            <a:srgbClr val="102C36"/>
                          </a:solidFill>
                          <a:latin typeface="Arial"/>
                          <a:ea typeface="Arial"/>
                          <a:cs typeface="Arial"/>
                        </a:rPr>
                        <a:t>65.3%</a:t>
                      </a:r>
                    </a:p>
                  </a:txBody>
                  <a:tcPr marL="91440" marR="91440" marT="45720" marB="45720">
                    <a:solidFill>
                      <a:srgbClr val="DFEDE7"/>
                    </a:solidFill>
                  </a:tcPr>
                </a:tc>
              </a:tr>
              <a:tr h="500063">
                <a:tc>
                  <a:txBody>
                    <a:bodyPr/>
                    <a:lstStyle/>
                    <a:p>
                      <a:r>
                        <a:rPr sz="1875" b="0">
                          <a:solidFill>
                            <a:srgbClr val="102C36"/>
                          </a:solidFill>
                          <a:latin typeface="Arial"/>
                          <a:ea typeface="Arial"/>
                          <a:cs typeface="Arial"/>
                        </a:rPr>
                        <a:t>DeepSeek</a:t>
                      </a:r>
                    </a:p>
                  </a:txBody>
                  <a:tcPr marL="91440" marR="91440" marT="45720" marB="45720">
                    <a:solidFill>
                      <a:srgbClr val="F5F4EF"/>
                    </a:solidFill>
                  </a:tcPr>
                </a:tc>
                <a:tc>
                  <a:txBody>
                    <a:bodyPr/>
                    <a:lstStyle/>
                    <a:p>
                      <a:r>
                        <a:rPr sz="1875" b="0">
                          <a:solidFill>
                            <a:srgbClr val="102C36"/>
                          </a:solidFill>
                          <a:latin typeface="Arial"/>
                          <a:ea typeface="Arial"/>
                          <a:cs typeface="Arial"/>
                        </a:rPr>
                        <a:t>72.7%</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LogReg</a:t>
                      </a:r>
                    </a:p>
                  </a:txBody>
                  <a:tcPr marL="91440" marR="91440" marT="45720" marB="45720">
                    <a:solidFill>
                      <a:srgbClr val="F5F4EF"/>
                    </a:solidFill>
                  </a:tcPr>
                </a:tc>
                <a:tc>
                  <a:txBody>
                    <a:bodyPr/>
                    <a:lstStyle/>
                    <a:p>
                      <a:r>
                        <a:rPr sz="1875" b="0">
                          <a:solidFill>
                            <a:srgbClr val="102C36"/>
                          </a:solidFill>
                          <a:latin typeface="Arial"/>
                          <a:ea typeface="Arial"/>
                          <a:cs typeface="Arial"/>
                        </a:rPr>
                        <a:t>73.3%</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gbert (German BERT, GPU)</a:t>
                      </a:r>
                    </a:p>
                  </a:txBody>
                  <a:tcPr marL="91440" marR="91440" marT="45720" marB="45720">
                    <a:solidFill>
                      <a:srgbClr val="F5F4EF"/>
                    </a:solidFill>
                  </a:tcPr>
                </a:tc>
                <a:tc>
                  <a:txBody>
                    <a:bodyPr/>
                    <a:lstStyle/>
                    <a:p>
                      <a:r>
                        <a:rPr sz="1875" b="0">
                          <a:solidFill>
                            <a:srgbClr val="102C36"/>
                          </a:solidFill>
                          <a:latin typeface="Arial"/>
                          <a:ea typeface="Arial"/>
                          <a:cs typeface="Arial"/>
                        </a:rPr>
                        <a:t>78.7%</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XGBoost</a:t>
                      </a:r>
                    </a:p>
                  </a:txBody>
                  <a:tcPr marL="91440" marR="91440" marT="45720" marB="45720">
                    <a:solidFill>
                      <a:srgbClr val="F5F4EF"/>
                    </a:solidFill>
                  </a:tcPr>
                </a:tc>
                <a:tc>
                  <a:txBody>
                    <a:bodyPr/>
                    <a:lstStyle/>
                    <a:p>
                      <a:r>
                        <a:rPr sz="1875" b="0">
                          <a:solidFill>
                            <a:srgbClr val="102C36"/>
                          </a:solidFill>
                          <a:latin typeface="Arial"/>
                          <a:ea typeface="Arial"/>
                          <a:cs typeface="Arial"/>
                        </a:rPr>
                        <a:t>82.0%</a:t>
                      </a:r>
                    </a:p>
                  </a:txBody>
                  <a:tcPr marL="91440" marR="91440" marT="45720" marB="45720">
                    <a:solidFill>
                      <a:srgbClr val="F5F4EF"/>
                    </a:solidFill>
                  </a:tcPr>
                </a:tc>
              </a:tr>
            </a:tbl>
          </a:graphicData>
        </a:graphic>
      </p:graphicFrame>
      <p:sp>
        <p:nvSpPr>
          <p:cNvPr id="12" name="">
            <a:extLst xmlns:a="http://schemas.openxmlformats.org/drawingml/2006/main">
              <a:ext uri="{FF2B5EF4-FFF2-40B4-BE49-F238E27FC236}">
                <a16:creationId xmlns:a16="http://schemas.microsoft.com/office/drawing/2014/main" id="{53E3152F-9ACB-4845-AA41-2553BF79334F}"/>
              </a:ext>
            </a:extLst>
          </p:cNvPr>
          <p:cNvSpPr>
            <a:spLocks xmlns:a="http://schemas.openxmlformats.org/drawingml/2006/main" noGrp="1"/>
          </p:cNvSpPr>
          <p:nvPr/>
        </p:nvSpPr>
        <p:spPr>
          <a:xfrm xmlns:a="http://schemas.openxmlformats.org/drawingml/2006/main">
            <a:off x="609600" y="59340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47078"/>
                </a:solidFill>
                <a:latin typeface="Arial"/>
                <a:ea typeface="Arial"/>
                <a:cs typeface="Arial"/>
              </a:defRPr>
            </a:pPr>
            <a:r>
              <a:rPr sz="1500" b="0">
                <a:solidFill>
                  <a:srgbClr val="547078"/>
                </a:solidFill>
                <a:latin typeface="Arial"/>
                <a:ea typeface="Arial"/>
                <a:cs typeface="Arial"/>
              </a:rPr>
              <a:t>17-point boosting spread: a phrase-library overfitting warning.</a:t>
            </a:r>
          </a:p>
          <a:p xmlns:a="http://schemas.openxmlformats.org/drawingml/2006/main">
            <a:pPr>
              <a:buNone/>
              <a:defRPr sz="1500" b="0">
                <a:solidFill>
                  <a:srgbClr val="547078"/>
                </a:solidFill>
                <a:latin typeface="Arial"/>
                <a:ea typeface="Arial"/>
                <a:cs typeface="Arial"/>
              </a:defRPr>
            </a:pPr>
            <a:r>
              <a:rPr sz="1500" b="0">
                <a:solidFill>
                  <a:srgbClr val="547078"/>
                </a:solidFill>
                <a:latin typeface="Arial"/>
                <a:ea typeface="Arial"/>
                <a:cs typeface="Arial"/>
              </a:rPr>
              <a:t>The product uses DeepSeek; generalisation to real notes remains to validate.</a:t>
            </a:r>
          </a:p>
        </p:txBody>
      </p:sp>
    </p:spTree>
    <p:extLst>
      <p:ext uri="{BB962C8B-B14F-4D97-AF65-F5344CB8AC3E}">
        <p14:creationId xmlns:p14="http://schemas.microsoft.com/office/powerpoint/2010/main" val="213934229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3CDD1D-DFF0-4CDA-B318-74930B76E136}"/>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What the dealership can act on</a:t>
            </a:r>
          </a:p>
        </p:txBody>
      </p:sp>
      <p:sp>
        <p:nvSpPr>
          <p:cNvPr id="2" name="">
            <a:extLst xmlns:a="http://schemas.openxmlformats.org/drawingml/2006/main">
              <a:ext uri="{FF2B5EF4-FFF2-40B4-BE49-F238E27FC236}">
                <a16:creationId xmlns:a16="http://schemas.microsoft.com/office/drawing/2014/main" id="{A85C8F2D-C6E1-4DC9-9E03-CFF45966A42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8AB64388-7E9E-4D82-BB03-4D42E09F0299}"/>
              </a:ext>
            </a:extLst>
          </p:cNvPr>
          <p:cNvSpPr>
            <a:spLocks xmlns:a="http://schemas.openxmlformats.org/drawingml/2006/main" noGrp="1"/>
          </p:cNvSpPr>
          <p:nvPr/>
        </p:nvSpPr>
        <p:spPr>
          <a:xfrm xmlns:a="http://schemas.openxmlformats.org/drawingml/2006/main">
            <a:off x="609600" y="1390650"/>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102C36"/>
                </a:solidFill>
                <a:latin typeface="Arial"/>
                <a:ea typeface="Arial"/>
                <a:cs typeface="Arial"/>
              </a:defRPr>
            </a:pPr>
            <a:r>
              <a:rPr sz="1950" b="1">
                <a:solidFill>
                  <a:srgbClr val="102C36"/>
                </a:solidFill>
                <a:latin typeface="Arial"/>
                <a:ea typeface="Arial"/>
                <a:cs typeface="Arial"/>
              </a:rPr>
              <a:t>450 damage cases · Repair operations</a:t>
            </a:r>
          </a:p>
        </p:txBody>
      </p:sp>
      <p:sp>
        <p:nvSpPr>
          <p:cNvPr id="5" name="">
            <a:extLst xmlns:a="http://schemas.openxmlformats.org/drawingml/2006/main">
              <a:ext uri="{FF2B5EF4-FFF2-40B4-BE49-F238E27FC236}">
                <a16:creationId xmlns:a16="http://schemas.microsoft.com/office/drawing/2014/main" id="{EBEAD060-EE55-4496-B13D-FADDFCC87683}"/>
              </a:ext>
            </a:extLst>
          </p:cNvPr>
          <p:cNvSpPr>
            <a:spLocks xmlns:a="http://schemas.openxmlformats.org/drawingml/2006/main" noGrp="1"/>
          </p:cNvSpPr>
          <p:nvPr/>
        </p:nvSpPr>
        <p:spPr>
          <a:xfrm xmlns:a="http://schemas.openxmlformats.org/drawingml/2006/main">
            <a:off x="7924800" y="19526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007F75"/>
                </a:solidFill>
                <a:latin typeface="Arial"/>
                <a:ea typeface="Arial"/>
                <a:cs typeface="Arial"/>
              </a:defRPr>
            </a:pPr>
            <a:r>
              <a:rPr sz="4500" b="1">
                <a:solidFill>
                  <a:srgbClr val="007F75"/>
                </a:solidFill>
                <a:latin typeface="Arial"/>
                <a:ea typeface="Arial"/>
                <a:cs typeface="Arial"/>
              </a:rPr>
              <a:t>41.3%</a:t>
            </a:r>
          </a:p>
        </p:txBody>
      </p:sp>
      <p:sp>
        <p:nvSpPr>
          <p:cNvPr id="6" name="">
            <a:extLst xmlns:a="http://schemas.openxmlformats.org/drawingml/2006/main">
              <a:ext uri="{FF2B5EF4-FFF2-40B4-BE49-F238E27FC236}">
                <a16:creationId xmlns:a16="http://schemas.microsoft.com/office/drawing/2014/main" id="{F8993B5B-F894-4BB0-95EE-611233AB2433}"/>
              </a:ext>
            </a:extLst>
          </p:cNvPr>
          <p:cNvSpPr>
            <a:spLocks xmlns:a="http://schemas.openxmlformats.org/drawingml/2006/main" noGrp="1"/>
          </p:cNvSpPr>
          <p:nvPr/>
        </p:nvSpPr>
        <p:spPr>
          <a:xfrm xmlns:a="http://schemas.openxmlformats.org/drawingml/2006/main">
            <a:off x="7924800" y="2809875"/>
            <a:ext cx="34099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02C36"/>
                </a:solidFill>
                <a:latin typeface="Arial"/>
                <a:ea typeface="Arial"/>
                <a:cs typeface="Arial"/>
              </a:defRPr>
            </a:pPr>
            <a:r>
              <a:rPr sz="1875" b="0">
                <a:solidFill>
                  <a:srgbClr val="102C36"/>
                </a:solidFill>
                <a:latin typeface="Arial"/>
                <a:ea typeface="Arial"/>
                <a:cs typeface="Arial"/>
              </a:rPr>
              <a:t>Parking / manoeuvring</a:t>
            </a:r>
          </a:p>
          <a:p xmlns:a="http://schemas.openxmlformats.org/drawingml/2006/main">
            <a:pPr>
              <a:buNone/>
              <a:defRPr sz="1875" b="0">
                <a:solidFill>
                  <a:srgbClr val="102C36"/>
                </a:solidFill>
                <a:latin typeface="Arial"/>
                <a:ea typeface="Arial"/>
                <a:cs typeface="Arial"/>
              </a:defRPr>
            </a:pPr>
            <a:r>
              <a:rPr sz="1875" b="0">
                <a:solidFill>
                  <a:srgbClr val="102C36"/>
                </a:solidFill>
                <a:latin typeface="Arial"/>
                <a:ea typeface="Arial"/>
                <a:cs typeface="Arial"/>
              </a:rPr>
              <a:t>186 / 450 damage cases</a:t>
            </a:r>
          </a:p>
          <a:p xmlns:a="http://schemas.openxmlformats.org/drawingml/2006/main">
            <a:pPr>
              <a:buNone/>
              <a:defRPr sz="1875" b="0">
                <a:solidFill>
                  <a:srgbClr val="102C36"/>
                </a:solidFill>
                <a:latin typeface="Arial"/>
                <a:ea typeface="Arial"/>
                <a:cs typeface="Arial"/>
              </a:defRPr>
            </a:pPr>
            <a:r>
              <a:rPr sz="1875" b="0">
                <a:solidFill>
                  <a:srgbClr val="102C36"/>
                </a:solidFill>
                <a:latin typeface="Arial"/>
                <a:ea typeface="Arial"/>
                <a:cs typeface="Arial"/>
              </a:rPr>
              <a:t>Low severity · High volume</a:t>
            </a:r>
          </a:p>
        </p:txBody>
      </p:sp>
      <p:sp>
        <p:nvSpPr>
          <p:cNvPr id="7" name="">
            <a:extLst xmlns:a="http://schemas.openxmlformats.org/drawingml/2006/main">
              <a:ext uri="{FF2B5EF4-FFF2-40B4-BE49-F238E27FC236}">
                <a16:creationId xmlns:a16="http://schemas.microsoft.com/office/drawing/2014/main" id="{D456A6E0-94FF-46F8-9EF9-B1DD68D4F433}"/>
              </a:ext>
            </a:extLst>
          </p:cNvPr>
          <p:cNvSpPr>
            <a:spLocks xmlns:a="http://schemas.openxmlformats.org/drawingml/2006/main" noGrp="1"/>
          </p:cNvSpPr>
          <p:nvPr/>
        </p:nvSpPr>
        <p:spPr>
          <a:xfrm xmlns:a="http://schemas.openxmlformats.org/drawingml/2006/main">
            <a:off x="7924800" y="43338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02C36"/>
                </a:solidFill>
                <a:latin typeface="Arial"/>
                <a:ea typeface="Arial"/>
                <a:cs typeface="Arial"/>
              </a:defRPr>
            </a:pPr>
            <a:r>
              <a:rPr sz="2325" b="1">
                <a:solidFill>
                  <a:srgbClr val="102C36"/>
                </a:solidFill>
                <a:latin typeface="Arial"/>
                <a:ea typeface="Arial"/>
                <a:cs typeface="Arial"/>
              </a:rPr>
              <a:t>668 cases still open</a:t>
            </a:r>
          </a:p>
        </p:txBody>
      </p:sp>
      <p:sp>
        <p:nvSpPr>
          <p:cNvPr id="8" name="">
            <a:extLst xmlns:a="http://schemas.openxmlformats.org/drawingml/2006/main">
              <a:ext uri="{FF2B5EF4-FFF2-40B4-BE49-F238E27FC236}">
                <a16:creationId xmlns:a16="http://schemas.microsoft.com/office/drawing/2014/main" id="{2AE3D056-AFD2-4B1F-A634-CA2CC5EDF2F2}"/>
              </a:ext>
            </a:extLst>
          </p:cNvPr>
          <p:cNvSpPr>
            <a:spLocks xmlns:a="http://schemas.openxmlformats.org/drawingml/2006/main" noGrp="1"/>
          </p:cNvSpPr>
          <p:nvPr/>
        </p:nvSpPr>
        <p:spPr>
          <a:xfrm xmlns:a="http://schemas.openxmlformats.org/drawingml/2006/main">
            <a:off x="7924800" y="4933950"/>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47078"/>
                </a:solidFill>
                <a:latin typeface="Arial"/>
                <a:ea typeface="Arial"/>
                <a:cs typeface="Arial"/>
              </a:defRPr>
            </a:pPr>
            <a:r>
              <a:rPr sz="1800" b="0">
                <a:solidFill>
                  <a:srgbClr val="547078"/>
                </a:solidFill>
                <a:latin typeface="Arial"/>
                <a:ea typeface="Arial"/>
                <a:cs typeface="Arial"/>
              </a:rPr>
              <a:t>Median age: 150 days</a:t>
            </a:r>
          </a:p>
          <a:p xmlns:a="http://schemas.openxmlformats.org/drawingml/2006/main">
            <a:pPr>
              <a:buNone/>
              <a:defRPr sz="1800" b="0">
                <a:solidFill>
                  <a:srgbClr val="547078"/>
                </a:solidFill>
                <a:latin typeface="Arial"/>
                <a:ea typeface="Arial"/>
                <a:cs typeface="Arial"/>
              </a:defRPr>
            </a:pPr>
            <a:r>
              <a:rPr sz="1800" b="0">
                <a:solidFill>
                  <a:srgbClr val="547078"/>
                </a:solidFill>
                <a:latin typeface="Arial"/>
                <a:ea typeface="Arial"/>
                <a:cs typeface="Arial"/>
              </a:rPr>
              <a:t>A queue to review</a:t>
            </a:r>
          </a:p>
          <a:p xmlns:a="http://schemas.openxmlformats.org/drawingml/2006/main">
            <a:pPr>
              <a:buNone/>
              <a:defRPr sz="1800" b="0">
                <a:solidFill>
                  <a:srgbClr val="547078"/>
                </a:solidFill>
                <a:latin typeface="Arial"/>
                <a:ea typeface="Arial"/>
                <a:cs typeface="Arial"/>
              </a:defRPr>
            </a:pPr>
            <a:r>
              <a:rPr sz="1800" b="0">
                <a:solidFill>
                  <a:srgbClr val="547078"/>
                </a:solidFill>
                <a:latin typeface="Arial"/>
                <a:ea typeface="Arial"/>
                <a:cs typeface="Arial"/>
              </a:rPr>
              <a:t>with the workshop</a:t>
            </a:r>
          </a:p>
        </p:txBody>
      </p:sp>
      <p:sp>
        <p:nvSpPr>
          <p:cNvPr id="9" name="">
            <a:extLst xmlns:a="http://schemas.openxmlformats.org/drawingml/2006/main">
              <a:ext uri="{FF2B5EF4-FFF2-40B4-BE49-F238E27FC236}">
                <a16:creationId xmlns:a16="http://schemas.microsoft.com/office/drawing/2014/main" id="{9D437113-C8BC-46D9-90CA-275F57FD0849}"/>
              </a:ext>
            </a:extLst>
          </p:cNvPr>
          <p:cNvSpPr>
            <a:spLocks xmlns:a="http://schemas.openxmlformats.org/drawingml/2006/main" noGrp="1"/>
          </p:cNvSpPr>
          <p:nvPr/>
        </p:nvSpPr>
        <p:spPr>
          <a:xfrm xmlns:a="http://schemas.openxmlformats.org/drawingml/2006/main">
            <a:off x="609600" y="6000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47078"/>
                </a:solidFill>
                <a:latin typeface="Arial"/>
                <a:ea typeface="Arial"/>
                <a:cs typeface="Arial"/>
              </a:defRPr>
            </a:pPr>
            <a:r>
              <a:rPr sz="1575" b="0">
                <a:solidFill>
                  <a:srgbClr val="547078"/>
                </a:solidFill>
                <a:latin typeface="Arial"/>
                <a:ea typeface="Arial"/>
                <a:cs typeface="Arial"/>
              </a:rPr>
              <a:t>216 replacements trigger 389 R&amp;I operations — billable work hidden in the raw note.</a:t>
            </a:r>
          </a:p>
        </p:txBody>
      </p:sp>
      <p:graphicFrame>
        <p:nvGraphicFramePr>
          <p:cNvPr id="20" name="Chart"/>
          <p:cNvGraphicFramePr/>
          <p:nvPr/>
        </p:nvGraphicFramePr>
        <p:xfrm>
          <a:off xmlns:a="http://schemas.openxmlformats.org/drawingml/2006/main" x="552450" y="1990725"/>
          <a:ext xmlns:a="http://schemas.openxmlformats.org/drawingml/2006/main" cx="6858000" cy="3705225"/>
        </p:xfrm>
        <a:graphic xmlns:a="http://schemas.openxmlformats.org/drawingml/2006/main">
          <a:graphicData uri="http://schemas.openxmlformats.org/drawingml/2006/chart">
            <c:chart xmlns:r="http://schemas.openxmlformats.org/officeDocument/2006/relationships" xmlns:c="http://schemas.openxmlformats.org/drawingml/2006/chart" r:id="R5ee4bbf46f82447e"/>
          </a:graphicData>
        </a:graphic>
      </p:graphicFrame>
    </p:spTree>
    <p:extLst>
      <p:ext uri="{BB962C8B-B14F-4D97-AF65-F5344CB8AC3E}">
        <p14:creationId xmlns:p14="http://schemas.microsoft.com/office/powerpoint/2010/main" val="565877214"/>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389F48-7629-4AD2-B4AD-5458322DA05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Where it breaks</a:t>
            </a:r>
          </a:p>
        </p:txBody>
      </p:sp>
      <p:sp>
        <p:nvSpPr>
          <p:cNvPr id="2" name="">
            <a:extLst xmlns:a="http://schemas.openxmlformats.org/drawingml/2006/main">
              <a:ext uri="{FF2B5EF4-FFF2-40B4-BE49-F238E27FC236}">
                <a16:creationId xmlns:a16="http://schemas.microsoft.com/office/drawing/2014/main" id="{1F279D86-D8BF-4076-A107-1F1D8EDDFB2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E181C90-9565-4CBE-99B0-94615C2FE127}"/>
              </a:ext>
            </a:extLst>
          </p:cNvPr>
          <p:cNvSpPr>
            <a:spLocks xmlns:a="http://schemas.openxmlformats.org/drawingml/2006/main" noGrp="1"/>
          </p:cNvSpPr>
          <p:nvPr/>
        </p:nvSpPr>
        <p:spPr>
          <a:xfrm xmlns:a="http://schemas.openxmlformats.org/drawingml/2006/main">
            <a:off x="609600" y="1466850"/>
            <a:ext cx="6286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02C36"/>
                </a:solidFill>
                <a:latin typeface="Arial"/>
                <a:ea typeface="Arial"/>
                <a:cs typeface="Arial"/>
              </a:defRPr>
            </a:pPr>
            <a:r>
              <a:rPr sz="2250" b="1">
                <a:solidFill>
                  <a:srgbClr val="102C36"/>
                </a:solidFill>
                <a:latin typeface="Arial"/>
                <a:ea typeface="Arial"/>
                <a:cs typeface="Arial"/>
              </a:rPr>
              <a:t>The key R&amp;I limitation</a:t>
            </a:r>
          </a:p>
        </p:txBody>
      </p:sp>
      <p:sp>
        <p:nvSpPr>
          <p:cNvPr id="4" name="">
            <a:extLst xmlns:a="http://schemas.openxmlformats.org/drawingml/2006/main">
              <a:ext uri="{FF2B5EF4-FFF2-40B4-BE49-F238E27FC236}">
                <a16:creationId xmlns:a16="http://schemas.microsoft.com/office/drawing/2014/main" id="{F76A8715-957D-41E5-BAD0-0B3F1591C4E3}"/>
              </a:ext>
            </a:extLst>
          </p:cNvPr>
          <p:cNvSpPr>
            <a:spLocks xmlns:a="http://schemas.openxmlformats.org/drawingml/2006/main" noGrp="1"/>
          </p:cNvSpPr>
          <p:nvPr/>
        </p:nvSpPr>
        <p:spPr>
          <a:xfrm xmlns:a="http://schemas.openxmlformats.org/drawingml/2006/main">
            <a:off x="609600" y="21145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“How do we know which parts to remove</a:t>
            </a:r>
          </a:p>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in order to repair another one?”</a:t>
            </a:r>
          </a:p>
        </p:txBody>
      </p:sp>
      <p:sp>
        <p:nvSpPr>
          <p:cNvPr id="5" name="">
            <a:extLst xmlns:a="http://schemas.openxmlformats.org/drawingml/2006/main">
              <a:ext uri="{FF2B5EF4-FFF2-40B4-BE49-F238E27FC236}">
                <a16:creationId xmlns:a16="http://schemas.microsoft.com/office/drawing/2014/main" id="{B819C22A-19B2-4757-8D54-2B69F0CDC573}"/>
              </a:ext>
            </a:extLst>
          </p:cNvPr>
          <p:cNvSpPr>
            <a:spLocks xmlns:a="http://schemas.openxmlformats.org/drawingml/2006/main" noGrp="1"/>
          </p:cNvSpPr>
          <p:nvPr/>
        </p:nvSpPr>
        <p:spPr>
          <a:xfrm xmlns:a="http://schemas.openxmlformats.org/drawingml/2006/main">
            <a:off x="609600" y="3381375"/>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A hand-reviewed adjacency table, bodywork only.</a:t>
            </a:r>
          </a:p>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Expert rules, unverified against ground truth.</a:t>
            </a:r>
          </a:p>
        </p:txBody>
      </p:sp>
      <p:sp>
        <p:nvSpPr>
          <p:cNvPr id="6" name="">
            <a:extLst xmlns:a="http://schemas.openxmlformats.org/drawingml/2006/main">
              <a:ext uri="{FF2B5EF4-FFF2-40B4-BE49-F238E27FC236}">
                <a16:creationId xmlns:a16="http://schemas.microsoft.com/office/drawing/2014/main" id="{CD561742-7960-4149-933B-C9EE70756C2D}"/>
              </a:ext>
            </a:extLst>
          </p:cNvPr>
          <p:cNvSpPr>
            <a:spLocks xmlns:a="http://schemas.openxmlformats.org/drawingml/2006/main" noGrp="1"/>
          </p:cNvSpPr>
          <p:nvPr/>
        </p:nvSpPr>
        <p:spPr>
          <a:xfrm xmlns:a="http://schemas.openxmlformats.org/drawingml/2006/main">
            <a:off x="609600" y="4505325"/>
            <a:ext cx="666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Ground truth: zones, severity, kind, insurance, stage.</a:t>
            </a:r>
          </a:p>
          <a:p xmlns:a="http://schemas.openxmlformats.org/drawingml/2006/main">
            <a:pPr>
              <a:buNone/>
              <a:defRPr sz="2025" b="0">
                <a:solidFill>
                  <a:srgbClr val="102C36"/>
                </a:solidFill>
                <a:latin typeface="Arial"/>
                <a:ea typeface="Arial"/>
                <a:cs typeface="Arial"/>
              </a:defRPr>
            </a:pPr>
            <a:r>
              <a:rPr sz="2025" b="0">
                <a:solidFill>
                  <a:srgbClr val="102C36"/>
                </a:solidFill>
                <a:latin typeface="Arial"/>
                <a:ea typeface="Arial"/>
                <a:cs typeface="Arial"/>
              </a:rPr>
              <a:t>No parts, removal or operation labels.</a:t>
            </a:r>
          </a:p>
        </p:txBody>
      </p:sp>
      <p:sp>
        <p:nvSpPr>
          <p:cNvPr id="7" name="">
            <a:extLst xmlns:a="http://schemas.openxmlformats.org/drawingml/2006/main">
              <a:ext uri="{FF2B5EF4-FFF2-40B4-BE49-F238E27FC236}">
                <a16:creationId xmlns:a16="http://schemas.microsoft.com/office/drawing/2014/main" id="{05C8C0DA-366F-48DC-9AED-DBFE564313CB}"/>
              </a:ext>
            </a:extLst>
          </p:cNvPr>
          <p:cNvSpPr>
            <a:spLocks xmlns:a="http://schemas.openxmlformats.org/drawingml/2006/main" noGrp="1"/>
          </p:cNvSpPr>
          <p:nvPr/>
        </p:nvSpPr>
        <p:spPr>
          <a:xfrm xmlns:a="http://schemas.openxmlformats.org/drawingml/2006/main">
            <a:off x="7962900" y="146685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7F75"/>
                </a:solidFill>
                <a:latin typeface="Arial"/>
                <a:ea typeface="Arial"/>
                <a:cs typeface="Arial"/>
              </a:defRPr>
            </a:pPr>
            <a:r>
              <a:rPr sz="2250" b="1">
                <a:solidFill>
                  <a:srgbClr val="007F75"/>
                </a:solidFill>
                <a:latin typeface="Arial"/>
                <a:ea typeface="Arial"/>
                <a:cs typeface="Arial"/>
              </a:rPr>
              <a:t>Other limits</a:t>
            </a:r>
          </a:p>
        </p:txBody>
      </p:sp>
      <p:sp>
        <p:nvSpPr>
          <p:cNvPr id="8" name="">
            <a:extLst xmlns:a="http://schemas.openxmlformats.org/drawingml/2006/main">
              <a:ext uri="{FF2B5EF4-FFF2-40B4-BE49-F238E27FC236}">
                <a16:creationId xmlns:a16="http://schemas.microsoft.com/office/drawing/2014/main" id="{3B75BDFE-74AA-4D75-B56B-D4D3E2FBC8FF}"/>
              </a:ext>
            </a:extLst>
          </p:cNvPr>
          <p:cNvSpPr>
            <a:spLocks xmlns:a="http://schemas.openxmlformats.org/drawingml/2006/main" noGrp="1"/>
          </p:cNvSpPr>
          <p:nvPr/>
        </p:nvSpPr>
        <p:spPr>
          <a:xfrm xmlns:a="http://schemas.openxmlformats.org/drawingml/2006/main">
            <a:off x="7962900" y="22193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Synthetic phrase library:</a:t>
            </a:r>
          </a:p>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regex looks artificially strong</a:t>
            </a:r>
          </a:p>
        </p:txBody>
      </p:sp>
      <p:sp>
        <p:nvSpPr>
          <p:cNvPr id="9" name="">
            <a:extLst xmlns:a="http://schemas.openxmlformats.org/drawingml/2006/main">
              <a:ext uri="{FF2B5EF4-FFF2-40B4-BE49-F238E27FC236}">
                <a16:creationId xmlns:a16="http://schemas.microsoft.com/office/drawing/2014/main" id="{083F0F77-EC28-4E74-B2DD-1DAC3E22F23D}"/>
              </a:ext>
            </a:extLst>
          </p:cNvPr>
          <p:cNvSpPr>
            <a:spLocks xmlns:a="http://schemas.openxmlformats.org/drawingml/2006/main" noGrp="1"/>
          </p:cNvSpPr>
          <p:nvPr/>
        </p:nvSpPr>
        <p:spPr>
          <a:xfrm xmlns:a="http://schemas.openxmlformats.org/drawingml/2006/main">
            <a:off x="7962900" y="345757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Severity ceiling:</a:t>
            </a:r>
          </a:p>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a limit in the data</a:t>
            </a:r>
          </a:p>
        </p:txBody>
      </p:sp>
      <p:sp>
        <p:nvSpPr>
          <p:cNvPr id="10" name="">
            <a:extLst xmlns:a="http://schemas.openxmlformats.org/drawingml/2006/main">
              <a:ext uri="{FF2B5EF4-FFF2-40B4-BE49-F238E27FC236}">
                <a16:creationId xmlns:a16="http://schemas.microsoft.com/office/drawing/2014/main" id="{E7E7DBCA-9497-4FB0-A559-61AD4249BD49}"/>
              </a:ext>
            </a:extLst>
          </p:cNvPr>
          <p:cNvSpPr>
            <a:spLocks xmlns:a="http://schemas.openxmlformats.org/drawingml/2006/main" noGrp="1"/>
          </p:cNvSpPr>
          <p:nvPr/>
        </p:nvSpPr>
        <p:spPr>
          <a:xfrm xmlns:a="http://schemas.openxmlformats.org/drawingml/2006/main">
            <a:off x="7962900" y="46958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2 unmapped terms:</a:t>
            </a:r>
          </a:p>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flagged, never dropped</a:t>
            </a:r>
          </a:p>
        </p:txBody>
      </p:sp>
      <p:sp>
        <p:nvSpPr>
          <p:cNvPr id="11" name="">
            <a:extLst xmlns:a="http://schemas.openxmlformats.org/drawingml/2006/main">
              <a:ext uri="{FF2B5EF4-FFF2-40B4-BE49-F238E27FC236}">
                <a16:creationId xmlns:a16="http://schemas.microsoft.com/office/drawing/2014/main" id="{CD34A495-CE5A-4E7E-9DBF-ED860B8E05B7}"/>
              </a:ext>
            </a:extLst>
          </p:cNvPr>
          <p:cNvSpPr>
            <a:spLocks xmlns:a="http://schemas.openxmlformats.org/drawingml/2006/main" noGrp="1"/>
          </p:cNvSpPr>
          <p:nvPr/>
        </p:nvSpPr>
        <p:spPr>
          <a:xfrm xmlns:a="http://schemas.openxmlformats.org/drawingml/2006/main">
            <a:off x="609600" y="6000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007F75"/>
                </a:solidFill>
                <a:latin typeface="Arial"/>
                <a:ea typeface="Arial"/>
                <a:cs typeface="Arial"/>
              </a:defRPr>
            </a:pPr>
            <a:r>
              <a:rPr sz="1650" b="0">
                <a:solidFill>
                  <a:srgbClr val="007F75"/>
                </a:solidFill>
                <a:latin typeface="Arial"/>
                <a:ea typeface="Arial"/>
                <a:cs typeface="Arial"/>
              </a:rPr>
              <a:t>Next: workshop validation and real repair histories. Mechanical R&amp;I is out of scope.</a:t>
            </a:r>
          </a:p>
        </p:txBody>
      </p:sp>
    </p:spTree>
    <p:extLst>
      <p:ext uri="{BB962C8B-B14F-4D97-AF65-F5344CB8AC3E}">
        <p14:creationId xmlns:p14="http://schemas.microsoft.com/office/powerpoint/2010/main" val="1424090901"/>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DACD64-46C6-49A3-A770-9769CE4D17FE}"/>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02C36"/>
                </a:solidFill>
                <a:latin typeface="Arial"/>
                <a:ea typeface="Arial"/>
                <a:cs typeface="Arial"/>
              </a:defRPr>
            </a:pPr>
            <a:r>
              <a:rPr sz="3225" b="1">
                <a:solidFill>
                  <a:srgbClr val="102C36"/>
                </a:solidFill>
                <a:latin typeface="Arial"/>
                <a:ea typeface="Arial"/>
                <a:cs typeface="Arial"/>
              </a:rPr>
              <a:t>Live and next</a:t>
            </a:r>
          </a:p>
        </p:txBody>
      </p:sp>
      <p:sp>
        <p:nvSpPr>
          <p:cNvPr id="2" name="">
            <a:extLst xmlns:a="http://schemas.openxmlformats.org/drawingml/2006/main">
              <a:ext uri="{FF2B5EF4-FFF2-40B4-BE49-F238E27FC236}">
                <a16:creationId xmlns:a16="http://schemas.microsoft.com/office/drawing/2014/main" id="{3EA85EF9-7674-495A-ACED-C3C810E7EB3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547078"/>
                </a:solidFill>
                <a:latin typeface="Arial"/>
                <a:ea typeface="Arial"/>
                <a:cs typeface="Arial"/>
              </a:defRPr>
            </a:pPr>
            <a:r>
              <a:rPr sz="1350" b="0">
                <a:solidFill>
                  <a:srgbClr val="5470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FE3D03B-DF02-4B5C-A3F5-4CC846EE9AD8}"/>
              </a:ext>
            </a:extLst>
          </p:cNvPr>
          <p:cNvSpPr>
            <a:spLocks xmlns:a="http://schemas.openxmlformats.org/drawingml/2006/main" noGrp="1"/>
          </p:cNvSpPr>
          <p:nvPr/>
        </p:nvSpPr>
        <p:spPr>
          <a:xfrm xmlns:a="http://schemas.openxmlformats.org/drawingml/2006/main">
            <a:off x="609600" y="1524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014000B-D2D6-4796-A1E6-1E618D136650}"/>
              </a:ext>
            </a:extLst>
          </p:cNvPr>
          <p:cNvSpPr>
            <a:spLocks xmlns:a="http://schemas.openxmlformats.org/drawingml/2006/main" noGrp="1"/>
          </p:cNvSpPr>
          <p:nvPr/>
        </p:nvSpPr>
        <p:spPr>
          <a:xfrm xmlns:a="http://schemas.openxmlformats.org/drawingml/2006/main">
            <a:off x="1466850" y="1524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Live, public dashboard</a:t>
            </a:r>
          </a:p>
        </p:txBody>
      </p:sp>
      <p:sp>
        <p:nvSpPr>
          <p:cNvPr id="5" name="">
            <a:extLst xmlns:a="http://schemas.openxmlformats.org/drawingml/2006/main">
              <a:ext uri="{FF2B5EF4-FFF2-40B4-BE49-F238E27FC236}">
                <a16:creationId xmlns:a16="http://schemas.microsoft.com/office/drawing/2014/main" id="{F586B2EF-AE83-4759-A5FD-D7F0B078C278}"/>
              </a:ext>
            </a:extLst>
          </p:cNvPr>
          <p:cNvSpPr>
            <a:spLocks xmlns:a="http://schemas.openxmlformats.org/drawingml/2006/main" noGrp="1"/>
          </p:cNvSpPr>
          <p:nvPr/>
        </p:nvSpPr>
        <p:spPr>
          <a:xfrm xmlns:a="http://schemas.openxmlformats.org/drawingml/2006/main">
            <a:off x="1466850" y="19812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hlinkClick xmlns:r="http://schemas.openxmlformats.org/officeDocument/2006/relationships" r:id="Rd4b577f3b94c4ad0"/>
              </a:rPr>
              <a:t>wolf-day-damage.vercel.app/dashboard</a:t>
            </a:r>
          </a:p>
        </p:txBody>
      </p:sp>
      <p:sp>
        <p:nvSpPr>
          <p:cNvPr id="6" name="">
            <a:extLst xmlns:a="http://schemas.openxmlformats.org/drawingml/2006/main">
              <a:ext uri="{FF2B5EF4-FFF2-40B4-BE49-F238E27FC236}">
                <a16:creationId xmlns:a16="http://schemas.microsoft.com/office/drawing/2014/main" id="{9D4244CA-27DC-40D6-8AFA-08C4F3B00560}"/>
              </a:ext>
            </a:extLst>
          </p:cNvPr>
          <p:cNvSpPr>
            <a:spLocks xmlns:a="http://schemas.openxmlformats.org/drawingml/2006/main" noGrp="1"/>
          </p:cNvSpPr>
          <p:nvPr/>
        </p:nvSpPr>
        <p:spPr>
          <a:xfrm xmlns:a="http://schemas.openxmlformats.org/drawingml/2006/main">
            <a:off x="609600" y="2571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D7984A3-654D-4EEF-B0A6-A9F86F939C77}"/>
              </a:ext>
            </a:extLst>
          </p:cNvPr>
          <p:cNvSpPr>
            <a:spLocks xmlns:a="http://schemas.openxmlformats.org/drawingml/2006/main" noGrp="1"/>
          </p:cNvSpPr>
          <p:nvPr/>
        </p:nvSpPr>
        <p:spPr>
          <a:xfrm xmlns:a="http://schemas.openxmlformats.org/drawingml/2006/main">
            <a:off x="1466850" y="25717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For the workshop mechanic</a:t>
            </a:r>
          </a:p>
        </p:txBody>
      </p:sp>
      <p:sp>
        <p:nvSpPr>
          <p:cNvPr id="8" name="">
            <a:extLst xmlns:a="http://schemas.openxmlformats.org/drawingml/2006/main">
              <a:ext uri="{FF2B5EF4-FFF2-40B4-BE49-F238E27FC236}">
                <a16:creationId xmlns:a16="http://schemas.microsoft.com/office/drawing/2014/main" id="{BA85B0F8-E75F-48ED-867C-D45A8B045F24}"/>
              </a:ext>
            </a:extLst>
          </p:cNvPr>
          <p:cNvSpPr>
            <a:spLocks xmlns:a="http://schemas.openxmlformats.org/drawingml/2006/main" noGrp="1"/>
          </p:cNvSpPr>
          <p:nvPr/>
        </p:nvSpPr>
        <p:spPr>
          <a:xfrm xmlns:a="http://schemas.openxmlformats.org/drawingml/2006/main">
            <a:off x="1466850" y="30289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Dashboard · 2D/3D per-vehicle sheet · Model Lab</a:t>
            </a:r>
          </a:p>
        </p:txBody>
      </p:sp>
      <p:sp>
        <p:nvSpPr>
          <p:cNvPr id="9" name="">
            <a:extLst xmlns:a="http://schemas.openxmlformats.org/drawingml/2006/main">
              <a:ext uri="{FF2B5EF4-FFF2-40B4-BE49-F238E27FC236}">
                <a16:creationId xmlns:a16="http://schemas.microsoft.com/office/drawing/2014/main" id="{5F9CFACF-D445-4E2E-B7B1-B02A24E597D2}"/>
              </a:ext>
            </a:extLst>
          </p:cNvPr>
          <p:cNvSpPr>
            <a:spLocks xmlns:a="http://schemas.openxmlformats.org/drawingml/2006/main" noGrp="1"/>
          </p:cNvSpPr>
          <p:nvPr/>
        </p:nvSpPr>
        <p:spPr>
          <a:xfrm xmlns:a="http://schemas.openxmlformats.org/drawingml/2006/main">
            <a:off x="609600" y="3619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97C1399-AA0E-44C0-85F5-49CD917E0E6F}"/>
              </a:ext>
            </a:extLst>
          </p:cNvPr>
          <p:cNvSpPr>
            <a:spLocks xmlns:a="http://schemas.openxmlformats.org/drawingml/2006/main" noGrp="1"/>
          </p:cNvSpPr>
          <p:nvPr/>
        </p:nvSpPr>
        <p:spPr>
          <a:xfrm xmlns:a="http://schemas.openxmlformats.org/drawingml/2006/main">
            <a:off x="1466850" y="36195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Validate on real notes</a:t>
            </a:r>
          </a:p>
        </p:txBody>
      </p:sp>
      <p:sp>
        <p:nvSpPr>
          <p:cNvPr id="11" name="">
            <a:extLst xmlns:a="http://schemas.openxmlformats.org/drawingml/2006/main">
              <a:ext uri="{FF2B5EF4-FFF2-40B4-BE49-F238E27FC236}">
                <a16:creationId xmlns:a16="http://schemas.microsoft.com/office/drawing/2014/main" id="{3ACE9503-9C91-4AE4-8F2E-EA959FB41D72}"/>
              </a:ext>
            </a:extLst>
          </p:cNvPr>
          <p:cNvSpPr>
            <a:spLocks xmlns:a="http://schemas.openxmlformats.org/drawingml/2006/main" noGrp="1"/>
          </p:cNvSpPr>
          <p:nvPr/>
        </p:nvSpPr>
        <p:spPr>
          <a:xfrm xmlns:a="http://schemas.openxmlformats.org/drawingml/2006/main">
            <a:off x="1466850" y="40767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Test real production notes and add live technician extraction.</a:t>
            </a:r>
          </a:p>
        </p:txBody>
      </p:sp>
      <p:sp>
        <p:nvSpPr>
          <p:cNvPr id="12" name="">
            <a:extLst xmlns:a="http://schemas.openxmlformats.org/drawingml/2006/main">
              <a:ext uri="{FF2B5EF4-FFF2-40B4-BE49-F238E27FC236}">
                <a16:creationId xmlns:a16="http://schemas.microsoft.com/office/drawing/2014/main" id="{14A9B9E9-62E4-4237-AC2C-EB440953CEEC}"/>
              </a:ext>
            </a:extLst>
          </p:cNvPr>
          <p:cNvSpPr>
            <a:spLocks xmlns:a="http://schemas.openxmlformats.org/drawingml/2006/main" noGrp="1"/>
          </p:cNvSpPr>
          <p:nvPr/>
        </p:nvSpPr>
        <p:spPr>
          <a:xfrm xmlns:a="http://schemas.openxmlformats.org/drawingml/2006/main">
            <a:off x="609600" y="4667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1">
                <a:solidFill>
                  <a:srgbClr val="007F75"/>
                </a:solidFill>
                <a:latin typeface="Arial"/>
                <a:ea typeface="Arial"/>
                <a:cs typeface="Arial"/>
              </a:defRPr>
            </a:pPr>
            <a:r>
              <a:rPr sz="2925" b="1">
                <a:solidFill>
                  <a:srgbClr val="007F75"/>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5C9C11F-4FE3-4733-AC8B-E6C178E5A9EE}"/>
              </a:ext>
            </a:extLst>
          </p:cNvPr>
          <p:cNvSpPr>
            <a:spLocks xmlns:a="http://schemas.openxmlformats.org/drawingml/2006/main" noGrp="1"/>
          </p:cNvSpPr>
          <p:nvPr/>
        </p:nvSpPr>
        <p:spPr>
          <a:xfrm xmlns:a="http://schemas.openxmlformats.org/drawingml/2006/main">
            <a:off x="1466850" y="46672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02C36"/>
                </a:solidFill>
                <a:latin typeface="Arial"/>
                <a:ea typeface="Arial"/>
                <a:cs typeface="Arial"/>
              </a:defRPr>
            </a:pPr>
            <a:r>
              <a:rPr sz="2175" b="1">
                <a:solidFill>
                  <a:srgbClr val="102C36"/>
                </a:solidFill>
                <a:latin typeface="Arial"/>
                <a:ea typeface="Arial"/>
                <a:cs typeface="Arial"/>
              </a:rPr>
              <a:t>Learn the R&amp;I table</a:t>
            </a:r>
          </a:p>
        </p:txBody>
      </p:sp>
      <p:sp>
        <p:nvSpPr>
          <p:cNvPr id="14" name="">
            <a:extLst xmlns:a="http://schemas.openxmlformats.org/drawingml/2006/main">
              <a:ext uri="{FF2B5EF4-FFF2-40B4-BE49-F238E27FC236}">
                <a16:creationId xmlns:a16="http://schemas.microsoft.com/office/drawing/2014/main" id="{B0697E6F-1CD9-41D3-AA7C-CD67BA9365FB}"/>
              </a:ext>
            </a:extLst>
          </p:cNvPr>
          <p:cNvSpPr>
            <a:spLocks xmlns:a="http://schemas.openxmlformats.org/drawingml/2006/main" noGrp="1"/>
          </p:cNvSpPr>
          <p:nvPr/>
        </p:nvSpPr>
        <p:spPr>
          <a:xfrm xmlns:a="http://schemas.openxmlformats.org/drawingml/2006/main">
            <a:off x="1466850" y="51244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47078"/>
                </a:solidFill>
                <a:latin typeface="Arial"/>
                <a:ea typeface="Arial"/>
                <a:cs typeface="Arial"/>
              </a:defRPr>
            </a:pPr>
            <a:r>
              <a:rPr sz="1875" b="0">
                <a:solidFill>
                  <a:srgbClr val="547078"/>
                </a:solidFill>
                <a:latin typeface="Arial"/>
                <a:ea typeface="Arial"/>
                <a:cs typeface="Arial"/>
              </a:rPr>
              <a:t>Validate with the workshop; learn dependencies from real repair-order histories.</a:t>
            </a:r>
          </a:p>
        </p:txBody>
      </p:sp>
      <p:sp>
        <p:nvSpPr>
          <p:cNvPr id="15" name="">
            <a:extLst xmlns:a="http://schemas.openxmlformats.org/drawingml/2006/main">
              <a:ext uri="{FF2B5EF4-FFF2-40B4-BE49-F238E27FC236}">
                <a16:creationId xmlns:a16="http://schemas.microsoft.com/office/drawing/2014/main" id="{D9BE8FF7-76ED-4858-92BF-9A111C2B89FE}"/>
              </a:ext>
            </a:extLst>
          </p:cNvPr>
          <p:cNvSpPr>
            <a:spLocks xmlns:a="http://schemas.openxmlformats.org/drawingml/2006/main" noGrp="1"/>
          </p:cNvSpPr>
          <p:nvPr/>
        </p:nvSpPr>
        <p:spPr>
          <a:xfrm xmlns:a="http://schemas.openxmlformats.org/drawingml/2006/main">
            <a:off x="609600" y="60007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007F75"/>
                </a:solidFill>
                <a:latin typeface="Arial"/>
                <a:ea typeface="Arial"/>
                <a:cs typeface="Arial"/>
              </a:defRPr>
            </a:pPr>
            <a:r>
              <a:rPr sz="1650" b="0">
                <a:solidFill>
                  <a:srgbClr val="007F75"/>
                </a:solidFill>
                <a:latin typeface="Arial"/>
                <a:ea typeface="Arial"/>
                <a:cs typeface="Arial"/>
              </a:rPr>
              <a:t>Let’s review the dashboard together.</a:t>
            </a:r>
          </a:p>
        </p:txBody>
      </p:sp>
    </p:spTree>
    <p:extLst>
      <p:ext uri="{BB962C8B-B14F-4D97-AF65-F5344CB8AC3E}">
        <p14:creationId xmlns:p14="http://schemas.microsoft.com/office/powerpoint/2010/main" val="2087904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2026-09-18T17:00:20.6230000Z</dcterms:created>
  <dcterms:modified xsi:type="dcterms:W3CDTF">2026-09-18T17:00:20.6230000Z</dcterms:modified>
</coreProperties>
</file>